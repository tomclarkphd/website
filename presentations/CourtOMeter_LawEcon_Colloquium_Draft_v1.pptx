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Supreme Court decision can be legally final and socially unsettled at the same time. The talk asks whether judicial authority produces acceptance or instead reorganizes conflict. I will use the 2013 same-sex marriage cases and high-frequency public speech to distinguish those possibilities.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doctrinal background quickly. Windsor invalidated the federal definition in DOMA; Perry was a standing decision whose practical effect was to leave the district-court judgment in place. The key design fact is that the combined outcome was liberal but not maximally liberal. That creates room for both acceptance and counter-response.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public-law question into institutional terms. Judicial legitimacy may function as persuasion, as coordination, or as a trigger for costly countermobilization. Our data primarily distinguish persuasion from conflict-structuring. Avoid claiming a welfare analysis that the paper does not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contrast is legitimation versus structural response. Legitimation predicts movement toward acceptance and less anger. Structural response predicts that a salient decision becomes a discussion focal point and reinforces preexisting opinion groups. The thermostatic account also predicts counter-response, but more cleanly along ideology and policy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identification claim modest from the start. The event date is sharp and discourse is observed daily, but there is no untreated counterfactual. The value of the design is temporal resolution, enormous coverage of relevant speech, and replication across a daily stream and a fixed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sample captures the discourse that is visible on a given day, including changing attention and participation. The panel captures within-account change among frequent speakers. Neither is nationally representative. Agreement across the two views helps address—but does not eliminate—concerns about changing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conceptual bridge. A tweet is an utterance shaped by what is salient and activated in a network; it is not a direct readout of a stable latent preference. The classifiers recover support, intensity, and anger from human-coded examples. Those dimensions correspond to the competing theoretical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here. The classifier is useful but not perfect, and rare classes are the hardest. The stronger evidence is that daily aggregate estimates track the hand-coded series and that key patterns recur in two samples. A colloquium audience may ask about attenuation, class imbalance, and whether error changes at the event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ideology measure comes from who follows whom, using a latent-distance model. Its construct validity is supported by self-declared profiles and recognizable elite accounts at the endpoints. The conceptual warning is important: ideology and issue-specific prior opinion are different groupings. The results polarize by the latter, not the 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aggregate support result is straightforward. Support does not move toward the Court. The means actually decline slightly in both samples. The differences are statistically meaningful because the samples are huge, but the paper correctly treats them as substantively tiny. This is no evidence for aggregate legitimation.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The left panel is essentially flat: general liberal-conservative location does not explain change. The right panel slopes upward: people who were supportive before become more supportive, while those opposed become more opposed. The Court appears to structure conflict among issue groups, not simply push everyone toward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discontinuity around the decision rather than every wiggle. Intensity rises on both sides and then declines. Anger drops among supportive tweets and rises among opposed tweets immediately after the decision. The later reversal is consistent with an interactional dynamic: one side’s angry response becomes material for the other side’s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a mechanism interpretation, not a directly identified mediation analysis. The ruling makes the issue salient, opponents direct anger toward an accountable institution, and supporters react to that opposition. The sequence fits the structural-response account. A stronger design would trace replies and retweets or compare interaction networks around multiple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interpretation is demographic. Twitter users skew younger, and young Republicans were much more supportive of marriage equality than Republicans overall. That weakens the relationship between general ideology and this particular issue. Structural response predicts polarization only when the relevant groups have low within-group variation and high between-group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doctrinal and institutional takeaway. The decisions changed legal relations and administrative expectations. They did not create consensus about the policy, and Perry did not resolve a nationwide right. Coordination and persuasion should not be collapsed into one concept of “legitimation.”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defuse the obvious objections. The paper is strongest as evidence about the content and dynamics of public discourse among platform participants. It is not a national causal estimate. The panel, temporal resolution, and validation matter; they do not solve selection or the missing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institutional contribution is to separate legitimacy of the institution from persuasion about policy. The methodological contribution is fine-grained measurement of speech and emotion. The normative contribution is that short emotional bursts may matter for mobilization even if they fade quickly. The next design should compare a population of rulings and directly model conversational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distinction between legal victory and social agreement. The Court did not produce aggregate movement toward its result. It did structure disagreement among people already divided on the policy, and it produced a fast emotional response. Invite questions about causal identification, platform selection, the ideology measure, and how the framework might apply to contemporary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71D2B"/>
        </a:solidFill>
      </p:bgPr>
    </p:bg>
    <p:spTree>
      <p:nvGrpSpPr>
        <p:cNvPr id="1" name=""/>
        <p:cNvGrpSpPr/>
        <p:nvPr/>
      </p:nvGrpSpPr>
      <p:grpSpPr>
        <a:xfrm>
          <a:off x="0" y="0"/>
          <a:ext cx="0" cy="0"/>
          <a:chOff x="0" y="0"/>
          <a:chExt cx="0" cy="0"/>
        </a:xfrm>
      </p:grpSpPr>
      <p:sp>
        <p:nvSpPr>
          <p:cNvPr id="2" name="Shape 0"/>
          <p:cNvSpPr/>
          <p:nvPr/>
        </p:nvSpPr>
        <p:spPr>
          <a:xfrm>
            <a:off x="7726680" y="-868680"/>
            <a:ext cx="5303520" cy="5303520"/>
          </a:xfrm>
          <a:prstGeom prst="ellipse">
            <a:avLst/>
          </a:prstGeom>
          <a:solidFill>
            <a:srgbClr val="772D3D"/>
          </a:solidFill>
          <a:ln w="12700">
            <a:solidFill>
              <a:srgbClr val="FFFFFF">
                <a:alpha val="0"/>
              </a:srgbClr>
            </a:solidFill>
            <a:prstDash val="solid"/>
          </a:ln>
        </p:spPr>
      </p:sp>
      <p:sp>
        <p:nvSpPr>
          <p:cNvPr id="3" name="Shape 1"/>
          <p:cNvSpPr/>
          <p:nvPr/>
        </p:nvSpPr>
        <p:spPr>
          <a:xfrm>
            <a:off x="8458200" y="-228600"/>
            <a:ext cx="4023360" cy="4023360"/>
          </a:xfrm>
          <a:prstGeom prst="ellipse">
            <a:avLst/>
          </a:prstGeom>
          <a:solidFill>
            <a:srgbClr val="D65F5F"/>
          </a:solidFill>
          <a:ln w="12700">
            <a:solidFill>
              <a:srgbClr val="FFFFFF">
                <a:alpha val="0"/>
              </a:srgbClr>
            </a:solidFill>
            <a:prstDash val="solid"/>
          </a:ln>
        </p:spPr>
      </p:sp>
      <p:sp>
        <p:nvSpPr>
          <p:cNvPr id="4" name="Shape 2"/>
          <p:cNvSpPr/>
          <p:nvPr/>
        </p:nvSpPr>
        <p:spPr>
          <a:xfrm>
            <a:off x="9281160" y="502920"/>
            <a:ext cx="2468880" cy="2468880"/>
          </a:xfrm>
          <a:prstGeom prst="ellipse">
            <a:avLst/>
          </a:prstGeom>
          <a:solidFill>
            <a:srgbClr val="D7A62A"/>
          </a:solidFill>
          <a:ln w="12700">
            <a:solidFill>
              <a:srgbClr val="FFFFFF">
                <a:alpha val="0"/>
              </a:srgbClr>
            </a:solidFill>
            <a:prstDash val="solid"/>
          </a:ln>
        </p:spPr>
      </p:sp>
      <p:sp>
        <p:nvSpPr>
          <p:cNvPr id="5" name="Shape 3"/>
          <p:cNvSpPr/>
          <p:nvPr/>
        </p:nvSpPr>
        <p:spPr>
          <a:xfrm rot="16200000">
            <a:off x="8430768" y="1353312"/>
            <a:ext cx="2751430" cy="625815"/>
          </a:xfrm>
          <a:prstGeom prst="chevron">
            <a:avLst/>
          </a:prstGeom>
          <a:solidFill>
            <a:srgbClr val="FFFFFF"/>
          </a:solidFill>
          <a:ln w="12700">
            <a:solidFill>
              <a:srgbClr val="FFFFFF">
                <a:alpha val="0"/>
              </a:srgbClr>
            </a:solidFill>
            <a:prstDash val="solid"/>
          </a:ln>
        </p:spPr>
      </p:sp>
      <p:sp>
        <p:nvSpPr>
          <p:cNvPr id="6" name="Shape 4"/>
          <p:cNvSpPr/>
          <p:nvPr/>
        </p:nvSpPr>
        <p:spPr>
          <a:xfrm>
            <a:off x="8797625" y="1979127"/>
            <a:ext cx="258958" cy="1564538"/>
          </a:xfrm>
          <a:prstGeom prst="roundRect">
            <a:avLst>
              <a:gd name="adj" fmla="val 14124"/>
            </a:avLst>
          </a:prstGeom>
          <a:solidFill>
            <a:srgbClr val="FFFFFF"/>
          </a:solidFill>
          <a:ln w="12700">
            <a:solidFill>
              <a:srgbClr val="FFFFFF">
                <a:alpha val="0"/>
              </a:srgbClr>
            </a:solidFill>
            <a:prstDash val="solid"/>
          </a:ln>
        </p:spPr>
      </p:sp>
      <p:sp>
        <p:nvSpPr>
          <p:cNvPr id="7" name="Shape 5"/>
          <p:cNvSpPr/>
          <p:nvPr/>
        </p:nvSpPr>
        <p:spPr>
          <a:xfrm>
            <a:off x="9358701" y="1979127"/>
            <a:ext cx="258958" cy="1564538"/>
          </a:xfrm>
          <a:prstGeom prst="roundRect">
            <a:avLst>
              <a:gd name="adj" fmla="val 14124"/>
            </a:avLst>
          </a:prstGeom>
          <a:solidFill>
            <a:srgbClr val="FFFFFF"/>
          </a:solidFill>
          <a:ln w="12700">
            <a:solidFill>
              <a:srgbClr val="FFFFFF">
                <a:alpha val="0"/>
              </a:srgbClr>
            </a:solidFill>
            <a:prstDash val="solid"/>
          </a:ln>
        </p:spPr>
      </p:sp>
      <p:sp>
        <p:nvSpPr>
          <p:cNvPr id="8" name="Shape 6"/>
          <p:cNvSpPr/>
          <p:nvPr/>
        </p:nvSpPr>
        <p:spPr>
          <a:xfrm>
            <a:off x="9919777" y="1979127"/>
            <a:ext cx="258958" cy="1564538"/>
          </a:xfrm>
          <a:prstGeom prst="roundRect">
            <a:avLst>
              <a:gd name="adj" fmla="val 14124"/>
            </a:avLst>
          </a:prstGeom>
          <a:solidFill>
            <a:srgbClr val="FFFFFF"/>
          </a:solidFill>
          <a:ln w="12700">
            <a:solidFill>
              <a:srgbClr val="FFFFFF">
                <a:alpha val="0"/>
              </a:srgbClr>
            </a:solidFill>
            <a:prstDash val="solid"/>
          </a:ln>
        </p:spPr>
      </p:sp>
      <p:sp>
        <p:nvSpPr>
          <p:cNvPr id="9" name="Shape 7"/>
          <p:cNvSpPr/>
          <p:nvPr/>
        </p:nvSpPr>
        <p:spPr>
          <a:xfrm>
            <a:off x="10480853" y="1979127"/>
            <a:ext cx="258958" cy="1564538"/>
          </a:xfrm>
          <a:prstGeom prst="roundRect">
            <a:avLst>
              <a:gd name="adj" fmla="val 14124"/>
            </a:avLst>
          </a:prstGeom>
          <a:solidFill>
            <a:srgbClr val="FFFFFF"/>
          </a:solidFill>
          <a:ln w="12700">
            <a:solidFill>
              <a:srgbClr val="FFFFFF">
                <a:alpha val="0"/>
              </a:srgbClr>
            </a:solidFill>
            <a:prstDash val="solid"/>
          </a:ln>
        </p:spPr>
      </p:sp>
      <p:sp>
        <p:nvSpPr>
          <p:cNvPr id="10" name="Shape 8"/>
          <p:cNvSpPr/>
          <p:nvPr/>
        </p:nvSpPr>
        <p:spPr>
          <a:xfrm>
            <a:off x="8592617" y="3532876"/>
            <a:ext cx="2427732" cy="194219"/>
          </a:xfrm>
          <a:prstGeom prst="rect">
            <a:avLst/>
          </a:prstGeom>
          <a:solidFill>
            <a:srgbClr val="FFFFFF"/>
          </a:solidFill>
          <a:ln w="12700">
            <a:solidFill>
              <a:srgbClr val="FFFFFF">
                <a:alpha val="0"/>
              </a:srgbClr>
            </a:solidFill>
            <a:prstDash val="solid"/>
          </a:ln>
        </p:spPr>
      </p:sp>
      <p:sp>
        <p:nvSpPr>
          <p:cNvPr id="11" name="Shape 9"/>
          <p:cNvSpPr/>
          <p:nvPr/>
        </p:nvSpPr>
        <p:spPr>
          <a:xfrm>
            <a:off x="8452348" y="3791834"/>
            <a:ext cx="2697480" cy="151059"/>
          </a:xfrm>
          <a:prstGeom prst="rect">
            <a:avLst/>
          </a:prstGeom>
          <a:solidFill>
            <a:srgbClr val="FFFFFF"/>
          </a:solidFill>
          <a:ln w="12700">
            <a:solidFill>
              <a:srgbClr val="FFFFFF">
                <a:alpha val="0"/>
              </a:srgbClr>
            </a:solidFill>
            <a:prstDash val="solid"/>
          </a:ln>
        </p:spPr>
      </p:sp>
      <p:sp>
        <p:nvSpPr>
          <p:cNvPr id="12" name="Text 10"/>
          <p:cNvSpPr txBox="1"/>
          <p:nvPr/>
        </p:nvSpPr>
        <p:spPr>
          <a:xfrm>
            <a:off x="658368" y="566928"/>
            <a:ext cx="6309360" cy="292608"/>
          </a:xfrm>
          <a:prstGeom prst="rect">
            <a:avLst/>
          </a:prstGeom>
          <a:noFill/>
          <a:ln/>
        </p:spPr>
        <p:txBody>
          <a:bodyPr wrap="square" lIns="0" tIns="0" rIns="0" bIns="0" rtlCol="0" anchor="ctr">
            <a:normAutofit/>
          </a:bodyPr>
          <a:lstStyle/>
          <a:p>
            <a:pPr algn="l" indent="0" marL="0">
              <a:buNone/>
            </a:pPr>
            <a:r>
              <a:rPr lang="en-US" sz="1200" b="1" spc="170" kern="0" dirty="0">
                <a:solidFill>
                  <a:srgbClr val="E3C7CD"/>
                </a:solidFill>
                <a:latin typeface="Arial" pitchFamily="34" charset="0"/>
                <a:ea typeface="Arial" pitchFamily="34" charset="-122"/>
                <a:cs typeface="Arial" pitchFamily="34" charset="-120"/>
              </a:rPr>
              <a:t>CAN THE SUPREME COURT</a:t>
            </a:r>
            <a:endParaRPr lang="en-US" sz="1200" dirty="0"/>
          </a:p>
        </p:txBody>
      </p:sp>
      <p:sp>
        <p:nvSpPr>
          <p:cNvPr id="13" name="Text 11"/>
          <p:cNvSpPr txBox="1"/>
          <p:nvPr/>
        </p:nvSpPr>
        <p:spPr>
          <a:xfrm>
            <a:off x="658368" y="987552"/>
            <a:ext cx="6812280" cy="1572768"/>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Cambria" pitchFamily="34" charset="0"/>
                <a:ea typeface="Cambria" pitchFamily="34" charset="-122"/>
                <a:cs typeface="Cambria" pitchFamily="34" charset="-120"/>
              </a:rPr>
              <a:t>settle policy—and</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unsettle the public?</a:t>
            </a:r>
            <a:endParaRPr lang="en-US" sz="3800" dirty="0"/>
          </a:p>
        </p:txBody>
      </p:sp>
      <p:sp>
        <p:nvSpPr>
          <p:cNvPr id="14" name="Text 12"/>
          <p:cNvSpPr txBox="1"/>
          <p:nvPr/>
        </p:nvSpPr>
        <p:spPr>
          <a:xfrm>
            <a:off x="694944" y="2834640"/>
            <a:ext cx="6583680" cy="438912"/>
          </a:xfrm>
          <a:prstGeom prst="rect">
            <a:avLst/>
          </a:prstGeom>
          <a:noFill/>
          <a:ln/>
        </p:spPr>
        <p:txBody>
          <a:bodyPr wrap="square" lIns="0" tIns="0" rIns="0" bIns="0" rtlCol="0" anchor="ctr">
            <a:normAutofit/>
          </a:bodyPr>
          <a:lstStyle/>
          <a:p>
            <a:pPr algn="l" indent="0" marL="0">
              <a:buNone/>
            </a:pPr>
            <a:r>
              <a:rPr lang="en-US" sz="1900" dirty="0">
                <a:solidFill>
                  <a:srgbClr val="F2E9EC"/>
                </a:solidFill>
                <a:latin typeface="Arial" pitchFamily="34" charset="0"/>
                <a:ea typeface="Arial" pitchFamily="34" charset="-122"/>
                <a:cs typeface="Arial" pitchFamily="34" charset="-120"/>
              </a:rPr>
              <a:t>Public reactions to Windsor and Perry in 2.5 million tweets</a:t>
            </a:r>
            <a:endParaRPr lang="en-US" sz="1900" dirty="0"/>
          </a:p>
        </p:txBody>
      </p:sp>
      <p:sp>
        <p:nvSpPr>
          <p:cNvPr id="15" name="Text 13"/>
          <p:cNvSpPr txBox="1"/>
          <p:nvPr/>
        </p:nvSpPr>
        <p:spPr>
          <a:xfrm>
            <a:off x="694944" y="3419856"/>
            <a:ext cx="6537960" cy="384048"/>
          </a:xfrm>
          <a:prstGeom prst="rect">
            <a:avLst/>
          </a:prstGeom>
          <a:noFill/>
          <a:ln/>
        </p:spPr>
        <p:txBody>
          <a:bodyPr wrap="square" lIns="0" tIns="0" rIns="0" bIns="0" rtlCol="0" anchor="ctr">
            <a:normAutofit/>
          </a:bodyPr>
          <a:lstStyle/>
          <a:p>
            <a:pPr algn="l" indent="0" marL="0">
              <a:buNone/>
            </a:pPr>
            <a:r>
              <a:rPr lang="en-US" sz="1350" i="1" dirty="0">
                <a:solidFill>
                  <a:srgbClr val="D9C5CB"/>
                </a:solidFill>
                <a:latin typeface="Arial" pitchFamily="34" charset="0"/>
                <a:ea typeface="Arial" pitchFamily="34" charset="-122"/>
                <a:cs typeface="Arial" pitchFamily="34" charset="-120"/>
              </a:rPr>
              <a:t>Using Twitter to Study Public Discourse in the Wake of Judicial Decisions</a:t>
            </a:r>
            <a:endParaRPr lang="en-US" sz="1350" dirty="0"/>
          </a:p>
        </p:txBody>
      </p:sp>
      <p:sp>
        <p:nvSpPr>
          <p:cNvPr id="16" name="Text 14"/>
          <p:cNvSpPr txBox="1"/>
          <p:nvPr/>
        </p:nvSpPr>
        <p:spPr>
          <a:xfrm>
            <a:off x="694944" y="5148072"/>
            <a:ext cx="8046720" cy="329184"/>
          </a:xfrm>
          <a:prstGeom prst="rect">
            <a:avLst/>
          </a:prstGeom>
          <a:noFill/>
          <a:ln/>
        </p:spPr>
        <p:txBody>
          <a:bodyPr wrap="square" lIns="0" tIns="0" rIns="0" bIns="0" rtlCol="0" anchor="ctr">
            <a:normAutofit/>
          </a:bodyPr>
          <a:lstStyle/>
          <a:p>
            <a:pPr algn="l" indent="0" marL="0">
              <a:buNone/>
            </a:pPr>
            <a:r>
              <a:rPr lang="en-US" sz="1450" b="1" dirty="0">
                <a:solidFill>
                  <a:srgbClr val="FFFFFF"/>
                </a:solidFill>
                <a:latin typeface="Arial" pitchFamily="34" charset="0"/>
                <a:ea typeface="Arial" pitchFamily="34" charset="-122"/>
                <a:cs typeface="Arial" pitchFamily="34" charset="-120"/>
              </a:rPr>
              <a:t>Tom S. Clark · Jeffrey K. Staton · Yu Wang · Eugene Agichtein</a:t>
            </a:r>
            <a:endParaRPr lang="en-US" sz="1450" dirty="0"/>
          </a:p>
        </p:txBody>
      </p:sp>
      <p:sp>
        <p:nvSpPr>
          <p:cNvPr id="17" name="Text 15"/>
          <p:cNvSpPr txBox="1"/>
          <p:nvPr/>
        </p:nvSpPr>
        <p:spPr>
          <a:xfrm>
            <a:off x="694944" y="5596128"/>
            <a:ext cx="6949440" cy="292608"/>
          </a:xfrm>
          <a:prstGeom prst="rect">
            <a:avLst/>
          </a:prstGeom>
          <a:noFill/>
          <a:ln/>
        </p:spPr>
        <p:txBody>
          <a:bodyPr wrap="square" lIns="0" tIns="0" rIns="0" bIns="0" rtlCol="0" anchor="ctr">
            <a:normAutofit/>
          </a:bodyPr>
          <a:lstStyle/>
          <a:p>
            <a:pPr algn="l" indent="0" marL="0">
              <a:buNone/>
            </a:pPr>
            <a:r>
              <a:rPr lang="en-US" sz="1200" dirty="0">
                <a:solidFill>
                  <a:srgbClr val="D9C5CB"/>
                </a:solidFill>
                <a:latin typeface="Arial" pitchFamily="34" charset="0"/>
                <a:ea typeface="Arial" pitchFamily="34" charset="-122"/>
                <a:cs typeface="Arial" pitchFamily="34" charset="-120"/>
              </a:rPr>
              <a:t>Law &amp; Economics Colloquium  |  Presentation draft</a:t>
            </a:r>
            <a:endParaRPr lang="en-US" sz="1200" dirty="0"/>
          </a:p>
        </p:txBody>
      </p:sp>
      <p:sp>
        <p:nvSpPr>
          <p:cNvPr id="18" name="Text 16"/>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DCCED3"/>
                </a:solidFill>
                <a:latin typeface="Arial" pitchFamily="34" charset="0"/>
                <a:ea typeface="Arial" pitchFamily="34" charset="-122"/>
                <a:cs typeface="Arial" pitchFamily="34" charset="-120"/>
              </a:rPr>
              <a:t>Paper version 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THE PUZZLE</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The Court changed the rule. What happened to the argument?</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Text 4"/>
          <p:cNvSpPr txBox="1"/>
          <p:nvPr/>
        </p:nvSpPr>
        <p:spPr>
          <a:xfrm>
            <a:off x="676656" y="1298448"/>
            <a:ext cx="2011680" cy="256032"/>
          </a:xfrm>
          <a:prstGeom prst="rect">
            <a:avLst/>
          </a:prstGeom>
          <a:noFill/>
          <a:ln/>
        </p:spPr>
        <p:txBody>
          <a:bodyPr wrap="square" lIns="0" tIns="0" rIns="0" bIns="0" rtlCol="0" anchor="ctr">
            <a:normAutofit/>
          </a:bodyPr>
          <a:lstStyle/>
          <a:p>
            <a:pPr algn="l" indent="0" marL="0">
              <a:buNone/>
            </a:pPr>
            <a:r>
              <a:rPr lang="en-US" sz="1200" b="1" spc="110" kern="0" dirty="0">
                <a:solidFill>
                  <a:srgbClr val="772D3D"/>
                </a:solidFill>
                <a:latin typeface="Arial" pitchFamily="34" charset="0"/>
                <a:ea typeface="Arial" pitchFamily="34" charset="-122"/>
                <a:cs typeface="Arial" pitchFamily="34" charset="-120"/>
              </a:rPr>
              <a:t>JUNE 26, 2013</a:t>
            </a:r>
            <a:endParaRPr lang="en-US" sz="1200" dirty="0"/>
          </a:p>
        </p:txBody>
      </p:sp>
      <p:sp>
        <p:nvSpPr>
          <p:cNvPr id="7" name="Shape 5"/>
          <p:cNvSpPr/>
          <p:nvPr/>
        </p:nvSpPr>
        <p:spPr>
          <a:xfrm>
            <a:off x="914400" y="2907792"/>
            <a:ext cx="10149840" cy="0"/>
          </a:xfrm>
          <a:prstGeom prst="line">
            <a:avLst/>
          </a:prstGeom>
          <a:noFill/>
          <a:ln w="25400">
            <a:solidFill>
              <a:srgbClr val="E7E4E6"/>
            </a:solidFill>
            <a:prstDash val="solid"/>
            <a:tailEnd type="none"/>
          </a:ln>
        </p:spPr>
      </p:sp>
      <p:sp>
        <p:nvSpPr>
          <p:cNvPr id="8" name="Shape 6"/>
          <p:cNvSpPr/>
          <p:nvPr/>
        </p:nvSpPr>
        <p:spPr>
          <a:xfrm>
            <a:off x="2221992" y="2734056"/>
            <a:ext cx="347472" cy="347472"/>
          </a:xfrm>
          <a:prstGeom prst="ellipse">
            <a:avLst/>
          </a:prstGeom>
          <a:solidFill>
            <a:srgbClr val="2A8C82"/>
          </a:solidFill>
          <a:ln w="12700">
            <a:solidFill>
              <a:srgbClr val="FFFFFF"/>
            </a:solidFill>
            <a:prstDash val="solid"/>
          </a:ln>
        </p:spPr>
      </p:sp>
      <p:sp>
        <p:nvSpPr>
          <p:cNvPr id="9" name="Shape 7"/>
          <p:cNvSpPr/>
          <p:nvPr/>
        </p:nvSpPr>
        <p:spPr>
          <a:xfrm>
            <a:off x="5824728" y="2734056"/>
            <a:ext cx="347472" cy="347472"/>
          </a:xfrm>
          <a:prstGeom prst="ellipse">
            <a:avLst/>
          </a:prstGeom>
          <a:solidFill>
            <a:srgbClr val="D65F5F"/>
          </a:solidFill>
          <a:ln w="12700">
            <a:solidFill>
              <a:srgbClr val="FFFFFF"/>
            </a:solidFill>
            <a:prstDash val="solid"/>
          </a:ln>
        </p:spPr>
      </p:sp>
      <p:sp>
        <p:nvSpPr>
          <p:cNvPr id="10" name="Shape 8"/>
          <p:cNvSpPr/>
          <p:nvPr/>
        </p:nvSpPr>
        <p:spPr>
          <a:xfrm>
            <a:off x="9418320" y="2734056"/>
            <a:ext cx="347472" cy="347472"/>
          </a:xfrm>
          <a:prstGeom prst="ellipse">
            <a:avLst/>
          </a:prstGeom>
          <a:solidFill>
            <a:srgbClr val="D7A62A"/>
          </a:solidFill>
          <a:ln w="12700">
            <a:solidFill>
              <a:srgbClr val="FFFFFF"/>
            </a:solidFill>
            <a:prstDash val="solid"/>
          </a:ln>
        </p:spPr>
      </p:sp>
      <p:sp>
        <p:nvSpPr>
          <p:cNvPr id="11" name="Shape 9"/>
          <p:cNvSpPr/>
          <p:nvPr/>
        </p:nvSpPr>
        <p:spPr>
          <a:xfrm>
            <a:off x="749808" y="1627632"/>
            <a:ext cx="3337560" cy="941832"/>
          </a:xfrm>
          <a:prstGeom prst="roundRect">
            <a:avLst>
              <a:gd name="adj" fmla="val 7767"/>
            </a:avLst>
          </a:prstGeom>
          <a:solidFill>
            <a:srgbClr val="DCEFEB"/>
          </a:solidFill>
          <a:ln w="12700">
            <a:solidFill>
              <a:srgbClr val="2A8C82"/>
            </a:solidFill>
            <a:prstDash val="solid"/>
          </a:ln>
        </p:spPr>
      </p:sp>
      <p:sp>
        <p:nvSpPr>
          <p:cNvPr id="12" name="Text 10"/>
          <p:cNvSpPr txBox="1"/>
          <p:nvPr/>
        </p:nvSpPr>
        <p:spPr>
          <a:xfrm>
            <a:off x="960120" y="1755648"/>
            <a:ext cx="2926080" cy="274320"/>
          </a:xfrm>
          <a:prstGeom prst="rect">
            <a:avLst/>
          </a:prstGeom>
          <a:noFill/>
          <a:ln/>
        </p:spPr>
        <p:txBody>
          <a:bodyPr wrap="square" lIns="0" tIns="0" rIns="0" bIns="0" rtlCol="0" anchor="ctr">
            <a:normAutofit/>
          </a:bodyPr>
          <a:lstStyle/>
          <a:p>
            <a:pPr algn="l" indent="0" marL="0">
              <a:buNone/>
            </a:pPr>
            <a:r>
              <a:rPr lang="en-US" sz="1800" b="1" dirty="0">
                <a:solidFill>
                  <a:srgbClr val="242126"/>
                </a:solidFill>
                <a:latin typeface="Cambria" pitchFamily="34" charset="0"/>
                <a:ea typeface="Cambria" pitchFamily="34" charset="-122"/>
                <a:cs typeface="Cambria" pitchFamily="34" charset="-120"/>
              </a:rPr>
              <a:t>United States v. Windsor</a:t>
            </a:r>
            <a:endParaRPr lang="en-US" sz="1800" dirty="0"/>
          </a:p>
        </p:txBody>
      </p:sp>
      <p:sp>
        <p:nvSpPr>
          <p:cNvPr id="13" name="Text 11"/>
          <p:cNvSpPr txBox="1"/>
          <p:nvPr/>
        </p:nvSpPr>
        <p:spPr>
          <a:xfrm>
            <a:off x="960120" y="2075688"/>
            <a:ext cx="2834640" cy="347472"/>
          </a:xfrm>
          <a:prstGeom prst="rect">
            <a:avLst/>
          </a:prstGeom>
          <a:noFill/>
          <a:ln/>
        </p:spPr>
        <p:txBody>
          <a:bodyPr wrap="square" lIns="0" tIns="0" rIns="0" bIns="0" rtlCol="0" anchor="t">
            <a:normAutofit/>
          </a:bodyPr>
          <a:lstStyle/>
          <a:p>
            <a:pPr algn="l" indent="0" marL="0">
              <a:buNone/>
            </a:pPr>
            <a:r>
              <a:rPr lang="en-US" sz="1350" dirty="0">
                <a:solidFill>
                  <a:srgbClr val="405466"/>
                </a:solidFill>
                <a:latin typeface="Arial" pitchFamily="34" charset="0"/>
                <a:ea typeface="Arial" pitchFamily="34" charset="-122"/>
                <a:cs typeface="Arial" pitchFamily="34" charset="-120"/>
              </a:rPr>
              <a:t>DOMA §3 unconstitutional under Fifth Amendment principles</a:t>
            </a:r>
            <a:endParaRPr lang="en-US" sz="1350" dirty="0"/>
          </a:p>
        </p:txBody>
      </p:sp>
      <p:sp>
        <p:nvSpPr>
          <p:cNvPr id="14" name="Shape 12"/>
          <p:cNvSpPr/>
          <p:nvPr/>
        </p:nvSpPr>
        <p:spPr>
          <a:xfrm>
            <a:off x="4361688" y="1627632"/>
            <a:ext cx="3337560" cy="941832"/>
          </a:xfrm>
          <a:prstGeom prst="roundRect">
            <a:avLst>
              <a:gd name="adj" fmla="val 7767"/>
            </a:avLst>
          </a:prstGeom>
          <a:solidFill>
            <a:srgbClr val="F8E1E1"/>
          </a:solidFill>
          <a:ln w="12700">
            <a:solidFill>
              <a:srgbClr val="D65F5F"/>
            </a:solidFill>
            <a:prstDash val="solid"/>
          </a:ln>
        </p:spPr>
      </p:sp>
      <p:sp>
        <p:nvSpPr>
          <p:cNvPr id="15" name="Text 13"/>
          <p:cNvSpPr txBox="1"/>
          <p:nvPr/>
        </p:nvSpPr>
        <p:spPr>
          <a:xfrm>
            <a:off x="4572000" y="1755648"/>
            <a:ext cx="2926080" cy="274320"/>
          </a:xfrm>
          <a:prstGeom prst="rect">
            <a:avLst/>
          </a:prstGeom>
          <a:noFill/>
          <a:ln/>
        </p:spPr>
        <p:txBody>
          <a:bodyPr wrap="square" lIns="0" tIns="0" rIns="0" bIns="0" rtlCol="0" anchor="ctr">
            <a:normAutofit/>
          </a:bodyPr>
          <a:lstStyle/>
          <a:p>
            <a:pPr algn="l" indent="0" marL="0">
              <a:buNone/>
            </a:pPr>
            <a:r>
              <a:rPr lang="en-US" sz="1800" b="1" dirty="0">
                <a:solidFill>
                  <a:srgbClr val="242126"/>
                </a:solidFill>
                <a:latin typeface="Cambria" pitchFamily="34" charset="0"/>
                <a:ea typeface="Cambria" pitchFamily="34" charset="-122"/>
                <a:cs typeface="Cambria" pitchFamily="34" charset="-120"/>
              </a:rPr>
              <a:t>Hollingsworth v. Perry</a:t>
            </a:r>
            <a:endParaRPr lang="en-US" sz="1800" dirty="0"/>
          </a:p>
        </p:txBody>
      </p:sp>
      <p:sp>
        <p:nvSpPr>
          <p:cNvPr id="16" name="Text 14"/>
          <p:cNvSpPr txBox="1"/>
          <p:nvPr/>
        </p:nvSpPr>
        <p:spPr>
          <a:xfrm>
            <a:off x="4572000" y="2075688"/>
            <a:ext cx="2834640" cy="347472"/>
          </a:xfrm>
          <a:prstGeom prst="rect">
            <a:avLst/>
          </a:prstGeom>
          <a:noFill/>
          <a:ln/>
        </p:spPr>
        <p:txBody>
          <a:bodyPr wrap="square" lIns="0" tIns="0" rIns="0" bIns="0" rtlCol="0" anchor="t">
            <a:normAutofit/>
          </a:bodyPr>
          <a:lstStyle/>
          <a:p>
            <a:pPr algn="l" indent="0" marL="0">
              <a:buNone/>
            </a:pPr>
            <a:r>
              <a:rPr lang="en-US" sz="1350" dirty="0">
                <a:solidFill>
                  <a:srgbClr val="405466"/>
                </a:solidFill>
                <a:latin typeface="Arial" pitchFamily="34" charset="0"/>
                <a:ea typeface="Arial" pitchFamily="34" charset="-122"/>
                <a:cs typeface="Arial" pitchFamily="34" charset="-120"/>
              </a:rPr>
              <a:t>No standing; the judgment against Proposition 8 remained in place</a:t>
            </a:r>
            <a:endParaRPr lang="en-US" sz="1350" dirty="0"/>
          </a:p>
        </p:txBody>
      </p:sp>
      <p:sp>
        <p:nvSpPr>
          <p:cNvPr id="17" name="Shape 15"/>
          <p:cNvSpPr/>
          <p:nvPr/>
        </p:nvSpPr>
        <p:spPr>
          <a:xfrm>
            <a:off x="7973568" y="1627632"/>
            <a:ext cx="3337560" cy="941832"/>
          </a:xfrm>
          <a:prstGeom prst="roundRect">
            <a:avLst>
              <a:gd name="adj" fmla="val 7767"/>
            </a:avLst>
          </a:prstGeom>
          <a:solidFill>
            <a:srgbClr val="F7EDCF"/>
          </a:solidFill>
          <a:ln w="12700">
            <a:solidFill>
              <a:srgbClr val="D7A62A"/>
            </a:solidFill>
            <a:prstDash val="solid"/>
          </a:ln>
        </p:spPr>
      </p:sp>
      <p:sp>
        <p:nvSpPr>
          <p:cNvPr id="18" name="Text 16"/>
          <p:cNvSpPr txBox="1"/>
          <p:nvPr/>
        </p:nvSpPr>
        <p:spPr>
          <a:xfrm>
            <a:off x="8183880" y="1755648"/>
            <a:ext cx="2926080" cy="274320"/>
          </a:xfrm>
          <a:prstGeom prst="rect">
            <a:avLst/>
          </a:prstGeom>
          <a:noFill/>
          <a:ln/>
        </p:spPr>
        <p:txBody>
          <a:bodyPr wrap="square" lIns="0" tIns="0" rIns="0" bIns="0" rtlCol="0" anchor="ctr">
            <a:normAutofit/>
          </a:bodyPr>
          <a:lstStyle/>
          <a:p>
            <a:pPr algn="l" indent="0" marL="0">
              <a:buNone/>
            </a:pPr>
            <a:r>
              <a:rPr lang="en-US" sz="1750" b="1" dirty="0">
                <a:solidFill>
                  <a:srgbClr val="242126"/>
                </a:solidFill>
                <a:latin typeface="Cambria" pitchFamily="34" charset="0"/>
                <a:ea typeface="Cambria" pitchFamily="34" charset="-122"/>
                <a:cs typeface="Cambria" pitchFamily="34" charset="-120"/>
              </a:rPr>
              <a:t>A liberal—but incomplete—policy shift</a:t>
            </a:r>
            <a:endParaRPr lang="en-US" sz="1750" dirty="0"/>
          </a:p>
        </p:txBody>
      </p:sp>
      <p:sp>
        <p:nvSpPr>
          <p:cNvPr id="19" name="Text 17"/>
          <p:cNvSpPr txBox="1"/>
          <p:nvPr/>
        </p:nvSpPr>
        <p:spPr>
          <a:xfrm>
            <a:off x="8183880" y="2075688"/>
            <a:ext cx="2816352" cy="347472"/>
          </a:xfrm>
          <a:prstGeom prst="rect">
            <a:avLst/>
          </a:prstGeom>
          <a:noFill/>
          <a:ln/>
        </p:spPr>
        <p:txBody>
          <a:bodyPr wrap="square" lIns="0" tIns="0" rIns="0" bIns="0" rtlCol="0" anchor="t">
            <a:normAutofit/>
          </a:bodyPr>
          <a:lstStyle/>
          <a:p>
            <a:pPr algn="l" indent="0" marL="0">
              <a:buNone/>
            </a:pPr>
            <a:r>
              <a:rPr lang="en-US" sz="1350" dirty="0">
                <a:solidFill>
                  <a:srgbClr val="405466"/>
                </a:solidFill>
                <a:latin typeface="Arial" pitchFamily="34" charset="0"/>
                <a:ea typeface="Arial" pitchFamily="34" charset="-122"/>
                <a:cs typeface="Arial" pitchFamily="34" charset="-120"/>
              </a:rPr>
              <a:t>The Court did not yet establish a nationwide constitutional right</a:t>
            </a:r>
            <a:endParaRPr lang="en-US" sz="1350" dirty="0"/>
          </a:p>
        </p:txBody>
      </p:sp>
      <p:sp>
        <p:nvSpPr>
          <p:cNvPr id="20" name="Shape 18"/>
          <p:cNvSpPr/>
          <p:nvPr/>
        </p:nvSpPr>
        <p:spPr>
          <a:xfrm>
            <a:off x="1115568" y="3721608"/>
            <a:ext cx="9948672" cy="1508760"/>
          </a:xfrm>
          <a:prstGeom prst="roundRect">
            <a:avLst>
              <a:gd name="adj" fmla="val 4848"/>
            </a:avLst>
          </a:prstGeom>
          <a:solidFill>
            <a:srgbClr val="F4F2F3"/>
          </a:solidFill>
          <a:ln w="12700">
            <a:solidFill>
              <a:srgbClr val="E7E4E6"/>
            </a:solidFill>
            <a:prstDash val="solid"/>
          </a:ln>
        </p:spPr>
      </p:sp>
      <p:sp>
        <p:nvSpPr>
          <p:cNvPr id="21" name="Text 19"/>
          <p:cNvSpPr txBox="1"/>
          <p:nvPr/>
        </p:nvSpPr>
        <p:spPr>
          <a:xfrm>
            <a:off x="1527048" y="4123944"/>
            <a:ext cx="2148840" cy="365760"/>
          </a:xfrm>
          <a:prstGeom prst="rect">
            <a:avLst/>
          </a:prstGeom>
          <a:noFill/>
          <a:ln/>
        </p:spPr>
        <p:txBody>
          <a:bodyPr wrap="square" lIns="0" tIns="0" rIns="0" bIns="0" rtlCol="0" anchor="ctr">
            <a:normAutofit/>
          </a:bodyPr>
          <a:lstStyle/>
          <a:p>
            <a:pPr algn="ctr" indent="0" marL="0">
              <a:buNone/>
            </a:pPr>
            <a:r>
              <a:rPr lang="en-US" sz="2300" b="1" dirty="0">
                <a:solidFill>
                  <a:srgbClr val="242126"/>
                </a:solidFill>
                <a:latin typeface="Cambria" pitchFamily="34" charset="0"/>
                <a:ea typeface="Cambria" pitchFamily="34" charset="-122"/>
                <a:cs typeface="Cambria" pitchFamily="34" charset="-120"/>
              </a:rPr>
              <a:t>Institutional authority</a:t>
            </a:r>
            <a:endParaRPr lang="en-US" sz="2300" dirty="0"/>
          </a:p>
        </p:txBody>
      </p:sp>
      <p:sp>
        <p:nvSpPr>
          <p:cNvPr id="22" name="Shape 20"/>
          <p:cNvSpPr/>
          <p:nvPr/>
        </p:nvSpPr>
        <p:spPr>
          <a:xfrm>
            <a:off x="3794760" y="4334256"/>
            <a:ext cx="685800" cy="0"/>
          </a:xfrm>
          <a:prstGeom prst="line">
            <a:avLst/>
          </a:prstGeom>
          <a:noFill/>
          <a:ln w="38100">
            <a:solidFill>
              <a:srgbClr val="6F686D"/>
            </a:solidFill>
            <a:prstDash val="solid"/>
            <a:tailEnd type="triangle"/>
          </a:ln>
        </p:spPr>
      </p:sp>
      <p:sp>
        <p:nvSpPr>
          <p:cNvPr id="23" name="Shape 21"/>
          <p:cNvSpPr/>
          <p:nvPr/>
        </p:nvSpPr>
        <p:spPr>
          <a:xfrm>
            <a:off x="4590288" y="3794760"/>
            <a:ext cx="1965960" cy="310896"/>
          </a:xfrm>
          <a:prstGeom prst="roundRect">
            <a:avLst>
              <a:gd name="adj" fmla="val 44118"/>
            </a:avLst>
          </a:prstGeom>
          <a:solidFill>
            <a:srgbClr val="DCEFEB"/>
          </a:solidFill>
          <a:ln w="12700">
            <a:solidFill>
              <a:srgbClr val="DCEFEB"/>
            </a:solidFill>
            <a:prstDash val="solid"/>
          </a:ln>
        </p:spPr>
      </p:sp>
      <p:sp>
        <p:nvSpPr>
          <p:cNvPr id="24" name="Text 22"/>
          <p:cNvSpPr txBox="1"/>
          <p:nvPr/>
        </p:nvSpPr>
        <p:spPr>
          <a:xfrm>
            <a:off x="4663440" y="3803904"/>
            <a:ext cx="1819656" cy="274320"/>
          </a:xfrm>
          <a:prstGeom prst="rect">
            <a:avLst/>
          </a:prstGeom>
          <a:noFill/>
          <a:ln/>
        </p:spPr>
        <p:txBody>
          <a:bodyPr wrap="square" lIns="0" tIns="0" rIns="0" bIns="0" rtlCol="0" anchor="ctr">
            <a:normAutofit/>
          </a:bodyPr>
          <a:lstStyle/>
          <a:p>
            <a:pPr algn="ctr" indent="0" marL="0">
              <a:buNone/>
            </a:pPr>
            <a:r>
              <a:rPr lang="en-US" sz="1100" b="1" dirty="0">
                <a:solidFill>
                  <a:srgbClr val="2A8C82"/>
                </a:solidFill>
                <a:latin typeface="Arial" pitchFamily="34" charset="0"/>
                <a:ea typeface="Arial" pitchFamily="34" charset="-122"/>
                <a:cs typeface="Arial" pitchFamily="34" charset="-120"/>
              </a:rPr>
              <a:t>CONSENT</a:t>
            </a:r>
            <a:endParaRPr lang="en-US" sz="1100" dirty="0"/>
          </a:p>
        </p:txBody>
      </p:sp>
      <p:sp>
        <p:nvSpPr>
          <p:cNvPr id="25" name="Text 23"/>
          <p:cNvSpPr txBox="1"/>
          <p:nvPr/>
        </p:nvSpPr>
        <p:spPr>
          <a:xfrm>
            <a:off x="4608576" y="4187952"/>
            <a:ext cx="1938528" cy="694944"/>
          </a:xfrm>
          <a:prstGeom prst="rect">
            <a:avLst/>
          </a:prstGeom>
          <a:noFill/>
          <a:ln/>
        </p:spPr>
        <p:txBody>
          <a:bodyPr wrap="square" lIns="0" tIns="0" rIns="0" bIns="0" rtlCol="0" anchor="ctr">
            <a:normAutofit/>
          </a:bodyPr>
          <a:lstStyle/>
          <a:p>
            <a:pPr algn="ctr" indent="0" marL="0">
              <a:buNone/>
            </a:pPr>
            <a:r>
              <a:rPr lang="en-US" sz="1500" dirty="0">
                <a:solidFill>
                  <a:srgbClr val="405466"/>
                </a:solidFill>
                <a:latin typeface="Arial" pitchFamily="34" charset="0"/>
                <a:ea typeface="Arial" pitchFamily="34" charset="-122"/>
                <a:cs typeface="Arial" pitchFamily="34" charset="-120"/>
              </a:rPr>
              <a:t>support rises</a:t>
            </a:r>
            <a:endParaRPr lang="en-US" sz="1500" dirty="0"/>
          </a:p>
          <a:p>
            <a:pPr algn="ctr" indent="0" marL="0">
              <a:buNone/>
            </a:pPr>
            <a:r>
              <a:rPr lang="en-US" sz="1500" dirty="0">
                <a:solidFill>
                  <a:srgbClr val="405466"/>
                </a:solidFill>
                <a:latin typeface="Arial" pitchFamily="34" charset="0"/>
                <a:ea typeface="Arial" pitchFamily="34" charset="-122"/>
                <a:cs typeface="Arial" pitchFamily="34" charset="-120"/>
              </a:rPr>
              <a:t>anger falls</a:t>
            </a:r>
            <a:endParaRPr lang="en-US" sz="1500" dirty="0"/>
          </a:p>
        </p:txBody>
      </p:sp>
      <p:sp>
        <p:nvSpPr>
          <p:cNvPr id="26" name="Text 24"/>
          <p:cNvSpPr txBox="1"/>
          <p:nvPr/>
        </p:nvSpPr>
        <p:spPr>
          <a:xfrm>
            <a:off x="6684264" y="4233672"/>
            <a:ext cx="502920" cy="292608"/>
          </a:xfrm>
          <a:prstGeom prst="rect">
            <a:avLst/>
          </a:prstGeom>
          <a:noFill/>
          <a:ln/>
        </p:spPr>
        <p:txBody>
          <a:bodyPr wrap="square" lIns="0" tIns="0" rIns="0" bIns="0" rtlCol="0" anchor="ctr">
            <a:normAutofit/>
          </a:bodyPr>
          <a:lstStyle/>
          <a:p>
            <a:pPr algn="ctr" indent="0" marL="0">
              <a:buNone/>
            </a:pPr>
            <a:r>
              <a:rPr lang="en-US" sz="1700" i="1" dirty="0">
                <a:solidFill>
                  <a:srgbClr val="6F686D"/>
                </a:solidFill>
                <a:latin typeface="Cambria" pitchFamily="34" charset="0"/>
                <a:ea typeface="Cambria" pitchFamily="34" charset="-122"/>
                <a:cs typeface="Cambria" pitchFamily="34" charset="-120"/>
              </a:rPr>
              <a:t>or</a:t>
            </a:r>
            <a:endParaRPr lang="en-US" sz="1700" dirty="0"/>
          </a:p>
        </p:txBody>
      </p:sp>
      <p:sp>
        <p:nvSpPr>
          <p:cNvPr id="27" name="Shape 25"/>
          <p:cNvSpPr/>
          <p:nvPr/>
        </p:nvSpPr>
        <p:spPr>
          <a:xfrm>
            <a:off x="7287768" y="3794760"/>
            <a:ext cx="2697480" cy="310896"/>
          </a:xfrm>
          <a:prstGeom prst="roundRect">
            <a:avLst>
              <a:gd name="adj" fmla="val 44118"/>
            </a:avLst>
          </a:prstGeom>
          <a:solidFill>
            <a:srgbClr val="F8E1E1"/>
          </a:solidFill>
          <a:ln w="12700">
            <a:solidFill>
              <a:srgbClr val="F8E1E1"/>
            </a:solidFill>
            <a:prstDash val="solid"/>
          </a:ln>
        </p:spPr>
      </p:sp>
      <p:sp>
        <p:nvSpPr>
          <p:cNvPr id="28" name="Text 26"/>
          <p:cNvSpPr txBox="1"/>
          <p:nvPr/>
        </p:nvSpPr>
        <p:spPr>
          <a:xfrm>
            <a:off x="7360920" y="3803904"/>
            <a:ext cx="2551176" cy="274320"/>
          </a:xfrm>
          <a:prstGeom prst="rect">
            <a:avLst/>
          </a:prstGeom>
          <a:noFill/>
          <a:ln/>
        </p:spPr>
        <p:txBody>
          <a:bodyPr wrap="square" lIns="0" tIns="0" rIns="0" bIns="0" rtlCol="0" anchor="ctr">
            <a:normAutofit/>
          </a:bodyPr>
          <a:lstStyle/>
          <a:p>
            <a:pPr algn="ctr" indent="0" marL="0">
              <a:buNone/>
            </a:pPr>
            <a:r>
              <a:rPr lang="en-US" sz="1100" b="1" dirty="0">
                <a:solidFill>
                  <a:srgbClr val="D65F5F"/>
                </a:solidFill>
                <a:latin typeface="Arial" pitchFamily="34" charset="0"/>
                <a:ea typeface="Arial" pitchFamily="34" charset="-122"/>
                <a:cs typeface="Arial" pitchFamily="34" charset="-120"/>
              </a:rPr>
              <a:t>COUNTERMOBILIZATION</a:t>
            </a:r>
            <a:endParaRPr lang="en-US" sz="1100" dirty="0"/>
          </a:p>
        </p:txBody>
      </p:sp>
      <p:sp>
        <p:nvSpPr>
          <p:cNvPr id="29" name="Text 27"/>
          <p:cNvSpPr txBox="1"/>
          <p:nvPr/>
        </p:nvSpPr>
        <p:spPr>
          <a:xfrm>
            <a:off x="7388352" y="4187952"/>
            <a:ext cx="2487168" cy="694944"/>
          </a:xfrm>
          <a:prstGeom prst="rect">
            <a:avLst/>
          </a:prstGeom>
          <a:noFill/>
          <a:ln/>
        </p:spPr>
        <p:txBody>
          <a:bodyPr wrap="square" lIns="0" tIns="0" rIns="0" bIns="0" rtlCol="0" anchor="ctr">
            <a:normAutofit/>
          </a:bodyPr>
          <a:lstStyle/>
          <a:p>
            <a:pPr algn="ctr" indent="0" marL="0">
              <a:buNone/>
            </a:pPr>
            <a:r>
              <a:rPr lang="en-US" sz="1500" dirty="0">
                <a:solidFill>
                  <a:srgbClr val="405466"/>
                </a:solidFill>
                <a:latin typeface="Arial" pitchFamily="34" charset="0"/>
                <a:ea typeface="Arial" pitchFamily="34" charset="-122"/>
                <a:cs typeface="Arial" pitchFamily="34" charset="-120"/>
              </a:rPr>
              <a:t>positions harden</a:t>
            </a:r>
            <a:endParaRPr lang="en-US" sz="1500" dirty="0"/>
          </a:p>
          <a:p>
            <a:pPr algn="ctr" indent="0" marL="0">
              <a:buNone/>
            </a:pPr>
            <a:r>
              <a:rPr lang="en-US" sz="1500" dirty="0">
                <a:solidFill>
                  <a:srgbClr val="405466"/>
                </a:solidFill>
                <a:latin typeface="Arial" pitchFamily="34" charset="0"/>
                <a:ea typeface="Arial" pitchFamily="34" charset="-122"/>
                <a:cs typeface="Arial" pitchFamily="34" charset="-120"/>
              </a:rPr>
              <a:t>conflict intensifies</a:t>
            </a:r>
            <a:endParaRPr lang="en-US" sz="1500" dirty="0"/>
          </a:p>
        </p:txBody>
      </p:sp>
      <p:sp>
        <p:nvSpPr>
          <p:cNvPr id="30" name="Text 28"/>
          <p:cNvSpPr txBox="1"/>
          <p:nvPr/>
        </p:nvSpPr>
        <p:spPr>
          <a:xfrm>
            <a:off x="1874520" y="5605272"/>
            <a:ext cx="8458200" cy="384048"/>
          </a:xfrm>
          <a:prstGeom prst="rect">
            <a:avLst/>
          </a:prstGeom>
          <a:noFill/>
          <a:ln/>
        </p:spPr>
        <p:txBody>
          <a:bodyPr wrap="square" lIns="0" tIns="0" rIns="0" bIns="0" rtlCol="0" anchor="ctr">
            <a:normAutofit/>
          </a:bodyPr>
          <a:lstStyle/>
          <a:p>
            <a:pPr algn="ctr" indent="0" marL="0">
              <a:buNone/>
            </a:pPr>
            <a:r>
              <a:rPr lang="en-US" sz="2000" b="1" dirty="0">
                <a:solidFill>
                  <a:srgbClr val="571D2B"/>
                </a:solidFill>
                <a:latin typeface="Arial" pitchFamily="34" charset="0"/>
                <a:ea typeface="Arial" pitchFamily="34" charset="-122"/>
                <a:cs typeface="Arial" pitchFamily="34" charset="-120"/>
              </a:rPr>
              <a:t>The legal outcome is observable. The social response is the dependent variable.</a:t>
            </a:r>
            <a:endParaRPr lang="en-US" sz="2000" dirty="0"/>
          </a:p>
        </p:txBody>
      </p:sp>
      <p:sp>
        <p:nvSpPr>
          <p:cNvPr id="31" name="Text 29"/>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pp. 7–8.</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WHY LAW &amp; ECONOMICS SHOULD CARE</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Legal finality and social settlement are different outcomes</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4928616" y="1956816"/>
            <a:ext cx="2331720" cy="2331720"/>
          </a:xfrm>
          <a:prstGeom prst="ellipse">
            <a:avLst/>
          </a:prstGeom>
          <a:solidFill>
            <a:srgbClr val="571D2B"/>
          </a:solidFill>
          <a:ln w="12700">
            <a:solidFill>
              <a:srgbClr val="FFFFFF">
                <a:alpha val="0"/>
              </a:srgbClr>
            </a:solidFill>
            <a:prstDash val="solid"/>
          </a:ln>
        </p:spPr>
      </p:sp>
      <p:sp>
        <p:nvSpPr>
          <p:cNvPr id="7" name="Shape 5"/>
          <p:cNvSpPr/>
          <p:nvPr/>
        </p:nvSpPr>
        <p:spPr>
          <a:xfrm rot="16200000">
            <a:off x="5522976" y="2441448"/>
            <a:ext cx="1119226" cy="254569"/>
          </a:xfrm>
          <a:prstGeom prst="chevron">
            <a:avLst/>
          </a:prstGeom>
          <a:solidFill>
            <a:srgbClr val="FFFFFF"/>
          </a:solidFill>
          <a:ln w="12700">
            <a:solidFill>
              <a:srgbClr val="FFFFFF">
                <a:alpha val="0"/>
              </a:srgbClr>
            </a:solidFill>
            <a:prstDash val="solid"/>
          </a:ln>
        </p:spPr>
      </p:sp>
      <p:sp>
        <p:nvSpPr>
          <p:cNvPr id="8" name="Shape 6"/>
          <p:cNvSpPr/>
          <p:nvPr/>
        </p:nvSpPr>
        <p:spPr>
          <a:xfrm>
            <a:off x="5672206" y="2696017"/>
            <a:ext cx="105339" cy="636422"/>
          </a:xfrm>
          <a:prstGeom prst="roundRect">
            <a:avLst>
              <a:gd name="adj" fmla="val 34722"/>
            </a:avLst>
          </a:prstGeom>
          <a:solidFill>
            <a:srgbClr val="FFFFFF"/>
          </a:solidFill>
          <a:ln w="12700">
            <a:solidFill>
              <a:srgbClr val="FFFFFF">
                <a:alpha val="0"/>
              </a:srgbClr>
            </a:solidFill>
            <a:prstDash val="solid"/>
          </a:ln>
        </p:spPr>
      </p:sp>
      <p:sp>
        <p:nvSpPr>
          <p:cNvPr id="9" name="Shape 7"/>
          <p:cNvSpPr/>
          <p:nvPr/>
        </p:nvSpPr>
        <p:spPr>
          <a:xfrm>
            <a:off x="5900440" y="2696017"/>
            <a:ext cx="105339" cy="636422"/>
          </a:xfrm>
          <a:prstGeom prst="roundRect">
            <a:avLst>
              <a:gd name="adj" fmla="val 34722"/>
            </a:avLst>
          </a:prstGeom>
          <a:solidFill>
            <a:srgbClr val="FFFFFF"/>
          </a:solidFill>
          <a:ln w="12700">
            <a:solidFill>
              <a:srgbClr val="FFFFFF">
                <a:alpha val="0"/>
              </a:srgbClr>
            </a:solidFill>
            <a:prstDash val="solid"/>
          </a:ln>
        </p:spPr>
      </p:sp>
      <p:sp>
        <p:nvSpPr>
          <p:cNvPr id="10" name="Shape 8"/>
          <p:cNvSpPr/>
          <p:nvPr/>
        </p:nvSpPr>
        <p:spPr>
          <a:xfrm>
            <a:off x="6128675" y="2696017"/>
            <a:ext cx="105339" cy="636422"/>
          </a:xfrm>
          <a:prstGeom prst="roundRect">
            <a:avLst>
              <a:gd name="adj" fmla="val 34722"/>
            </a:avLst>
          </a:prstGeom>
          <a:solidFill>
            <a:srgbClr val="FFFFFF"/>
          </a:solidFill>
          <a:ln w="12700">
            <a:solidFill>
              <a:srgbClr val="FFFFFF">
                <a:alpha val="0"/>
              </a:srgbClr>
            </a:solidFill>
            <a:prstDash val="solid"/>
          </a:ln>
        </p:spPr>
      </p:sp>
      <p:sp>
        <p:nvSpPr>
          <p:cNvPr id="11" name="Shape 9"/>
          <p:cNvSpPr/>
          <p:nvPr/>
        </p:nvSpPr>
        <p:spPr>
          <a:xfrm>
            <a:off x="6356909" y="2696017"/>
            <a:ext cx="105339" cy="636422"/>
          </a:xfrm>
          <a:prstGeom prst="roundRect">
            <a:avLst>
              <a:gd name="adj" fmla="val 34722"/>
            </a:avLst>
          </a:prstGeom>
          <a:solidFill>
            <a:srgbClr val="FFFFFF"/>
          </a:solidFill>
          <a:ln w="12700">
            <a:solidFill>
              <a:srgbClr val="FFFFFF">
                <a:alpha val="0"/>
              </a:srgbClr>
            </a:solidFill>
            <a:prstDash val="solid"/>
          </a:ln>
        </p:spPr>
      </p:sp>
      <p:sp>
        <p:nvSpPr>
          <p:cNvPr id="12" name="Shape 10"/>
          <p:cNvSpPr/>
          <p:nvPr/>
        </p:nvSpPr>
        <p:spPr>
          <a:xfrm>
            <a:off x="5588813" y="3328050"/>
            <a:ext cx="987552" cy="79004"/>
          </a:xfrm>
          <a:prstGeom prst="rect">
            <a:avLst/>
          </a:prstGeom>
          <a:solidFill>
            <a:srgbClr val="FFFFFF"/>
          </a:solidFill>
          <a:ln w="12700">
            <a:solidFill>
              <a:srgbClr val="FFFFFF">
                <a:alpha val="0"/>
              </a:srgbClr>
            </a:solidFill>
            <a:prstDash val="solid"/>
          </a:ln>
        </p:spPr>
      </p:sp>
      <p:sp>
        <p:nvSpPr>
          <p:cNvPr id="13" name="Shape 11"/>
          <p:cNvSpPr/>
          <p:nvPr/>
        </p:nvSpPr>
        <p:spPr>
          <a:xfrm>
            <a:off x="5531754" y="3433389"/>
            <a:ext cx="1097280" cy="61448"/>
          </a:xfrm>
          <a:prstGeom prst="rect">
            <a:avLst/>
          </a:prstGeom>
          <a:solidFill>
            <a:srgbClr val="FFFFFF"/>
          </a:solidFill>
          <a:ln w="12700">
            <a:solidFill>
              <a:srgbClr val="FFFFFF">
                <a:alpha val="0"/>
              </a:srgbClr>
            </a:solidFill>
            <a:prstDash val="solid"/>
          </a:ln>
        </p:spPr>
      </p:sp>
      <p:sp>
        <p:nvSpPr>
          <p:cNvPr id="14" name="Text 12"/>
          <p:cNvSpPr txBox="1"/>
          <p:nvPr/>
        </p:nvSpPr>
        <p:spPr>
          <a:xfrm>
            <a:off x="5321808" y="3255264"/>
            <a:ext cx="1554480" cy="60350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COURT</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RULING</a:t>
            </a:r>
            <a:endParaRPr lang="en-US" sz="1300" dirty="0"/>
          </a:p>
        </p:txBody>
      </p:sp>
      <p:sp>
        <p:nvSpPr>
          <p:cNvPr id="15" name="Shape 13"/>
          <p:cNvSpPr/>
          <p:nvPr/>
        </p:nvSpPr>
        <p:spPr>
          <a:xfrm>
            <a:off x="713232" y="1572768"/>
            <a:ext cx="3429000" cy="1252728"/>
          </a:xfrm>
          <a:prstGeom prst="roundRect">
            <a:avLst>
              <a:gd name="adj" fmla="val 5839"/>
            </a:avLst>
          </a:prstGeom>
          <a:solidFill>
            <a:srgbClr val="DCEFEB"/>
          </a:solidFill>
          <a:ln w="12700">
            <a:solidFill>
              <a:srgbClr val="2A8C82"/>
            </a:solidFill>
            <a:prstDash val="solid"/>
          </a:ln>
        </p:spPr>
      </p:sp>
      <p:sp>
        <p:nvSpPr>
          <p:cNvPr id="16" name="Text 14"/>
          <p:cNvSpPr txBox="1"/>
          <p:nvPr/>
        </p:nvSpPr>
        <p:spPr>
          <a:xfrm>
            <a:off x="969264" y="1728216"/>
            <a:ext cx="2916936" cy="301752"/>
          </a:xfrm>
          <a:prstGeom prst="rect">
            <a:avLst/>
          </a:prstGeom>
          <a:noFill/>
          <a:ln/>
        </p:spPr>
        <p:txBody>
          <a:bodyPr wrap="square" lIns="0" tIns="0" rIns="0" bIns="0" rtlCol="0" anchor="ctr">
            <a:normAutofit/>
          </a:bodyPr>
          <a:lstStyle/>
          <a:p>
            <a:pPr algn="l" indent="0" marL="0">
              <a:buNone/>
            </a:pPr>
            <a:r>
              <a:rPr lang="en-US" sz="2000" b="1" dirty="0">
                <a:solidFill>
                  <a:srgbClr val="2A8C82"/>
                </a:solidFill>
                <a:latin typeface="Cambria" pitchFamily="34" charset="0"/>
                <a:ea typeface="Cambria" pitchFamily="34" charset="-122"/>
                <a:cs typeface="Cambria" pitchFamily="34" charset="-120"/>
              </a:rPr>
              <a:t>Persuasion</a:t>
            </a:r>
            <a:endParaRPr lang="en-US" sz="2000" dirty="0"/>
          </a:p>
        </p:txBody>
      </p:sp>
      <p:sp>
        <p:nvSpPr>
          <p:cNvPr id="17" name="Text 15"/>
          <p:cNvSpPr txBox="1"/>
          <p:nvPr/>
        </p:nvSpPr>
        <p:spPr>
          <a:xfrm>
            <a:off x="969264" y="2066544"/>
            <a:ext cx="2916936" cy="603504"/>
          </a:xfrm>
          <a:prstGeom prst="rect">
            <a:avLst/>
          </a:prstGeom>
          <a:noFill/>
          <a:ln/>
        </p:spPr>
        <p:txBody>
          <a:bodyPr wrap="square" lIns="0" tIns="0" rIns="0" bIns="0" rtlCol="0" anchor="t">
            <a:normAutofit/>
          </a:bodyPr>
          <a:lstStyle/>
          <a:p>
            <a:pPr algn="l" indent="0" marL="0">
              <a:buNone/>
            </a:pPr>
            <a:r>
              <a:rPr lang="en-US" sz="1420" dirty="0">
                <a:solidFill>
                  <a:srgbClr val="405466"/>
                </a:solidFill>
                <a:latin typeface="Arial" pitchFamily="34" charset="0"/>
                <a:ea typeface="Arial" pitchFamily="34" charset="-122"/>
                <a:cs typeface="Arial" pitchFamily="34" charset="-120"/>
              </a:rPr>
              <a:t>Authority can lower the political cost of policy change by bringing preferences toward the result.</a:t>
            </a:r>
            <a:endParaRPr lang="en-US" sz="1420" dirty="0"/>
          </a:p>
        </p:txBody>
      </p:sp>
      <p:sp>
        <p:nvSpPr>
          <p:cNvPr id="18" name="Shape 16"/>
          <p:cNvSpPr/>
          <p:nvPr/>
        </p:nvSpPr>
        <p:spPr>
          <a:xfrm>
            <a:off x="713232" y="3877056"/>
            <a:ext cx="3429000" cy="1252728"/>
          </a:xfrm>
          <a:prstGeom prst="roundRect">
            <a:avLst>
              <a:gd name="adj" fmla="val 5839"/>
            </a:avLst>
          </a:prstGeom>
          <a:solidFill>
            <a:srgbClr val="E9E3F2"/>
          </a:solidFill>
          <a:ln w="12700">
            <a:solidFill>
              <a:srgbClr val="775DA6"/>
            </a:solidFill>
            <a:prstDash val="solid"/>
          </a:ln>
        </p:spPr>
      </p:sp>
      <p:sp>
        <p:nvSpPr>
          <p:cNvPr id="19" name="Text 17"/>
          <p:cNvSpPr txBox="1"/>
          <p:nvPr/>
        </p:nvSpPr>
        <p:spPr>
          <a:xfrm>
            <a:off x="969264" y="4032504"/>
            <a:ext cx="2916936" cy="301752"/>
          </a:xfrm>
          <a:prstGeom prst="rect">
            <a:avLst/>
          </a:prstGeom>
          <a:noFill/>
          <a:ln/>
        </p:spPr>
        <p:txBody>
          <a:bodyPr wrap="square" lIns="0" tIns="0" rIns="0" bIns="0" rtlCol="0" anchor="ctr">
            <a:normAutofit/>
          </a:bodyPr>
          <a:lstStyle/>
          <a:p>
            <a:pPr algn="l" indent="0" marL="0">
              <a:buNone/>
            </a:pPr>
            <a:r>
              <a:rPr lang="en-US" sz="2000" b="1" dirty="0">
                <a:solidFill>
                  <a:srgbClr val="775DA6"/>
                </a:solidFill>
                <a:latin typeface="Cambria" pitchFamily="34" charset="0"/>
                <a:ea typeface="Cambria" pitchFamily="34" charset="-122"/>
                <a:cs typeface="Cambria" pitchFamily="34" charset="-120"/>
              </a:rPr>
              <a:t>Coordination</a:t>
            </a:r>
            <a:endParaRPr lang="en-US" sz="2000" dirty="0"/>
          </a:p>
        </p:txBody>
      </p:sp>
      <p:sp>
        <p:nvSpPr>
          <p:cNvPr id="20" name="Text 18"/>
          <p:cNvSpPr txBox="1"/>
          <p:nvPr/>
        </p:nvSpPr>
        <p:spPr>
          <a:xfrm>
            <a:off x="969264" y="4370832"/>
            <a:ext cx="2916936" cy="603504"/>
          </a:xfrm>
          <a:prstGeom prst="rect">
            <a:avLst/>
          </a:prstGeom>
          <a:noFill/>
          <a:ln/>
        </p:spPr>
        <p:txBody>
          <a:bodyPr wrap="square" lIns="0" tIns="0" rIns="0" bIns="0" rtlCol="0" anchor="t">
            <a:normAutofit/>
          </a:bodyPr>
          <a:lstStyle/>
          <a:p>
            <a:pPr algn="l" indent="0" marL="0">
              <a:buNone/>
            </a:pPr>
            <a:r>
              <a:rPr lang="en-US" sz="1420" dirty="0">
                <a:solidFill>
                  <a:srgbClr val="405466"/>
                </a:solidFill>
                <a:latin typeface="Arial" pitchFamily="34" charset="0"/>
                <a:ea typeface="Arial" pitchFamily="34" charset="-122"/>
                <a:cs typeface="Arial" pitchFamily="34" charset="-120"/>
              </a:rPr>
              <a:t>A clear rule can settle expectations and behavior even when underlying preferences do not move.</a:t>
            </a:r>
            <a:endParaRPr lang="en-US" sz="1420" dirty="0"/>
          </a:p>
        </p:txBody>
      </p:sp>
      <p:sp>
        <p:nvSpPr>
          <p:cNvPr id="21" name="Shape 19"/>
          <p:cNvSpPr/>
          <p:nvPr/>
        </p:nvSpPr>
        <p:spPr>
          <a:xfrm>
            <a:off x="8037576" y="2724912"/>
            <a:ext cx="3429000" cy="1252728"/>
          </a:xfrm>
          <a:prstGeom prst="roundRect">
            <a:avLst>
              <a:gd name="adj" fmla="val 5839"/>
            </a:avLst>
          </a:prstGeom>
          <a:solidFill>
            <a:srgbClr val="F8E1E1"/>
          </a:solidFill>
          <a:ln w="12700">
            <a:solidFill>
              <a:srgbClr val="D65F5F"/>
            </a:solidFill>
            <a:prstDash val="solid"/>
          </a:ln>
        </p:spPr>
      </p:sp>
      <p:sp>
        <p:nvSpPr>
          <p:cNvPr id="22" name="Text 20"/>
          <p:cNvSpPr txBox="1"/>
          <p:nvPr/>
        </p:nvSpPr>
        <p:spPr>
          <a:xfrm>
            <a:off x="8293608" y="2880360"/>
            <a:ext cx="2916936" cy="301752"/>
          </a:xfrm>
          <a:prstGeom prst="rect">
            <a:avLst/>
          </a:prstGeom>
          <a:noFill/>
          <a:ln/>
        </p:spPr>
        <p:txBody>
          <a:bodyPr wrap="square" lIns="0" tIns="0" rIns="0" bIns="0" rtlCol="0" anchor="ctr">
            <a:normAutofit/>
          </a:bodyPr>
          <a:lstStyle/>
          <a:p>
            <a:pPr algn="l" indent="0" marL="0">
              <a:buNone/>
            </a:pPr>
            <a:r>
              <a:rPr lang="en-US" sz="2000" b="1" dirty="0">
                <a:solidFill>
                  <a:srgbClr val="D65F5F"/>
                </a:solidFill>
                <a:latin typeface="Cambria" pitchFamily="34" charset="0"/>
                <a:ea typeface="Cambria" pitchFamily="34" charset="-122"/>
                <a:cs typeface="Cambria" pitchFamily="34" charset="-120"/>
              </a:rPr>
              <a:t>Backlash</a:t>
            </a:r>
            <a:endParaRPr lang="en-US" sz="2000" dirty="0"/>
          </a:p>
        </p:txBody>
      </p:sp>
      <p:sp>
        <p:nvSpPr>
          <p:cNvPr id="23" name="Text 21"/>
          <p:cNvSpPr txBox="1"/>
          <p:nvPr/>
        </p:nvSpPr>
        <p:spPr>
          <a:xfrm>
            <a:off x="8293608" y="3218688"/>
            <a:ext cx="2916936" cy="603504"/>
          </a:xfrm>
          <a:prstGeom prst="rect">
            <a:avLst/>
          </a:prstGeom>
          <a:noFill/>
          <a:ln/>
        </p:spPr>
        <p:txBody>
          <a:bodyPr wrap="square" lIns="0" tIns="0" rIns="0" bIns="0" rtlCol="0" anchor="t">
            <a:normAutofit/>
          </a:bodyPr>
          <a:lstStyle/>
          <a:p>
            <a:pPr algn="l" indent="0" marL="0">
              <a:buNone/>
            </a:pPr>
            <a:r>
              <a:rPr lang="en-US" sz="1420" dirty="0">
                <a:solidFill>
                  <a:srgbClr val="405466"/>
                </a:solidFill>
                <a:latin typeface="Arial" pitchFamily="34" charset="0"/>
                <a:ea typeface="Arial" pitchFamily="34" charset="-122"/>
                <a:cs typeface="Arial" pitchFamily="34" charset="-120"/>
              </a:rPr>
              <a:t>A salient judgment can harden positions, increase anger, and raise downstream conflict costs.</a:t>
            </a:r>
            <a:endParaRPr lang="en-US" sz="1420" dirty="0"/>
          </a:p>
        </p:txBody>
      </p:sp>
      <p:sp>
        <p:nvSpPr>
          <p:cNvPr id="24" name="Shape 22"/>
          <p:cNvSpPr/>
          <p:nvPr/>
        </p:nvSpPr>
        <p:spPr>
          <a:xfrm>
            <a:off x="4142232" y="2176272"/>
            <a:ext cx="804672" cy="384048"/>
          </a:xfrm>
          <a:prstGeom prst="line">
            <a:avLst/>
          </a:prstGeom>
          <a:noFill/>
          <a:ln w="25400">
            <a:solidFill>
              <a:srgbClr val="2A8C82"/>
            </a:solidFill>
            <a:prstDash val="solid"/>
            <a:tailEnd type="triangle"/>
          </a:ln>
        </p:spPr>
      </p:sp>
      <p:sp>
        <p:nvSpPr>
          <p:cNvPr id="25" name="Shape 23"/>
          <p:cNvSpPr/>
          <p:nvPr/>
        </p:nvSpPr>
        <p:spPr>
          <a:xfrm>
            <a:off x="4142232" y="4343400"/>
            <a:ext cx="804672" cy="-384048"/>
          </a:xfrm>
          <a:prstGeom prst="line">
            <a:avLst/>
          </a:prstGeom>
          <a:noFill/>
          <a:ln w="25400">
            <a:solidFill>
              <a:srgbClr val="775DA6"/>
            </a:solidFill>
            <a:prstDash val="solid"/>
            <a:tailEnd type="triangle"/>
          </a:ln>
        </p:spPr>
      </p:sp>
      <p:sp>
        <p:nvSpPr>
          <p:cNvPr id="26" name="Shape 24"/>
          <p:cNvSpPr/>
          <p:nvPr/>
        </p:nvSpPr>
        <p:spPr>
          <a:xfrm>
            <a:off x="7260336" y="3127248"/>
            <a:ext cx="758952" cy="0"/>
          </a:xfrm>
          <a:prstGeom prst="line">
            <a:avLst/>
          </a:prstGeom>
          <a:noFill/>
          <a:ln w="25400">
            <a:solidFill>
              <a:srgbClr val="D65F5F"/>
            </a:solidFill>
            <a:prstDash val="solid"/>
            <a:tailEnd type="triangle"/>
          </a:ln>
        </p:spPr>
      </p:sp>
      <p:sp>
        <p:nvSpPr>
          <p:cNvPr id="27" name="Shape 25"/>
          <p:cNvSpPr/>
          <p:nvPr/>
        </p:nvSpPr>
        <p:spPr>
          <a:xfrm>
            <a:off x="4059936" y="4800600"/>
            <a:ext cx="4087368" cy="841248"/>
          </a:xfrm>
          <a:prstGeom prst="roundRect">
            <a:avLst>
              <a:gd name="adj" fmla="val 8696"/>
            </a:avLst>
          </a:prstGeom>
          <a:solidFill>
            <a:srgbClr val="F4F2F3"/>
          </a:solidFill>
          <a:ln w="12700">
            <a:solidFill>
              <a:srgbClr val="E7E4E6"/>
            </a:solidFill>
            <a:prstDash val="solid"/>
          </a:ln>
        </p:spPr>
      </p:sp>
      <p:sp>
        <p:nvSpPr>
          <p:cNvPr id="28" name="Text 26"/>
          <p:cNvSpPr txBox="1"/>
          <p:nvPr/>
        </p:nvSpPr>
        <p:spPr>
          <a:xfrm>
            <a:off x="4370832" y="4992624"/>
            <a:ext cx="3474720" cy="475488"/>
          </a:xfrm>
          <a:prstGeom prst="rect">
            <a:avLst/>
          </a:prstGeom>
          <a:noFill/>
          <a:ln/>
        </p:spPr>
        <p:txBody>
          <a:bodyPr wrap="square" lIns="0" tIns="0" rIns="0" bIns="0" rtlCol="0" anchor="ctr">
            <a:normAutofit/>
          </a:bodyPr>
          <a:lstStyle/>
          <a:p>
            <a:pPr algn="ctr" indent="0" marL="0">
              <a:buNone/>
            </a:pPr>
            <a:r>
              <a:rPr lang="en-US" sz="1600" b="1" dirty="0">
                <a:solidFill>
                  <a:srgbClr val="242126"/>
                </a:solidFill>
                <a:latin typeface="Arial" pitchFamily="34" charset="0"/>
                <a:ea typeface="Arial" pitchFamily="34" charset="-122"/>
                <a:cs typeface="Arial" pitchFamily="34" charset="-120"/>
              </a:rPr>
              <a:t>The paper asks which social technology judicial review actually supplies.</a:t>
            </a:r>
            <a:endParaRPr lang="en-US" sz="1600" dirty="0"/>
          </a:p>
        </p:txBody>
      </p:sp>
      <p:sp>
        <p:nvSpPr>
          <p:cNvPr id="29" name="Text 27"/>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Interpretive frame for a law-and-economics colloquium.</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THEORY</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Three accounts make observably different predictions</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Text 4"/>
          <p:cNvSpPr txBox="1"/>
          <p:nvPr/>
        </p:nvSpPr>
        <p:spPr>
          <a:xfrm>
            <a:off x="658368" y="1408176"/>
            <a:ext cx="1417320" cy="292608"/>
          </a:xfrm>
          <a:prstGeom prst="rect">
            <a:avLst/>
          </a:prstGeom>
          <a:noFill/>
          <a:ln/>
        </p:spPr>
        <p:txBody>
          <a:bodyPr wrap="square" lIns="0" tIns="0" rIns="0" bIns="0" rtlCol="0" anchor="ctr">
            <a:normAutofit/>
          </a:bodyPr>
          <a:lstStyle/>
          <a:p>
            <a:pPr algn="l" indent="0" marL="0">
              <a:buNone/>
            </a:pPr>
            <a:r>
              <a:rPr lang="en-US" sz="1100" b="1" spc="110" kern="0" dirty="0">
                <a:solidFill>
                  <a:srgbClr val="6F686D"/>
                </a:solidFill>
                <a:latin typeface="Arial" pitchFamily="34" charset="0"/>
                <a:ea typeface="Arial" pitchFamily="34" charset="-122"/>
                <a:cs typeface="Arial" pitchFamily="34" charset="-120"/>
              </a:rPr>
              <a:t>OUTCOME</a:t>
            </a:r>
            <a:endParaRPr lang="en-US" sz="1100" dirty="0"/>
          </a:p>
        </p:txBody>
      </p:sp>
      <p:sp>
        <p:nvSpPr>
          <p:cNvPr id="7" name="Shape 5"/>
          <p:cNvSpPr/>
          <p:nvPr/>
        </p:nvSpPr>
        <p:spPr>
          <a:xfrm>
            <a:off x="2331720" y="1243584"/>
            <a:ext cx="2962656" cy="786384"/>
          </a:xfrm>
          <a:prstGeom prst="roundRect">
            <a:avLst>
              <a:gd name="adj" fmla="val 9302"/>
            </a:avLst>
          </a:prstGeom>
          <a:solidFill>
            <a:srgbClr val="DCEFEB"/>
          </a:solidFill>
          <a:ln w="12700">
            <a:solidFill>
              <a:srgbClr val="2A8C82"/>
            </a:solidFill>
            <a:prstDash val="solid"/>
          </a:ln>
        </p:spPr>
      </p:sp>
      <p:sp>
        <p:nvSpPr>
          <p:cNvPr id="8" name="Text 6"/>
          <p:cNvSpPr txBox="1"/>
          <p:nvPr/>
        </p:nvSpPr>
        <p:spPr>
          <a:xfrm>
            <a:off x="2496312" y="1353312"/>
            <a:ext cx="2633472" cy="283464"/>
          </a:xfrm>
          <a:prstGeom prst="rect">
            <a:avLst/>
          </a:prstGeom>
          <a:noFill/>
          <a:ln/>
        </p:spPr>
        <p:txBody>
          <a:bodyPr wrap="square" lIns="0" tIns="0" rIns="0" bIns="0" rtlCol="0" anchor="ctr">
            <a:normAutofit/>
          </a:bodyPr>
          <a:lstStyle/>
          <a:p>
            <a:pPr algn="ctr" indent="0" marL="0">
              <a:buNone/>
            </a:pPr>
            <a:r>
              <a:rPr lang="en-US" sz="1800" b="1" dirty="0">
                <a:solidFill>
                  <a:srgbClr val="2A8C82"/>
                </a:solidFill>
                <a:latin typeface="Cambria" pitchFamily="34" charset="0"/>
                <a:ea typeface="Cambria" pitchFamily="34" charset="-122"/>
                <a:cs typeface="Cambria" pitchFamily="34" charset="-120"/>
              </a:rPr>
              <a:t>Legitimation</a:t>
            </a:r>
            <a:endParaRPr lang="en-US" sz="1800" dirty="0"/>
          </a:p>
        </p:txBody>
      </p:sp>
      <p:sp>
        <p:nvSpPr>
          <p:cNvPr id="9" name="Text 7"/>
          <p:cNvSpPr txBox="1"/>
          <p:nvPr/>
        </p:nvSpPr>
        <p:spPr>
          <a:xfrm>
            <a:off x="2496312" y="1664208"/>
            <a:ext cx="2633472" cy="201168"/>
          </a:xfrm>
          <a:prstGeom prst="rect">
            <a:avLst/>
          </a:prstGeom>
          <a:noFill/>
          <a:ln/>
        </p:spPr>
        <p:txBody>
          <a:bodyPr wrap="square" lIns="0" tIns="0" rIns="0" bIns="0" rtlCol="0" anchor="ctr">
            <a:normAutofit/>
          </a:bodyPr>
          <a:lstStyle/>
          <a:p>
            <a:pPr algn="ctr" indent="0" marL="0">
              <a:buNone/>
            </a:pPr>
            <a:r>
              <a:rPr lang="en-US" sz="1050" dirty="0">
                <a:solidFill>
                  <a:srgbClr val="405466"/>
                </a:solidFill>
                <a:latin typeface="Arial" pitchFamily="34" charset="0"/>
                <a:ea typeface="Arial" pitchFamily="34" charset="-122"/>
                <a:cs typeface="Arial" pitchFamily="34" charset="-120"/>
              </a:rPr>
              <a:t>deference to authority</a:t>
            </a:r>
            <a:endParaRPr lang="en-US" sz="1050" dirty="0"/>
          </a:p>
        </p:txBody>
      </p:sp>
      <p:sp>
        <p:nvSpPr>
          <p:cNvPr id="10" name="Shape 8"/>
          <p:cNvSpPr/>
          <p:nvPr/>
        </p:nvSpPr>
        <p:spPr>
          <a:xfrm>
            <a:off x="5431536" y="1243584"/>
            <a:ext cx="2962656" cy="786384"/>
          </a:xfrm>
          <a:prstGeom prst="roundRect">
            <a:avLst>
              <a:gd name="adj" fmla="val 9302"/>
            </a:avLst>
          </a:prstGeom>
          <a:solidFill>
            <a:srgbClr val="F8E1E1"/>
          </a:solidFill>
          <a:ln w="12700">
            <a:solidFill>
              <a:srgbClr val="D65F5F"/>
            </a:solidFill>
            <a:prstDash val="solid"/>
          </a:ln>
        </p:spPr>
      </p:sp>
      <p:sp>
        <p:nvSpPr>
          <p:cNvPr id="11" name="Text 9"/>
          <p:cNvSpPr txBox="1"/>
          <p:nvPr/>
        </p:nvSpPr>
        <p:spPr>
          <a:xfrm>
            <a:off x="5596128" y="1353312"/>
            <a:ext cx="2633472" cy="283464"/>
          </a:xfrm>
          <a:prstGeom prst="rect">
            <a:avLst/>
          </a:prstGeom>
          <a:noFill/>
          <a:ln/>
        </p:spPr>
        <p:txBody>
          <a:bodyPr wrap="square" lIns="0" tIns="0" rIns="0" bIns="0" rtlCol="0" anchor="ctr">
            <a:normAutofit/>
          </a:bodyPr>
          <a:lstStyle/>
          <a:p>
            <a:pPr algn="ctr" indent="0" marL="0">
              <a:buNone/>
            </a:pPr>
            <a:r>
              <a:rPr lang="en-US" sz="1800" b="1" dirty="0">
                <a:solidFill>
                  <a:srgbClr val="D65F5F"/>
                </a:solidFill>
                <a:latin typeface="Cambria" pitchFamily="34" charset="0"/>
                <a:ea typeface="Cambria" pitchFamily="34" charset="-122"/>
                <a:cs typeface="Cambria" pitchFamily="34" charset="-120"/>
              </a:rPr>
              <a:t>Structural response</a:t>
            </a:r>
            <a:endParaRPr lang="en-US" sz="1800" dirty="0"/>
          </a:p>
        </p:txBody>
      </p:sp>
      <p:sp>
        <p:nvSpPr>
          <p:cNvPr id="12" name="Text 10"/>
          <p:cNvSpPr txBox="1"/>
          <p:nvPr/>
        </p:nvSpPr>
        <p:spPr>
          <a:xfrm>
            <a:off x="5596128" y="1664208"/>
            <a:ext cx="2633472" cy="201168"/>
          </a:xfrm>
          <a:prstGeom prst="rect">
            <a:avLst/>
          </a:prstGeom>
          <a:noFill/>
          <a:ln/>
        </p:spPr>
        <p:txBody>
          <a:bodyPr wrap="square" lIns="0" tIns="0" rIns="0" bIns="0" rtlCol="0" anchor="ctr">
            <a:normAutofit/>
          </a:bodyPr>
          <a:lstStyle/>
          <a:p>
            <a:pPr algn="ctr" indent="0" marL="0">
              <a:buNone/>
            </a:pPr>
            <a:r>
              <a:rPr lang="en-US" sz="1050" dirty="0">
                <a:solidFill>
                  <a:srgbClr val="405466"/>
                </a:solidFill>
                <a:latin typeface="Arial" pitchFamily="34" charset="0"/>
                <a:ea typeface="Arial" pitchFamily="34" charset="-122"/>
                <a:cs typeface="Arial" pitchFamily="34" charset="-120"/>
              </a:rPr>
              <a:t>discussion reinforces groups</a:t>
            </a:r>
            <a:endParaRPr lang="en-US" sz="1050" dirty="0"/>
          </a:p>
        </p:txBody>
      </p:sp>
      <p:sp>
        <p:nvSpPr>
          <p:cNvPr id="13" name="Shape 11"/>
          <p:cNvSpPr/>
          <p:nvPr/>
        </p:nvSpPr>
        <p:spPr>
          <a:xfrm>
            <a:off x="8531352" y="1243584"/>
            <a:ext cx="2962656" cy="786384"/>
          </a:xfrm>
          <a:prstGeom prst="roundRect">
            <a:avLst>
              <a:gd name="adj" fmla="val 9302"/>
            </a:avLst>
          </a:prstGeom>
          <a:solidFill>
            <a:srgbClr val="F7EDCF"/>
          </a:solidFill>
          <a:ln w="12700">
            <a:solidFill>
              <a:srgbClr val="D7A62A"/>
            </a:solidFill>
            <a:prstDash val="solid"/>
          </a:ln>
        </p:spPr>
      </p:sp>
      <p:sp>
        <p:nvSpPr>
          <p:cNvPr id="14" name="Text 12"/>
          <p:cNvSpPr txBox="1"/>
          <p:nvPr/>
        </p:nvSpPr>
        <p:spPr>
          <a:xfrm>
            <a:off x="8695944" y="1353312"/>
            <a:ext cx="2633472" cy="283464"/>
          </a:xfrm>
          <a:prstGeom prst="rect">
            <a:avLst/>
          </a:prstGeom>
          <a:noFill/>
          <a:ln/>
        </p:spPr>
        <p:txBody>
          <a:bodyPr wrap="square" lIns="0" tIns="0" rIns="0" bIns="0" rtlCol="0" anchor="ctr">
            <a:normAutofit/>
          </a:bodyPr>
          <a:lstStyle/>
          <a:p>
            <a:pPr algn="ctr" indent="0" marL="0">
              <a:buNone/>
            </a:pPr>
            <a:r>
              <a:rPr lang="en-US" sz="1800" b="1" dirty="0">
                <a:solidFill>
                  <a:srgbClr val="D7A62A"/>
                </a:solidFill>
                <a:latin typeface="Cambria" pitchFamily="34" charset="0"/>
                <a:ea typeface="Cambria" pitchFamily="34" charset="-122"/>
                <a:cs typeface="Cambria" pitchFamily="34" charset="-120"/>
              </a:rPr>
              <a:t>Thermostatic response</a:t>
            </a:r>
            <a:endParaRPr lang="en-US" sz="1800" dirty="0"/>
          </a:p>
        </p:txBody>
      </p:sp>
      <p:sp>
        <p:nvSpPr>
          <p:cNvPr id="15" name="Text 13"/>
          <p:cNvSpPr txBox="1"/>
          <p:nvPr/>
        </p:nvSpPr>
        <p:spPr>
          <a:xfrm>
            <a:off x="8695944" y="1664208"/>
            <a:ext cx="2633472" cy="201168"/>
          </a:xfrm>
          <a:prstGeom prst="rect">
            <a:avLst/>
          </a:prstGeom>
          <a:noFill/>
          <a:ln/>
        </p:spPr>
        <p:txBody>
          <a:bodyPr wrap="square" lIns="0" tIns="0" rIns="0" bIns="0" rtlCol="0" anchor="ctr">
            <a:normAutofit/>
          </a:bodyPr>
          <a:lstStyle/>
          <a:p>
            <a:pPr algn="ctr" indent="0" marL="0">
              <a:buNone/>
            </a:pPr>
            <a:r>
              <a:rPr lang="en-US" sz="1050" dirty="0">
                <a:solidFill>
                  <a:srgbClr val="405466"/>
                </a:solidFill>
                <a:latin typeface="Arial" pitchFamily="34" charset="0"/>
                <a:ea typeface="Arial" pitchFamily="34" charset="-122"/>
                <a:cs typeface="Arial" pitchFamily="34" charset="-120"/>
              </a:rPr>
              <a:t>policy prompts counter-demand</a:t>
            </a:r>
            <a:endParaRPr lang="en-US" sz="1050" dirty="0"/>
          </a:p>
        </p:txBody>
      </p:sp>
      <p:sp>
        <p:nvSpPr>
          <p:cNvPr id="16" name="Shape 14"/>
          <p:cNvSpPr/>
          <p:nvPr/>
        </p:nvSpPr>
        <p:spPr>
          <a:xfrm>
            <a:off x="658368" y="2304288"/>
            <a:ext cx="1481328" cy="804672"/>
          </a:xfrm>
          <a:prstGeom prst="roundRect">
            <a:avLst>
              <a:gd name="adj" fmla="val 9091"/>
            </a:avLst>
          </a:prstGeom>
          <a:solidFill>
            <a:srgbClr val="F4F2F3"/>
          </a:solidFill>
          <a:ln w="12700">
            <a:solidFill>
              <a:srgbClr val="E7E4E6"/>
            </a:solidFill>
            <a:prstDash val="solid"/>
          </a:ln>
        </p:spPr>
      </p:sp>
      <p:sp>
        <p:nvSpPr>
          <p:cNvPr id="17" name="Text 15"/>
          <p:cNvSpPr txBox="1"/>
          <p:nvPr/>
        </p:nvSpPr>
        <p:spPr>
          <a:xfrm>
            <a:off x="804672" y="2487168"/>
            <a:ext cx="1188720" cy="365760"/>
          </a:xfrm>
          <a:prstGeom prst="rect">
            <a:avLst/>
          </a:prstGeom>
          <a:noFill/>
          <a:ln/>
        </p:spPr>
        <p:txBody>
          <a:bodyPr wrap="square" lIns="0" tIns="0" rIns="0" bIns="0" rtlCol="0" anchor="ctr">
            <a:normAutofit/>
          </a:bodyPr>
          <a:lstStyle/>
          <a:p>
            <a:pPr algn="ctr" indent="0" marL="0">
              <a:buNone/>
            </a:pPr>
            <a:r>
              <a:rPr lang="en-US" sz="1700" b="1" dirty="0">
                <a:solidFill>
                  <a:srgbClr val="242126"/>
                </a:solidFill>
                <a:latin typeface="Cambria" pitchFamily="34" charset="0"/>
                <a:ea typeface="Cambria" pitchFamily="34" charset="-122"/>
                <a:cs typeface="Cambria" pitchFamily="34" charset="-120"/>
              </a:rPr>
              <a:t>Policy support</a:t>
            </a:r>
            <a:endParaRPr lang="en-US" sz="1700" dirty="0"/>
          </a:p>
        </p:txBody>
      </p:sp>
      <p:sp>
        <p:nvSpPr>
          <p:cNvPr id="18" name="Shape 16"/>
          <p:cNvSpPr/>
          <p:nvPr/>
        </p:nvSpPr>
        <p:spPr>
          <a:xfrm>
            <a:off x="2331720" y="2304288"/>
            <a:ext cx="2962656" cy="804672"/>
          </a:xfrm>
          <a:prstGeom prst="roundRect">
            <a:avLst>
              <a:gd name="adj" fmla="val 9091"/>
            </a:avLst>
          </a:prstGeom>
          <a:solidFill>
            <a:srgbClr val="FFFFFF"/>
          </a:solidFill>
          <a:ln w="12700">
            <a:solidFill>
              <a:srgbClr val="E7E4E6"/>
            </a:solidFill>
            <a:prstDash val="solid"/>
          </a:ln>
        </p:spPr>
      </p:sp>
      <p:sp>
        <p:nvSpPr>
          <p:cNvPr id="19" name="Text 17"/>
          <p:cNvSpPr txBox="1"/>
          <p:nvPr/>
        </p:nvSpPr>
        <p:spPr>
          <a:xfrm>
            <a:off x="2532888" y="2441448"/>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moves toward the ruling  →</a:t>
            </a:r>
            <a:endParaRPr lang="en-US" sz="1420" dirty="0"/>
          </a:p>
        </p:txBody>
      </p:sp>
      <p:sp>
        <p:nvSpPr>
          <p:cNvPr id="20" name="Shape 18"/>
          <p:cNvSpPr/>
          <p:nvPr/>
        </p:nvSpPr>
        <p:spPr>
          <a:xfrm>
            <a:off x="5431536" y="2304288"/>
            <a:ext cx="2962656" cy="804672"/>
          </a:xfrm>
          <a:prstGeom prst="roundRect">
            <a:avLst>
              <a:gd name="adj" fmla="val 9091"/>
            </a:avLst>
          </a:prstGeom>
          <a:solidFill>
            <a:srgbClr val="FFFFFF"/>
          </a:solidFill>
          <a:ln w="12700">
            <a:solidFill>
              <a:srgbClr val="E7E4E6"/>
            </a:solidFill>
            <a:prstDash val="solid"/>
          </a:ln>
        </p:spPr>
      </p:sp>
      <p:sp>
        <p:nvSpPr>
          <p:cNvPr id="21" name="Text 19"/>
          <p:cNvSpPr txBox="1"/>
          <p:nvPr/>
        </p:nvSpPr>
        <p:spPr>
          <a:xfrm>
            <a:off x="5632704" y="2441448"/>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supporters ↑  opponents ↓</a:t>
            </a:r>
            <a:endParaRPr lang="en-US" sz="1420" dirty="0"/>
          </a:p>
        </p:txBody>
      </p:sp>
      <p:sp>
        <p:nvSpPr>
          <p:cNvPr id="22" name="Shape 20"/>
          <p:cNvSpPr/>
          <p:nvPr/>
        </p:nvSpPr>
        <p:spPr>
          <a:xfrm>
            <a:off x="8531352" y="2304288"/>
            <a:ext cx="2962656" cy="804672"/>
          </a:xfrm>
          <a:prstGeom prst="roundRect">
            <a:avLst>
              <a:gd name="adj" fmla="val 9091"/>
            </a:avLst>
          </a:prstGeom>
          <a:solidFill>
            <a:srgbClr val="FFFFFF"/>
          </a:solidFill>
          <a:ln w="12700">
            <a:solidFill>
              <a:srgbClr val="E7E4E6"/>
            </a:solidFill>
            <a:prstDash val="solid"/>
          </a:ln>
        </p:spPr>
      </p:sp>
      <p:sp>
        <p:nvSpPr>
          <p:cNvPr id="23" name="Text 21"/>
          <p:cNvSpPr txBox="1"/>
          <p:nvPr/>
        </p:nvSpPr>
        <p:spPr>
          <a:xfrm>
            <a:off x="8732520" y="2441448"/>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left and right counter-react</a:t>
            </a:r>
            <a:endParaRPr lang="en-US" sz="1420" dirty="0"/>
          </a:p>
        </p:txBody>
      </p:sp>
      <p:sp>
        <p:nvSpPr>
          <p:cNvPr id="24" name="Shape 22"/>
          <p:cNvSpPr/>
          <p:nvPr/>
        </p:nvSpPr>
        <p:spPr>
          <a:xfrm>
            <a:off x="658368" y="3364992"/>
            <a:ext cx="1481328" cy="804672"/>
          </a:xfrm>
          <a:prstGeom prst="roundRect">
            <a:avLst>
              <a:gd name="adj" fmla="val 9091"/>
            </a:avLst>
          </a:prstGeom>
          <a:solidFill>
            <a:srgbClr val="F4F2F3"/>
          </a:solidFill>
          <a:ln w="12700">
            <a:solidFill>
              <a:srgbClr val="E7E4E6"/>
            </a:solidFill>
            <a:prstDash val="solid"/>
          </a:ln>
        </p:spPr>
      </p:sp>
      <p:sp>
        <p:nvSpPr>
          <p:cNvPr id="25" name="Text 23"/>
          <p:cNvSpPr txBox="1"/>
          <p:nvPr/>
        </p:nvSpPr>
        <p:spPr>
          <a:xfrm>
            <a:off x="804672" y="3547872"/>
            <a:ext cx="1188720" cy="365760"/>
          </a:xfrm>
          <a:prstGeom prst="rect">
            <a:avLst/>
          </a:prstGeom>
          <a:noFill/>
          <a:ln/>
        </p:spPr>
        <p:txBody>
          <a:bodyPr wrap="square" lIns="0" tIns="0" rIns="0" bIns="0" rtlCol="0" anchor="ctr">
            <a:normAutofit/>
          </a:bodyPr>
          <a:lstStyle/>
          <a:p>
            <a:pPr algn="ctr" indent="0" marL="0">
              <a:buNone/>
            </a:pPr>
            <a:r>
              <a:rPr lang="en-US" sz="1700" b="1" dirty="0">
                <a:solidFill>
                  <a:srgbClr val="242126"/>
                </a:solidFill>
                <a:latin typeface="Cambria" pitchFamily="34" charset="0"/>
                <a:ea typeface="Cambria" pitchFamily="34" charset="-122"/>
                <a:cs typeface="Cambria" pitchFamily="34" charset="-120"/>
              </a:rPr>
              <a:t>Anger</a:t>
            </a:r>
            <a:endParaRPr lang="en-US" sz="1700" dirty="0"/>
          </a:p>
        </p:txBody>
      </p:sp>
      <p:sp>
        <p:nvSpPr>
          <p:cNvPr id="26" name="Shape 24"/>
          <p:cNvSpPr/>
          <p:nvPr/>
        </p:nvSpPr>
        <p:spPr>
          <a:xfrm>
            <a:off x="2331720" y="3364992"/>
            <a:ext cx="2962656" cy="804672"/>
          </a:xfrm>
          <a:prstGeom prst="roundRect">
            <a:avLst>
              <a:gd name="adj" fmla="val 9091"/>
            </a:avLst>
          </a:prstGeom>
          <a:solidFill>
            <a:srgbClr val="FFFFFF"/>
          </a:solidFill>
          <a:ln w="12700">
            <a:solidFill>
              <a:srgbClr val="E7E4E6"/>
            </a:solidFill>
            <a:prstDash val="solid"/>
          </a:ln>
        </p:spPr>
      </p:sp>
      <p:sp>
        <p:nvSpPr>
          <p:cNvPr id="27" name="Text 25"/>
          <p:cNvSpPr txBox="1"/>
          <p:nvPr/>
        </p:nvSpPr>
        <p:spPr>
          <a:xfrm>
            <a:off x="2532888" y="3502152"/>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falls—especially among opponents  ↓</a:t>
            </a:r>
            <a:endParaRPr lang="en-US" sz="1420" dirty="0"/>
          </a:p>
        </p:txBody>
      </p:sp>
      <p:sp>
        <p:nvSpPr>
          <p:cNvPr id="28" name="Shape 26"/>
          <p:cNvSpPr/>
          <p:nvPr/>
        </p:nvSpPr>
        <p:spPr>
          <a:xfrm>
            <a:off x="5431536" y="3364992"/>
            <a:ext cx="2962656" cy="804672"/>
          </a:xfrm>
          <a:prstGeom prst="roundRect">
            <a:avLst>
              <a:gd name="adj" fmla="val 9091"/>
            </a:avLst>
          </a:prstGeom>
          <a:solidFill>
            <a:srgbClr val="FFFFFF"/>
          </a:solidFill>
          <a:ln w="12700">
            <a:solidFill>
              <a:srgbClr val="E7E4E6"/>
            </a:solidFill>
            <a:prstDash val="solid"/>
          </a:ln>
        </p:spPr>
      </p:sp>
      <p:sp>
        <p:nvSpPr>
          <p:cNvPr id="29" name="Text 27"/>
          <p:cNvSpPr txBox="1"/>
          <p:nvPr/>
        </p:nvSpPr>
        <p:spPr>
          <a:xfrm>
            <a:off x="5632704" y="3502152"/>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opponents ↑  supporters ↓</a:t>
            </a:r>
            <a:endParaRPr lang="en-US" sz="1420" dirty="0"/>
          </a:p>
        </p:txBody>
      </p:sp>
      <p:sp>
        <p:nvSpPr>
          <p:cNvPr id="30" name="Shape 28"/>
          <p:cNvSpPr/>
          <p:nvPr/>
        </p:nvSpPr>
        <p:spPr>
          <a:xfrm>
            <a:off x="8531352" y="3364992"/>
            <a:ext cx="2962656" cy="804672"/>
          </a:xfrm>
          <a:prstGeom prst="roundRect">
            <a:avLst>
              <a:gd name="adj" fmla="val 9091"/>
            </a:avLst>
          </a:prstGeom>
          <a:solidFill>
            <a:srgbClr val="FFFFFF"/>
          </a:solidFill>
          <a:ln w="12700">
            <a:solidFill>
              <a:srgbClr val="E7E4E6"/>
            </a:solidFill>
            <a:prstDash val="solid"/>
          </a:ln>
        </p:spPr>
      </p:sp>
      <p:sp>
        <p:nvSpPr>
          <p:cNvPr id="31" name="Text 29"/>
          <p:cNvSpPr txBox="1"/>
          <p:nvPr/>
        </p:nvSpPr>
        <p:spPr>
          <a:xfrm>
            <a:off x="8732520" y="3502152"/>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rises at ideological extremes  ↑</a:t>
            </a:r>
            <a:endParaRPr lang="en-US" sz="1420" dirty="0"/>
          </a:p>
        </p:txBody>
      </p:sp>
      <p:sp>
        <p:nvSpPr>
          <p:cNvPr id="32" name="Shape 30"/>
          <p:cNvSpPr/>
          <p:nvPr/>
        </p:nvSpPr>
        <p:spPr>
          <a:xfrm>
            <a:off x="658368" y="4425696"/>
            <a:ext cx="1481328" cy="804672"/>
          </a:xfrm>
          <a:prstGeom prst="roundRect">
            <a:avLst>
              <a:gd name="adj" fmla="val 9091"/>
            </a:avLst>
          </a:prstGeom>
          <a:solidFill>
            <a:srgbClr val="F4F2F3"/>
          </a:solidFill>
          <a:ln w="12700">
            <a:solidFill>
              <a:srgbClr val="E7E4E6"/>
            </a:solidFill>
            <a:prstDash val="solid"/>
          </a:ln>
        </p:spPr>
      </p:sp>
      <p:sp>
        <p:nvSpPr>
          <p:cNvPr id="33" name="Text 31"/>
          <p:cNvSpPr txBox="1"/>
          <p:nvPr/>
        </p:nvSpPr>
        <p:spPr>
          <a:xfrm>
            <a:off x="804672" y="4608576"/>
            <a:ext cx="1188720" cy="365760"/>
          </a:xfrm>
          <a:prstGeom prst="rect">
            <a:avLst/>
          </a:prstGeom>
          <a:noFill/>
          <a:ln/>
        </p:spPr>
        <p:txBody>
          <a:bodyPr wrap="square" lIns="0" tIns="0" rIns="0" bIns="0" rtlCol="0" anchor="ctr">
            <a:normAutofit/>
          </a:bodyPr>
          <a:lstStyle/>
          <a:p>
            <a:pPr algn="ctr" indent="0" marL="0">
              <a:buNone/>
            </a:pPr>
            <a:r>
              <a:rPr lang="en-US" sz="1700" b="1" dirty="0">
                <a:solidFill>
                  <a:srgbClr val="242126"/>
                </a:solidFill>
                <a:latin typeface="Cambria" pitchFamily="34" charset="0"/>
                <a:ea typeface="Cambria" pitchFamily="34" charset="-122"/>
                <a:cs typeface="Cambria" pitchFamily="34" charset="-120"/>
              </a:rPr>
              <a:t>Intensity</a:t>
            </a:r>
            <a:endParaRPr lang="en-US" sz="1700" dirty="0"/>
          </a:p>
        </p:txBody>
      </p:sp>
      <p:sp>
        <p:nvSpPr>
          <p:cNvPr id="34" name="Shape 32"/>
          <p:cNvSpPr/>
          <p:nvPr/>
        </p:nvSpPr>
        <p:spPr>
          <a:xfrm>
            <a:off x="2331720" y="4425696"/>
            <a:ext cx="2962656" cy="804672"/>
          </a:xfrm>
          <a:prstGeom prst="roundRect">
            <a:avLst>
              <a:gd name="adj" fmla="val 9091"/>
            </a:avLst>
          </a:prstGeom>
          <a:solidFill>
            <a:srgbClr val="FFFFFF"/>
          </a:solidFill>
          <a:ln w="12700">
            <a:solidFill>
              <a:srgbClr val="E7E4E6"/>
            </a:solidFill>
            <a:prstDash val="solid"/>
          </a:ln>
        </p:spPr>
      </p:sp>
      <p:sp>
        <p:nvSpPr>
          <p:cNvPr id="35" name="Text 33"/>
          <p:cNvSpPr txBox="1"/>
          <p:nvPr/>
        </p:nvSpPr>
        <p:spPr>
          <a:xfrm>
            <a:off x="2532888" y="4562856"/>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likely falls  ↓</a:t>
            </a:r>
            <a:endParaRPr lang="en-US" sz="1420" dirty="0"/>
          </a:p>
        </p:txBody>
      </p:sp>
      <p:sp>
        <p:nvSpPr>
          <p:cNvPr id="36" name="Shape 34"/>
          <p:cNvSpPr/>
          <p:nvPr/>
        </p:nvSpPr>
        <p:spPr>
          <a:xfrm>
            <a:off x="5431536" y="4425696"/>
            <a:ext cx="2962656" cy="804672"/>
          </a:xfrm>
          <a:prstGeom prst="roundRect">
            <a:avLst>
              <a:gd name="adj" fmla="val 9091"/>
            </a:avLst>
          </a:prstGeom>
          <a:solidFill>
            <a:srgbClr val="FFFFFF"/>
          </a:solidFill>
          <a:ln w="12700">
            <a:solidFill>
              <a:srgbClr val="E7E4E6"/>
            </a:solidFill>
            <a:prstDash val="solid"/>
          </a:ln>
        </p:spPr>
      </p:sp>
      <p:sp>
        <p:nvSpPr>
          <p:cNvPr id="37" name="Text 35"/>
          <p:cNvSpPr txBox="1"/>
          <p:nvPr/>
        </p:nvSpPr>
        <p:spPr>
          <a:xfrm>
            <a:off x="5632704" y="4562856"/>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may rise on both sides  ↑</a:t>
            </a:r>
            <a:endParaRPr lang="en-US" sz="1420" dirty="0"/>
          </a:p>
        </p:txBody>
      </p:sp>
      <p:sp>
        <p:nvSpPr>
          <p:cNvPr id="38" name="Shape 36"/>
          <p:cNvSpPr/>
          <p:nvPr/>
        </p:nvSpPr>
        <p:spPr>
          <a:xfrm>
            <a:off x="8531352" y="4425696"/>
            <a:ext cx="2962656" cy="804672"/>
          </a:xfrm>
          <a:prstGeom prst="roundRect">
            <a:avLst>
              <a:gd name="adj" fmla="val 9091"/>
            </a:avLst>
          </a:prstGeom>
          <a:solidFill>
            <a:srgbClr val="FFFFFF"/>
          </a:solidFill>
          <a:ln w="12700">
            <a:solidFill>
              <a:srgbClr val="E7E4E6"/>
            </a:solidFill>
            <a:prstDash val="solid"/>
          </a:ln>
        </p:spPr>
      </p:sp>
      <p:sp>
        <p:nvSpPr>
          <p:cNvPr id="39" name="Text 37"/>
          <p:cNvSpPr txBox="1"/>
          <p:nvPr/>
        </p:nvSpPr>
        <p:spPr>
          <a:xfrm>
            <a:off x="8732520" y="4562856"/>
            <a:ext cx="2560320" cy="493776"/>
          </a:xfrm>
          <a:prstGeom prst="rect">
            <a:avLst/>
          </a:prstGeom>
          <a:noFill/>
          <a:ln/>
        </p:spPr>
        <p:txBody>
          <a:bodyPr wrap="square" lIns="0" tIns="0" rIns="0" bIns="0" rtlCol="0" anchor="ctr">
            <a:normAutofit/>
          </a:bodyPr>
          <a:lstStyle/>
          <a:p>
            <a:pPr algn="ctr" indent="0" marL="0">
              <a:buNone/>
            </a:pPr>
            <a:r>
              <a:rPr lang="en-US" sz="1420" dirty="0">
                <a:solidFill>
                  <a:srgbClr val="405466"/>
                </a:solidFill>
                <a:latin typeface="Arial" pitchFamily="34" charset="0"/>
                <a:ea typeface="Arial" pitchFamily="34" charset="-122"/>
                <a:cs typeface="Arial" pitchFamily="34" charset="-120"/>
              </a:rPr>
              <a:t>rises with counter-demand  ↑</a:t>
            </a:r>
            <a:endParaRPr lang="en-US" sz="1420" dirty="0"/>
          </a:p>
        </p:txBody>
      </p:sp>
      <p:sp>
        <p:nvSpPr>
          <p:cNvPr id="40" name="Shape 38"/>
          <p:cNvSpPr/>
          <p:nvPr/>
        </p:nvSpPr>
        <p:spPr>
          <a:xfrm>
            <a:off x="694944" y="5696712"/>
            <a:ext cx="1005840" cy="310896"/>
          </a:xfrm>
          <a:prstGeom prst="roundRect">
            <a:avLst>
              <a:gd name="adj" fmla="val 44118"/>
            </a:avLst>
          </a:prstGeom>
          <a:solidFill>
            <a:srgbClr val="571D2B"/>
          </a:solidFill>
          <a:ln w="12700">
            <a:solidFill>
              <a:srgbClr val="571D2B"/>
            </a:solidFill>
            <a:prstDash val="solid"/>
          </a:ln>
        </p:spPr>
      </p:sp>
      <p:sp>
        <p:nvSpPr>
          <p:cNvPr id="41" name="Text 39"/>
          <p:cNvSpPr txBox="1"/>
          <p:nvPr/>
        </p:nvSpPr>
        <p:spPr>
          <a:xfrm>
            <a:off x="768096" y="5705856"/>
            <a:ext cx="859536"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KEY TEST</a:t>
            </a:r>
            <a:endParaRPr lang="en-US" sz="1100" dirty="0"/>
          </a:p>
        </p:txBody>
      </p:sp>
      <p:sp>
        <p:nvSpPr>
          <p:cNvPr id="42" name="Text 40"/>
          <p:cNvSpPr txBox="1"/>
          <p:nvPr/>
        </p:nvSpPr>
        <p:spPr>
          <a:xfrm>
            <a:off x="1856232" y="5678424"/>
            <a:ext cx="9217152" cy="347472"/>
          </a:xfrm>
          <a:prstGeom prst="rect">
            <a:avLst/>
          </a:prstGeom>
          <a:noFill/>
          <a:ln/>
        </p:spPr>
        <p:txBody>
          <a:bodyPr wrap="square" lIns="0" tIns="0" rIns="0" bIns="0" rtlCol="0" anchor="ctr">
            <a:normAutofit/>
          </a:bodyPr>
          <a:lstStyle/>
          <a:p>
            <a:pPr algn="l" indent="0" marL="0">
              <a:buNone/>
            </a:pPr>
            <a:r>
              <a:rPr lang="en-US" sz="1900" b="1" dirty="0">
                <a:solidFill>
                  <a:srgbClr val="571D2B"/>
                </a:solidFill>
                <a:latin typeface="Arial" pitchFamily="34" charset="0"/>
                <a:ea typeface="Arial" pitchFamily="34" charset="-122"/>
                <a:cs typeface="Arial" pitchFamily="34" charset="-120"/>
              </a:rPr>
              <a:t>Does institutional authority soften opposition—or sort people into more opposed camps?</a:t>
            </a:r>
            <a:endParaRPr lang="en-US" sz="1900" dirty="0"/>
          </a:p>
        </p:txBody>
      </p:sp>
      <p:sp>
        <p:nvSpPr>
          <p:cNvPr id="43" name="Text 41"/>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Theories synthesized from Dahl; Gibson and Caldeira; Franklin and Kosaki; Ura; Wlezien.</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RESEARCH DESIGN</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A sharp legal event inside a high-frequency stream of speech</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Text 4"/>
          <p:cNvSpPr txBox="1"/>
          <p:nvPr/>
        </p:nvSpPr>
        <p:spPr>
          <a:xfrm>
            <a:off x="804672" y="1389888"/>
            <a:ext cx="1143000" cy="237744"/>
          </a:xfrm>
          <a:prstGeom prst="rect">
            <a:avLst/>
          </a:prstGeom>
          <a:noFill/>
          <a:ln/>
        </p:spPr>
        <p:txBody>
          <a:bodyPr wrap="square" lIns="0" tIns="0" rIns="0" bIns="0" rtlCol="0" anchor="ctr">
            <a:normAutofit/>
          </a:bodyPr>
          <a:lstStyle/>
          <a:p>
            <a:pPr algn="ctr" indent="0" marL="0">
              <a:buNone/>
            </a:pPr>
            <a:r>
              <a:rPr lang="en-US" sz="1050" b="1" dirty="0">
                <a:solidFill>
                  <a:srgbClr val="6F686D"/>
                </a:solidFill>
                <a:latin typeface="Arial" pitchFamily="34" charset="0"/>
                <a:ea typeface="Arial" pitchFamily="34" charset="-122"/>
                <a:cs typeface="Arial" pitchFamily="34" charset="-120"/>
              </a:rPr>
              <a:t>MARCH 26</a:t>
            </a:r>
            <a:endParaRPr lang="en-US" sz="1050" dirty="0"/>
          </a:p>
        </p:txBody>
      </p:sp>
      <p:sp>
        <p:nvSpPr>
          <p:cNvPr id="7" name="Text 5"/>
          <p:cNvSpPr txBox="1"/>
          <p:nvPr/>
        </p:nvSpPr>
        <p:spPr>
          <a:xfrm>
            <a:off x="5468112" y="1389888"/>
            <a:ext cx="1143000" cy="237744"/>
          </a:xfrm>
          <a:prstGeom prst="rect">
            <a:avLst/>
          </a:prstGeom>
          <a:noFill/>
          <a:ln/>
        </p:spPr>
        <p:txBody>
          <a:bodyPr wrap="square" lIns="0" tIns="0" rIns="0" bIns="0" rtlCol="0" anchor="ctr">
            <a:normAutofit/>
          </a:bodyPr>
          <a:lstStyle/>
          <a:p>
            <a:pPr algn="ctr" indent="0" marL="0">
              <a:buNone/>
            </a:pPr>
            <a:r>
              <a:rPr lang="en-US" sz="1050" b="1" dirty="0">
                <a:solidFill>
                  <a:srgbClr val="772D3D"/>
                </a:solidFill>
                <a:latin typeface="Arial" pitchFamily="34" charset="0"/>
                <a:ea typeface="Arial" pitchFamily="34" charset="-122"/>
                <a:cs typeface="Arial" pitchFamily="34" charset="-120"/>
              </a:rPr>
              <a:t>JUNE 26</a:t>
            </a:r>
            <a:endParaRPr lang="en-US" sz="1050" dirty="0"/>
          </a:p>
        </p:txBody>
      </p:sp>
      <p:sp>
        <p:nvSpPr>
          <p:cNvPr id="8" name="Text 6"/>
          <p:cNvSpPr txBox="1"/>
          <p:nvPr/>
        </p:nvSpPr>
        <p:spPr>
          <a:xfrm>
            <a:off x="10012680" y="1389888"/>
            <a:ext cx="1143000" cy="237744"/>
          </a:xfrm>
          <a:prstGeom prst="rect">
            <a:avLst/>
          </a:prstGeom>
          <a:noFill/>
          <a:ln/>
        </p:spPr>
        <p:txBody>
          <a:bodyPr wrap="square" lIns="0" tIns="0" rIns="0" bIns="0" rtlCol="0" anchor="ctr">
            <a:normAutofit/>
          </a:bodyPr>
          <a:lstStyle/>
          <a:p>
            <a:pPr algn="ctr" indent="0" marL="0">
              <a:buNone/>
            </a:pPr>
            <a:r>
              <a:rPr lang="en-US" sz="1050" b="1" dirty="0">
                <a:solidFill>
                  <a:srgbClr val="6F686D"/>
                </a:solidFill>
                <a:latin typeface="Arial" pitchFamily="34" charset="0"/>
                <a:ea typeface="Arial" pitchFamily="34" charset="-122"/>
                <a:cs typeface="Arial" pitchFamily="34" charset="-120"/>
              </a:rPr>
              <a:t>AUGUST 10</a:t>
            </a:r>
            <a:endParaRPr lang="en-US" sz="1050" dirty="0"/>
          </a:p>
        </p:txBody>
      </p:sp>
      <p:sp>
        <p:nvSpPr>
          <p:cNvPr id="9" name="Shape 7"/>
          <p:cNvSpPr/>
          <p:nvPr/>
        </p:nvSpPr>
        <p:spPr>
          <a:xfrm>
            <a:off x="1371600" y="1984248"/>
            <a:ext cx="9235440" cy="0"/>
          </a:xfrm>
          <a:prstGeom prst="line">
            <a:avLst/>
          </a:prstGeom>
          <a:noFill/>
          <a:ln w="50800">
            <a:solidFill>
              <a:srgbClr val="E7E4E6"/>
            </a:solidFill>
            <a:prstDash val="solid"/>
            <a:tailEnd type="none"/>
          </a:ln>
        </p:spPr>
      </p:sp>
      <p:sp>
        <p:nvSpPr>
          <p:cNvPr id="10" name="Shape 8"/>
          <p:cNvSpPr/>
          <p:nvPr/>
        </p:nvSpPr>
        <p:spPr>
          <a:xfrm>
            <a:off x="1298448" y="1828800"/>
            <a:ext cx="310896" cy="310896"/>
          </a:xfrm>
          <a:prstGeom prst="ellipse">
            <a:avLst/>
          </a:prstGeom>
          <a:solidFill>
            <a:srgbClr val="405466"/>
          </a:solidFill>
          <a:ln w="12700">
            <a:solidFill>
              <a:srgbClr val="FFFFFF">
                <a:alpha val="0"/>
              </a:srgbClr>
            </a:solidFill>
            <a:prstDash val="solid"/>
          </a:ln>
        </p:spPr>
      </p:sp>
      <p:sp>
        <p:nvSpPr>
          <p:cNvPr id="11" name="Shape 9"/>
          <p:cNvSpPr/>
          <p:nvPr/>
        </p:nvSpPr>
        <p:spPr>
          <a:xfrm>
            <a:off x="5870448" y="1746504"/>
            <a:ext cx="475488" cy="475488"/>
          </a:xfrm>
          <a:prstGeom prst="ellipse">
            <a:avLst/>
          </a:prstGeom>
          <a:solidFill>
            <a:srgbClr val="571D2B"/>
          </a:solidFill>
          <a:ln w="12700">
            <a:solidFill>
              <a:srgbClr val="FFFFFF"/>
            </a:solidFill>
            <a:prstDash val="solid"/>
          </a:ln>
        </p:spPr>
      </p:sp>
      <p:sp>
        <p:nvSpPr>
          <p:cNvPr id="12" name="Shape 10"/>
          <p:cNvSpPr/>
          <p:nvPr/>
        </p:nvSpPr>
        <p:spPr>
          <a:xfrm>
            <a:off x="10442448" y="1828800"/>
            <a:ext cx="310896" cy="310896"/>
          </a:xfrm>
          <a:prstGeom prst="ellipse">
            <a:avLst/>
          </a:prstGeom>
          <a:solidFill>
            <a:srgbClr val="405466"/>
          </a:solidFill>
          <a:ln w="12700">
            <a:solidFill>
              <a:srgbClr val="FFFFFF">
                <a:alpha val="0"/>
              </a:srgbClr>
            </a:solidFill>
            <a:prstDash val="solid"/>
          </a:ln>
        </p:spPr>
      </p:sp>
      <p:sp>
        <p:nvSpPr>
          <p:cNvPr id="13" name="Text 11"/>
          <p:cNvSpPr txBox="1"/>
          <p:nvPr/>
        </p:nvSpPr>
        <p:spPr>
          <a:xfrm>
            <a:off x="1810512" y="1773936"/>
            <a:ext cx="3429000" cy="347472"/>
          </a:xfrm>
          <a:prstGeom prst="rect">
            <a:avLst/>
          </a:prstGeom>
          <a:noFill/>
          <a:ln/>
        </p:spPr>
        <p:txBody>
          <a:bodyPr wrap="square" lIns="0" tIns="0" rIns="0" bIns="0" rtlCol="0" anchor="ctr">
            <a:normAutofit/>
          </a:bodyPr>
          <a:lstStyle/>
          <a:p>
            <a:pPr algn="ctr" indent="0" marL="0">
              <a:buNone/>
            </a:pPr>
            <a:r>
              <a:rPr lang="en-US" sz="1600" dirty="0">
                <a:solidFill>
                  <a:srgbClr val="405466"/>
                </a:solidFill>
                <a:latin typeface="Arial" pitchFamily="34" charset="0"/>
                <a:ea typeface="Arial" pitchFamily="34" charset="-122"/>
                <a:cs typeface="Arial" pitchFamily="34" charset="-120"/>
              </a:rPr>
              <a:t>Observation window</a:t>
            </a:r>
            <a:endParaRPr lang="en-US" sz="1600" dirty="0"/>
          </a:p>
        </p:txBody>
      </p:sp>
      <p:sp>
        <p:nvSpPr>
          <p:cNvPr id="14" name="Text 12"/>
          <p:cNvSpPr txBox="1"/>
          <p:nvPr/>
        </p:nvSpPr>
        <p:spPr>
          <a:xfrm>
            <a:off x="5221224" y="2331720"/>
            <a:ext cx="1783080" cy="329184"/>
          </a:xfrm>
          <a:prstGeom prst="rect">
            <a:avLst/>
          </a:prstGeom>
          <a:noFill/>
          <a:ln/>
        </p:spPr>
        <p:txBody>
          <a:bodyPr wrap="square" lIns="0" tIns="0" rIns="0" bIns="0" rtlCol="0" anchor="ctr">
            <a:normAutofit/>
          </a:bodyPr>
          <a:lstStyle/>
          <a:p>
            <a:pPr algn="ctr" indent="0" marL="0">
              <a:buNone/>
            </a:pPr>
            <a:r>
              <a:rPr lang="en-US" sz="1700" b="1" dirty="0">
                <a:solidFill>
                  <a:srgbClr val="571D2B"/>
                </a:solidFill>
                <a:latin typeface="Cambria" pitchFamily="34" charset="0"/>
                <a:ea typeface="Cambria" pitchFamily="34" charset="-122"/>
                <a:cs typeface="Cambria" pitchFamily="34" charset="-120"/>
              </a:rPr>
              <a:t>Windsor + Perry</a:t>
            </a:r>
            <a:endParaRPr lang="en-US" sz="1700" dirty="0"/>
          </a:p>
        </p:txBody>
      </p:sp>
      <p:sp>
        <p:nvSpPr>
          <p:cNvPr id="15" name="Text 13"/>
          <p:cNvSpPr txBox="1"/>
          <p:nvPr/>
        </p:nvSpPr>
        <p:spPr>
          <a:xfrm>
            <a:off x="6967728" y="1773936"/>
            <a:ext cx="3063240" cy="347472"/>
          </a:xfrm>
          <a:prstGeom prst="rect">
            <a:avLst/>
          </a:prstGeom>
          <a:noFill/>
          <a:ln/>
        </p:spPr>
        <p:txBody>
          <a:bodyPr wrap="square" lIns="0" tIns="0" rIns="0" bIns="0" rtlCol="0" anchor="ctr">
            <a:normAutofit/>
          </a:bodyPr>
          <a:lstStyle/>
          <a:p>
            <a:pPr algn="ctr" indent="0" marL="0">
              <a:buNone/>
            </a:pPr>
            <a:r>
              <a:rPr lang="en-US" sz="1600" dirty="0">
                <a:solidFill>
                  <a:srgbClr val="405466"/>
                </a:solidFill>
                <a:latin typeface="Arial" pitchFamily="34" charset="0"/>
                <a:ea typeface="Arial" pitchFamily="34" charset="-122"/>
                <a:cs typeface="Arial" pitchFamily="34" charset="-120"/>
              </a:rPr>
              <a:t>Observation window</a:t>
            </a:r>
            <a:endParaRPr lang="en-US" sz="1600" dirty="0"/>
          </a:p>
        </p:txBody>
      </p:sp>
      <p:sp>
        <p:nvSpPr>
          <p:cNvPr id="16" name="Shape 14"/>
          <p:cNvSpPr/>
          <p:nvPr/>
        </p:nvSpPr>
        <p:spPr>
          <a:xfrm>
            <a:off x="768096" y="3072384"/>
            <a:ext cx="2487168" cy="1554480"/>
          </a:xfrm>
          <a:prstGeom prst="roundRect">
            <a:avLst>
              <a:gd name="adj" fmla="val 4706"/>
            </a:avLst>
          </a:prstGeom>
          <a:solidFill>
            <a:srgbClr val="F4F2F3"/>
          </a:solidFill>
          <a:ln w="12700">
            <a:solidFill>
              <a:srgbClr val="E7E4E6"/>
            </a:solidFill>
            <a:prstDash val="solid"/>
          </a:ln>
        </p:spPr>
      </p:sp>
      <p:sp>
        <p:nvSpPr>
          <p:cNvPr id="17" name="Text 15"/>
          <p:cNvSpPr txBox="1"/>
          <p:nvPr/>
        </p:nvSpPr>
        <p:spPr>
          <a:xfrm>
            <a:off x="960120" y="3300984"/>
            <a:ext cx="2103120" cy="585216"/>
          </a:xfrm>
          <a:prstGeom prst="rect">
            <a:avLst/>
          </a:prstGeom>
          <a:noFill/>
          <a:ln/>
        </p:spPr>
        <p:txBody>
          <a:bodyPr wrap="square" lIns="0" tIns="0" rIns="0" bIns="0" rtlCol="0" anchor="ctr">
            <a:normAutofit/>
          </a:bodyPr>
          <a:lstStyle/>
          <a:p>
            <a:pPr algn="ctr" indent="0" marL="0">
              <a:buNone/>
            </a:pPr>
            <a:r>
              <a:rPr lang="en-US" sz="3500" b="1" dirty="0">
                <a:solidFill>
                  <a:srgbClr val="571D2B"/>
                </a:solidFill>
                <a:latin typeface="Cambria" pitchFamily="34" charset="0"/>
                <a:ea typeface="Cambria" pitchFamily="34" charset="-122"/>
                <a:cs typeface="Cambria" pitchFamily="34" charset="-120"/>
              </a:rPr>
              <a:t>2.5M+</a:t>
            </a:r>
            <a:endParaRPr lang="en-US" sz="3500" dirty="0"/>
          </a:p>
        </p:txBody>
      </p:sp>
      <p:sp>
        <p:nvSpPr>
          <p:cNvPr id="18" name="Text 16"/>
          <p:cNvSpPr txBox="1"/>
          <p:nvPr/>
        </p:nvSpPr>
        <p:spPr>
          <a:xfrm>
            <a:off x="1033272" y="3858768"/>
            <a:ext cx="1956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same-sex-marriage tweets</a:t>
            </a:r>
            <a:endParaRPr lang="en-US" sz="1200" dirty="0"/>
          </a:p>
        </p:txBody>
      </p:sp>
      <p:sp>
        <p:nvSpPr>
          <p:cNvPr id="19" name="Shape 17"/>
          <p:cNvSpPr/>
          <p:nvPr/>
        </p:nvSpPr>
        <p:spPr>
          <a:xfrm>
            <a:off x="3520440" y="3072384"/>
            <a:ext cx="2487168" cy="1554480"/>
          </a:xfrm>
          <a:prstGeom prst="roundRect">
            <a:avLst>
              <a:gd name="adj" fmla="val 4706"/>
            </a:avLst>
          </a:prstGeom>
          <a:solidFill>
            <a:srgbClr val="F8E1E1"/>
          </a:solidFill>
          <a:ln w="12700">
            <a:solidFill>
              <a:srgbClr val="D65F5F"/>
            </a:solidFill>
            <a:prstDash val="solid"/>
          </a:ln>
        </p:spPr>
      </p:sp>
      <p:sp>
        <p:nvSpPr>
          <p:cNvPr id="20" name="Text 18"/>
          <p:cNvSpPr txBox="1"/>
          <p:nvPr/>
        </p:nvSpPr>
        <p:spPr>
          <a:xfrm>
            <a:off x="3712464" y="3300984"/>
            <a:ext cx="2103120" cy="585216"/>
          </a:xfrm>
          <a:prstGeom prst="rect">
            <a:avLst/>
          </a:prstGeom>
          <a:noFill/>
          <a:ln/>
        </p:spPr>
        <p:txBody>
          <a:bodyPr wrap="square" lIns="0" tIns="0" rIns="0" bIns="0" rtlCol="0" anchor="ctr">
            <a:normAutofit/>
          </a:bodyPr>
          <a:lstStyle/>
          <a:p>
            <a:pPr algn="ctr" indent="0" marL="0">
              <a:buNone/>
            </a:pPr>
            <a:r>
              <a:rPr lang="en-US" sz="3500" b="1" dirty="0">
                <a:solidFill>
                  <a:srgbClr val="D65F5F"/>
                </a:solidFill>
                <a:latin typeface="Cambria" pitchFamily="34" charset="0"/>
                <a:ea typeface="Cambria" pitchFamily="34" charset="-122"/>
                <a:cs typeface="Cambria" pitchFamily="34" charset="-120"/>
              </a:rPr>
              <a:t>335,399</a:t>
            </a:r>
            <a:endParaRPr lang="en-US" sz="3500" dirty="0"/>
          </a:p>
        </p:txBody>
      </p:sp>
      <p:sp>
        <p:nvSpPr>
          <p:cNvPr id="21" name="Text 19"/>
          <p:cNvSpPr txBox="1"/>
          <p:nvPr/>
        </p:nvSpPr>
        <p:spPr>
          <a:xfrm>
            <a:off x="3785616" y="3858768"/>
            <a:ext cx="1956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tweets on decision day</a:t>
            </a:r>
            <a:endParaRPr lang="en-US" sz="1200" dirty="0"/>
          </a:p>
        </p:txBody>
      </p:sp>
      <p:sp>
        <p:nvSpPr>
          <p:cNvPr id="22" name="Shape 20"/>
          <p:cNvSpPr/>
          <p:nvPr/>
        </p:nvSpPr>
        <p:spPr>
          <a:xfrm>
            <a:off x="6272784" y="3072384"/>
            <a:ext cx="2487168" cy="1554480"/>
          </a:xfrm>
          <a:prstGeom prst="roundRect">
            <a:avLst>
              <a:gd name="adj" fmla="val 4706"/>
            </a:avLst>
          </a:prstGeom>
          <a:solidFill>
            <a:srgbClr val="DCEFEB"/>
          </a:solidFill>
          <a:ln w="12700">
            <a:solidFill>
              <a:srgbClr val="2A8C82"/>
            </a:solidFill>
            <a:prstDash val="solid"/>
          </a:ln>
        </p:spPr>
      </p:sp>
      <p:sp>
        <p:nvSpPr>
          <p:cNvPr id="23" name="Text 21"/>
          <p:cNvSpPr txBox="1"/>
          <p:nvPr/>
        </p:nvSpPr>
        <p:spPr>
          <a:xfrm>
            <a:off x="6464808" y="3300984"/>
            <a:ext cx="2103120" cy="585216"/>
          </a:xfrm>
          <a:prstGeom prst="rect">
            <a:avLst/>
          </a:prstGeom>
          <a:noFill/>
          <a:ln/>
        </p:spPr>
        <p:txBody>
          <a:bodyPr wrap="square" lIns="0" tIns="0" rIns="0" bIns="0" rtlCol="0" anchor="ctr">
            <a:normAutofit/>
          </a:bodyPr>
          <a:lstStyle/>
          <a:p>
            <a:pPr algn="ctr" indent="0" marL="0">
              <a:buNone/>
            </a:pPr>
            <a:r>
              <a:rPr lang="en-US" sz="3500" b="1" dirty="0">
                <a:solidFill>
                  <a:srgbClr val="2A8C82"/>
                </a:solidFill>
                <a:latin typeface="Cambria" pitchFamily="34" charset="0"/>
                <a:ea typeface="Cambria" pitchFamily="34" charset="-122"/>
                <a:cs typeface="Cambria" pitchFamily="34" charset="-120"/>
              </a:rPr>
              <a:t>≈700</a:t>
            </a:r>
            <a:endParaRPr lang="en-US" sz="3500" dirty="0"/>
          </a:p>
        </p:txBody>
      </p:sp>
      <p:sp>
        <p:nvSpPr>
          <p:cNvPr id="24" name="Text 22"/>
          <p:cNvSpPr txBox="1"/>
          <p:nvPr/>
        </p:nvSpPr>
        <p:spPr>
          <a:xfrm>
            <a:off x="6537960" y="3858768"/>
            <a:ext cx="1956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frequent accounts in panel</a:t>
            </a:r>
            <a:endParaRPr lang="en-US" sz="1200" dirty="0"/>
          </a:p>
        </p:txBody>
      </p:sp>
      <p:sp>
        <p:nvSpPr>
          <p:cNvPr id="25" name="Shape 23"/>
          <p:cNvSpPr/>
          <p:nvPr/>
        </p:nvSpPr>
        <p:spPr>
          <a:xfrm>
            <a:off x="9025128" y="3072384"/>
            <a:ext cx="2487168" cy="1554480"/>
          </a:xfrm>
          <a:prstGeom prst="roundRect">
            <a:avLst>
              <a:gd name="adj" fmla="val 4706"/>
            </a:avLst>
          </a:prstGeom>
          <a:solidFill>
            <a:srgbClr val="F7EDCF"/>
          </a:solidFill>
          <a:ln w="12700">
            <a:solidFill>
              <a:srgbClr val="D7A62A"/>
            </a:solidFill>
            <a:prstDash val="solid"/>
          </a:ln>
        </p:spPr>
      </p:sp>
      <p:sp>
        <p:nvSpPr>
          <p:cNvPr id="26" name="Text 24"/>
          <p:cNvSpPr txBox="1"/>
          <p:nvPr/>
        </p:nvSpPr>
        <p:spPr>
          <a:xfrm>
            <a:off x="9217152" y="3300984"/>
            <a:ext cx="2103120" cy="585216"/>
          </a:xfrm>
          <a:prstGeom prst="rect">
            <a:avLst/>
          </a:prstGeom>
          <a:noFill/>
          <a:ln/>
        </p:spPr>
        <p:txBody>
          <a:bodyPr wrap="square" lIns="0" tIns="0" rIns="0" bIns="0" rtlCol="0" anchor="ctr">
            <a:normAutofit/>
          </a:bodyPr>
          <a:lstStyle/>
          <a:p>
            <a:pPr algn="ctr" indent="0" marL="0">
              <a:buNone/>
            </a:pPr>
            <a:r>
              <a:rPr lang="en-US" sz="3500" b="1" dirty="0">
                <a:solidFill>
                  <a:srgbClr val="D7A62A"/>
                </a:solidFill>
                <a:latin typeface="Cambria" pitchFamily="34" charset="0"/>
                <a:ea typeface="Cambria" pitchFamily="34" charset="-122"/>
                <a:cs typeface="Cambria" pitchFamily="34" charset="-120"/>
              </a:rPr>
              <a:t>1,400</a:t>
            </a:r>
            <a:endParaRPr lang="en-US" sz="3500" dirty="0"/>
          </a:p>
        </p:txBody>
      </p:sp>
      <p:sp>
        <p:nvSpPr>
          <p:cNvPr id="27" name="Text 25"/>
          <p:cNvSpPr txBox="1"/>
          <p:nvPr/>
        </p:nvSpPr>
        <p:spPr>
          <a:xfrm>
            <a:off x="9290304" y="3858768"/>
            <a:ext cx="1956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human-coded training tweets</a:t>
            </a:r>
            <a:endParaRPr lang="en-US" sz="1200" dirty="0"/>
          </a:p>
        </p:txBody>
      </p:sp>
      <p:sp>
        <p:nvSpPr>
          <p:cNvPr id="28" name="Shape 26"/>
          <p:cNvSpPr/>
          <p:nvPr/>
        </p:nvSpPr>
        <p:spPr>
          <a:xfrm>
            <a:off x="1380744" y="5157216"/>
            <a:ext cx="9418320" cy="713232"/>
          </a:xfrm>
          <a:prstGeom prst="roundRect">
            <a:avLst>
              <a:gd name="adj" fmla="val 10256"/>
            </a:avLst>
          </a:prstGeom>
          <a:solidFill>
            <a:srgbClr val="FFFFFF"/>
          </a:solidFill>
          <a:ln w="12700">
            <a:solidFill>
              <a:srgbClr val="E7E4E6"/>
            </a:solidFill>
            <a:prstDash val="solid"/>
          </a:ln>
        </p:spPr>
      </p:sp>
      <p:sp>
        <p:nvSpPr>
          <p:cNvPr id="29" name="Shape 27"/>
          <p:cNvSpPr/>
          <p:nvPr/>
        </p:nvSpPr>
        <p:spPr>
          <a:xfrm>
            <a:off x="1636776" y="5358384"/>
            <a:ext cx="1298448" cy="310896"/>
          </a:xfrm>
          <a:prstGeom prst="roundRect">
            <a:avLst>
              <a:gd name="adj" fmla="val 44118"/>
            </a:avLst>
          </a:prstGeom>
          <a:solidFill>
            <a:srgbClr val="E9E3F2"/>
          </a:solidFill>
          <a:ln w="12700">
            <a:solidFill>
              <a:srgbClr val="E9E3F2"/>
            </a:solidFill>
            <a:prstDash val="solid"/>
          </a:ln>
        </p:spPr>
      </p:sp>
      <p:sp>
        <p:nvSpPr>
          <p:cNvPr id="30" name="Text 28"/>
          <p:cNvSpPr txBox="1"/>
          <p:nvPr/>
        </p:nvSpPr>
        <p:spPr>
          <a:xfrm>
            <a:off x="1709928" y="5367528"/>
            <a:ext cx="1152144" cy="274320"/>
          </a:xfrm>
          <a:prstGeom prst="rect">
            <a:avLst/>
          </a:prstGeom>
          <a:noFill/>
          <a:ln/>
        </p:spPr>
        <p:txBody>
          <a:bodyPr wrap="square" lIns="0" tIns="0" rIns="0" bIns="0" rtlCol="0" anchor="ctr">
            <a:normAutofit/>
          </a:bodyPr>
          <a:lstStyle/>
          <a:p>
            <a:pPr algn="ctr" indent="0" marL="0">
              <a:buNone/>
            </a:pPr>
            <a:r>
              <a:rPr lang="en-US" sz="1100" b="1" dirty="0">
                <a:solidFill>
                  <a:srgbClr val="775DA6"/>
                </a:solidFill>
                <a:latin typeface="Arial" pitchFamily="34" charset="0"/>
                <a:ea typeface="Arial" pitchFamily="34" charset="-122"/>
                <a:cs typeface="Arial" pitchFamily="34" charset="-120"/>
              </a:rPr>
              <a:t>DESIGN NOTE</a:t>
            </a:r>
            <a:endParaRPr lang="en-US" sz="1100" dirty="0"/>
          </a:p>
        </p:txBody>
      </p:sp>
      <p:sp>
        <p:nvSpPr>
          <p:cNvPr id="31" name="Text 29"/>
          <p:cNvSpPr txBox="1"/>
          <p:nvPr/>
        </p:nvSpPr>
        <p:spPr>
          <a:xfrm>
            <a:off x="3145536" y="5303520"/>
            <a:ext cx="7260336" cy="347472"/>
          </a:xfrm>
          <a:prstGeom prst="rect">
            <a:avLst/>
          </a:prstGeom>
          <a:noFill/>
          <a:ln/>
        </p:spPr>
        <p:txBody>
          <a:bodyPr wrap="square" lIns="0" tIns="0" rIns="0" bIns="0" rtlCol="0" anchor="ctr">
            <a:normAutofit/>
          </a:bodyPr>
          <a:lstStyle/>
          <a:p>
            <a:pPr algn="l" indent="0" marL="0">
              <a:buNone/>
            </a:pPr>
            <a:r>
              <a:rPr lang="en-US" sz="1650" b="1" dirty="0">
                <a:solidFill>
                  <a:srgbClr val="405466"/>
                </a:solidFill>
                <a:latin typeface="Arial" pitchFamily="34" charset="0"/>
                <a:ea typeface="Arial" pitchFamily="34" charset="-122"/>
                <a:cs typeface="Arial" pitchFamily="34" charset="-120"/>
              </a:rPr>
              <a:t>A before/after observational design: the ruling is the event—not a randomized treatment.</a:t>
            </a:r>
            <a:endParaRPr lang="en-US" sz="1650" dirty="0"/>
          </a:p>
        </p:txBody>
      </p:sp>
      <p:sp>
        <p:nvSpPr>
          <p:cNvPr id="32" name="Text 30"/>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Keywords: “ssm,” “same sex marriage,” “DOMA,” “Prop8,” and “gay marriage.” English-language tweets only.</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RESEARCH DESIGN</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Two samples separate public attention from within-account change</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49808" y="1399032"/>
            <a:ext cx="5148072" cy="4187952"/>
          </a:xfrm>
          <a:prstGeom prst="roundRect">
            <a:avLst>
              <a:gd name="adj" fmla="val 1747"/>
            </a:avLst>
          </a:prstGeom>
          <a:solidFill>
            <a:srgbClr val="F4F2F3"/>
          </a:solidFill>
          <a:ln w="12700">
            <a:solidFill>
              <a:srgbClr val="E7E4E6"/>
            </a:solidFill>
            <a:prstDash val="solid"/>
          </a:ln>
        </p:spPr>
      </p:sp>
      <p:sp>
        <p:nvSpPr>
          <p:cNvPr id="7" name="Shape 5"/>
          <p:cNvSpPr/>
          <p:nvPr/>
        </p:nvSpPr>
        <p:spPr>
          <a:xfrm>
            <a:off x="1078992" y="1728216"/>
            <a:ext cx="1426464" cy="310896"/>
          </a:xfrm>
          <a:prstGeom prst="roundRect">
            <a:avLst>
              <a:gd name="adj" fmla="val 44118"/>
            </a:avLst>
          </a:prstGeom>
          <a:solidFill>
            <a:srgbClr val="571D2B"/>
          </a:solidFill>
          <a:ln w="12700">
            <a:solidFill>
              <a:srgbClr val="571D2B"/>
            </a:solidFill>
            <a:prstDash val="solid"/>
          </a:ln>
        </p:spPr>
      </p:sp>
      <p:sp>
        <p:nvSpPr>
          <p:cNvPr id="8" name="Text 6"/>
          <p:cNvSpPr txBox="1"/>
          <p:nvPr/>
        </p:nvSpPr>
        <p:spPr>
          <a:xfrm>
            <a:off x="1152144" y="1737360"/>
            <a:ext cx="1280160"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DAILY STREAM</a:t>
            </a:r>
            <a:endParaRPr lang="en-US" sz="1100" dirty="0"/>
          </a:p>
        </p:txBody>
      </p:sp>
      <p:sp>
        <p:nvSpPr>
          <p:cNvPr id="9" name="Text 7"/>
          <p:cNvSpPr txBox="1"/>
          <p:nvPr/>
        </p:nvSpPr>
        <p:spPr>
          <a:xfrm>
            <a:off x="1069848" y="2194560"/>
            <a:ext cx="4434840" cy="384048"/>
          </a:xfrm>
          <a:prstGeom prst="rect">
            <a:avLst/>
          </a:prstGeom>
          <a:noFill/>
          <a:ln/>
        </p:spPr>
        <p:txBody>
          <a:bodyPr wrap="square" lIns="0" tIns="0" rIns="0" bIns="0" rtlCol="0" anchor="ctr">
            <a:normAutofit/>
          </a:bodyPr>
          <a:lstStyle/>
          <a:p>
            <a:pPr algn="l" indent="0" marL="0">
              <a:buNone/>
            </a:pPr>
            <a:r>
              <a:rPr lang="en-US" sz="2400" b="1" dirty="0">
                <a:solidFill>
                  <a:srgbClr val="242126"/>
                </a:solidFill>
                <a:latin typeface="Cambria" pitchFamily="34" charset="0"/>
                <a:ea typeface="Cambria" pitchFamily="34" charset="-122"/>
                <a:cs typeface="Cambria" pitchFamily="34" charset="-120"/>
              </a:rPr>
              <a:t>Who is speaking today?</a:t>
            </a:r>
            <a:endParaRPr lang="en-US" sz="2400" dirty="0"/>
          </a:p>
        </p:txBody>
      </p:sp>
      <p:sp>
        <p:nvSpPr>
          <p:cNvPr id="10" name="Shape 8"/>
          <p:cNvSpPr/>
          <p:nvPr/>
        </p:nvSpPr>
        <p:spPr>
          <a:xfrm>
            <a:off x="1115568" y="2898648"/>
            <a:ext cx="173736" cy="173736"/>
          </a:xfrm>
          <a:prstGeom prst="ellipse">
            <a:avLst/>
          </a:prstGeom>
          <a:solidFill>
            <a:srgbClr val="405466"/>
          </a:solidFill>
          <a:ln w="12700">
            <a:solidFill>
              <a:srgbClr val="FFFFFF">
                <a:alpha val="0"/>
              </a:srgbClr>
            </a:solidFill>
            <a:prstDash val="solid"/>
          </a:ln>
        </p:spPr>
      </p:sp>
      <p:sp>
        <p:nvSpPr>
          <p:cNvPr id="11" name="Shape 9"/>
          <p:cNvSpPr/>
          <p:nvPr/>
        </p:nvSpPr>
        <p:spPr>
          <a:xfrm>
            <a:off x="1508760" y="2898648"/>
            <a:ext cx="173736" cy="173736"/>
          </a:xfrm>
          <a:prstGeom prst="ellipse">
            <a:avLst/>
          </a:prstGeom>
          <a:solidFill>
            <a:srgbClr val="2A8C82"/>
          </a:solidFill>
          <a:ln w="12700">
            <a:solidFill>
              <a:srgbClr val="FFFFFF">
                <a:alpha val="0"/>
              </a:srgbClr>
            </a:solidFill>
            <a:prstDash val="solid"/>
          </a:ln>
        </p:spPr>
      </p:sp>
      <p:sp>
        <p:nvSpPr>
          <p:cNvPr id="12" name="Shape 10"/>
          <p:cNvSpPr/>
          <p:nvPr/>
        </p:nvSpPr>
        <p:spPr>
          <a:xfrm>
            <a:off x="1901952" y="2898648"/>
            <a:ext cx="173736" cy="173736"/>
          </a:xfrm>
          <a:prstGeom prst="ellipse">
            <a:avLst/>
          </a:prstGeom>
          <a:solidFill>
            <a:srgbClr val="D65F5F"/>
          </a:solidFill>
          <a:ln w="12700">
            <a:solidFill>
              <a:srgbClr val="FFFFFF">
                <a:alpha val="0"/>
              </a:srgbClr>
            </a:solidFill>
            <a:prstDash val="solid"/>
          </a:ln>
        </p:spPr>
      </p:sp>
      <p:sp>
        <p:nvSpPr>
          <p:cNvPr id="13" name="Shape 11"/>
          <p:cNvSpPr/>
          <p:nvPr/>
        </p:nvSpPr>
        <p:spPr>
          <a:xfrm>
            <a:off x="2295144" y="2898648"/>
            <a:ext cx="173736" cy="173736"/>
          </a:xfrm>
          <a:prstGeom prst="ellipse">
            <a:avLst/>
          </a:prstGeom>
          <a:solidFill>
            <a:srgbClr val="D7A62A"/>
          </a:solidFill>
          <a:ln w="12700">
            <a:solidFill>
              <a:srgbClr val="FFFFFF">
                <a:alpha val="0"/>
              </a:srgbClr>
            </a:solidFill>
            <a:prstDash val="solid"/>
          </a:ln>
        </p:spPr>
      </p:sp>
      <p:sp>
        <p:nvSpPr>
          <p:cNvPr id="14" name="Shape 12"/>
          <p:cNvSpPr/>
          <p:nvPr/>
        </p:nvSpPr>
        <p:spPr>
          <a:xfrm>
            <a:off x="2688336" y="2898648"/>
            <a:ext cx="173736" cy="173736"/>
          </a:xfrm>
          <a:prstGeom prst="ellipse">
            <a:avLst/>
          </a:prstGeom>
          <a:solidFill>
            <a:srgbClr val="775DA6"/>
          </a:solidFill>
          <a:ln w="12700">
            <a:solidFill>
              <a:srgbClr val="FFFFFF">
                <a:alpha val="0"/>
              </a:srgbClr>
            </a:solidFill>
            <a:prstDash val="solid"/>
          </a:ln>
        </p:spPr>
      </p:sp>
      <p:sp>
        <p:nvSpPr>
          <p:cNvPr id="15" name="Shape 13"/>
          <p:cNvSpPr/>
          <p:nvPr/>
        </p:nvSpPr>
        <p:spPr>
          <a:xfrm>
            <a:off x="3081528" y="2898648"/>
            <a:ext cx="173736" cy="173736"/>
          </a:xfrm>
          <a:prstGeom prst="ellipse">
            <a:avLst/>
          </a:prstGeom>
          <a:solidFill>
            <a:srgbClr val="405466"/>
          </a:solidFill>
          <a:ln w="12700">
            <a:solidFill>
              <a:srgbClr val="FFFFFF">
                <a:alpha val="0"/>
              </a:srgbClr>
            </a:solidFill>
            <a:prstDash val="solid"/>
          </a:ln>
        </p:spPr>
      </p:sp>
      <p:sp>
        <p:nvSpPr>
          <p:cNvPr id="16" name="Shape 14"/>
          <p:cNvSpPr/>
          <p:nvPr/>
        </p:nvSpPr>
        <p:spPr>
          <a:xfrm>
            <a:off x="3474720" y="2898648"/>
            <a:ext cx="173736" cy="173736"/>
          </a:xfrm>
          <a:prstGeom prst="ellipse">
            <a:avLst/>
          </a:prstGeom>
          <a:solidFill>
            <a:srgbClr val="2A8C82"/>
          </a:solidFill>
          <a:ln w="12700">
            <a:solidFill>
              <a:srgbClr val="FFFFFF">
                <a:alpha val="0"/>
              </a:srgbClr>
            </a:solidFill>
            <a:prstDash val="solid"/>
          </a:ln>
        </p:spPr>
      </p:sp>
      <p:sp>
        <p:nvSpPr>
          <p:cNvPr id="17" name="Shape 15"/>
          <p:cNvSpPr/>
          <p:nvPr/>
        </p:nvSpPr>
        <p:spPr>
          <a:xfrm>
            <a:off x="3867912" y="2898648"/>
            <a:ext cx="173736" cy="173736"/>
          </a:xfrm>
          <a:prstGeom prst="ellipse">
            <a:avLst/>
          </a:prstGeom>
          <a:solidFill>
            <a:srgbClr val="D65F5F"/>
          </a:solidFill>
          <a:ln w="12700">
            <a:solidFill>
              <a:srgbClr val="FFFFFF">
                <a:alpha val="0"/>
              </a:srgbClr>
            </a:solidFill>
            <a:prstDash val="solid"/>
          </a:ln>
        </p:spPr>
      </p:sp>
      <p:sp>
        <p:nvSpPr>
          <p:cNvPr id="18" name="Shape 16"/>
          <p:cNvSpPr/>
          <p:nvPr/>
        </p:nvSpPr>
        <p:spPr>
          <a:xfrm>
            <a:off x="4261104" y="2898648"/>
            <a:ext cx="173736" cy="173736"/>
          </a:xfrm>
          <a:prstGeom prst="ellipse">
            <a:avLst/>
          </a:prstGeom>
          <a:solidFill>
            <a:srgbClr val="D7A62A"/>
          </a:solidFill>
          <a:ln w="12700">
            <a:solidFill>
              <a:srgbClr val="FFFFFF">
                <a:alpha val="0"/>
              </a:srgbClr>
            </a:solidFill>
            <a:prstDash val="solid"/>
          </a:ln>
        </p:spPr>
      </p:sp>
      <p:sp>
        <p:nvSpPr>
          <p:cNvPr id="19" name="Shape 17"/>
          <p:cNvSpPr/>
          <p:nvPr/>
        </p:nvSpPr>
        <p:spPr>
          <a:xfrm>
            <a:off x="4654296" y="2898648"/>
            <a:ext cx="173736" cy="173736"/>
          </a:xfrm>
          <a:prstGeom prst="ellipse">
            <a:avLst/>
          </a:prstGeom>
          <a:solidFill>
            <a:srgbClr val="775DA6"/>
          </a:solidFill>
          <a:ln w="12700">
            <a:solidFill>
              <a:srgbClr val="FFFFFF">
                <a:alpha val="0"/>
              </a:srgbClr>
            </a:solidFill>
            <a:prstDash val="solid"/>
          </a:ln>
        </p:spPr>
      </p:sp>
      <p:sp>
        <p:nvSpPr>
          <p:cNvPr id="20" name="Shape 18"/>
          <p:cNvSpPr/>
          <p:nvPr/>
        </p:nvSpPr>
        <p:spPr>
          <a:xfrm>
            <a:off x="1115568" y="3310128"/>
            <a:ext cx="173736" cy="173736"/>
          </a:xfrm>
          <a:prstGeom prst="ellipse">
            <a:avLst/>
          </a:prstGeom>
          <a:solidFill>
            <a:srgbClr val="D65F5F"/>
          </a:solidFill>
          <a:ln w="12700">
            <a:solidFill>
              <a:srgbClr val="FFFFFF">
                <a:alpha val="0"/>
              </a:srgbClr>
            </a:solidFill>
            <a:prstDash val="solid"/>
          </a:ln>
        </p:spPr>
      </p:sp>
      <p:sp>
        <p:nvSpPr>
          <p:cNvPr id="21" name="Shape 19"/>
          <p:cNvSpPr/>
          <p:nvPr/>
        </p:nvSpPr>
        <p:spPr>
          <a:xfrm>
            <a:off x="1508760" y="3310128"/>
            <a:ext cx="173736" cy="173736"/>
          </a:xfrm>
          <a:prstGeom prst="ellipse">
            <a:avLst/>
          </a:prstGeom>
          <a:solidFill>
            <a:srgbClr val="D7A62A"/>
          </a:solidFill>
          <a:ln w="12700">
            <a:solidFill>
              <a:srgbClr val="FFFFFF">
                <a:alpha val="0"/>
              </a:srgbClr>
            </a:solidFill>
            <a:prstDash val="solid"/>
          </a:ln>
        </p:spPr>
      </p:sp>
      <p:sp>
        <p:nvSpPr>
          <p:cNvPr id="22" name="Shape 20"/>
          <p:cNvSpPr/>
          <p:nvPr/>
        </p:nvSpPr>
        <p:spPr>
          <a:xfrm>
            <a:off x="1901952" y="3310128"/>
            <a:ext cx="173736" cy="173736"/>
          </a:xfrm>
          <a:prstGeom prst="ellipse">
            <a:avLst/>
          </a:prstGeom>
          <a:solidFill>
            <a:srgbClr val="775DA6"/>
          </a:solidFill>
          <a:ln w="12700">
            <a:solidFill>
              <a:srgbClr val="FFFFFF">
                <a:alpha val="0"/>
              </a:srgbClr>
            </a:solidFill>
            <a:prstDash val="solid"/>
          </a:ln>
        </p:spPr>
      </p:sp>
      <p:sp>
        <p:nvSpPr>
          <p:cNvPr id="23" name="Shape 21"/>
          <p:cNvSpPr/>
          <p:nvPr/>
        </p:nvSpPr>
        <p:spPr>
          <a:xfrm>
            <a:off x="2295144" y="3310128"/>
            <a:ext cx="173736" cy="173736"/>
          </a:xfrm>
          <a:prstGeom prst="ellipse">
            <a:avLst/>
          </a:prstGeom>
          <a:solidFill>
            <a:srgbClr val="405466"/>
          </a:solidFill>
          <a:ln w="12700">
            <a:solidFill>
              <a:srgbClr val="FFFFFF">
                <a:alpha val="0"/>
              </a:srgbClr>
            </a:solidFill>
            <a:prstDash val="solid"/>
          </a:ln>
        </p:spPr>
      </p:sp>
      <p:sp>
        <p:nvSpPr>
          <p:cNvPr id="24" name="Shape 22"/>
          <p:cNvSpPr/>
          <p:nvPr/>
        </p:nvSpPr>
        <p:spPr>
          <a:xfrm>
            <a:off x="2688336" y="3310128"/>
            <a:ext cx="173736" cy="173736"/>
          </a:xfrm>
          <a:prstGeom prst="ellipse">
            <a:avLst/>
          </a:prstGeom>
          <a:solidFill>
            <a:srgbClr val="2A8C82"/>
          </a:solidFill>
          <a:ln w="12700">
            <a:solidFill>
              <a:srgbClr val="FFFFFF">
                <a:alpha val="0"/>
              </a:srgbClr>
            </a:solidFill>
            <a:prstDash val="solid"/>
          </a:ln>
        </p:spPr>
      </p:sp>
      <p:sp>
        <p:nvSpPr>
          <p:cNvPr id="25" name="Shape 23"/>
          <p:cNvSpPr/>
          <p:nvPr/>
        </p:nvSpPr>
        <p:spPr>
          <a:xfrm>
            <a:off x="3081528" y="3310128"/>
            <a:ext cx="173736" cy="173736"/>
          </a:xfrm>
          <a:prstGeom prst="ellipse">
            <a:avLst/>
          </a:prstGeom>
          <a:solidFill>
            <a:srgbClr val="D65F5F"/>
          </a:solidFill>
          <a:ln w="12700">
            <a:solidFill>
              <a:srgbClr val="FFFFFF">
                <a:alpha val="0"/>
              </a:srgbClr>
            </a:solidFill>
            <a:prstDash val="solid"/>
          </a:ln>
        </p:spPr>
      </p:sp>
      <p:sp>
        <p:nvSpPr>
          <p:cNvPr id="26" name="Shape 24"/>
          <p:cNvSpPr/>
          <p:nvPr/>
        </p:nvSpPr>
        <p:spPr>
          <a:xfrm>
            <a:off x="3474720" y="3310128"/>
            <a:ext cx="173736" cy="173736"/>
          </a:xfrm>
          <a:prstGeom prst="ellipse">
            <a:avLst/>
          </a:prstGeom>
          <a:solidFill>
            <a:srgbClr val="D7A62A"/>
          </a:solidFill>
          <a:ln w="12700">
            <a:solidFill>
              <a:srgbClr val="FFFFFF">
                <a:alpha val="0"/>
              </a:srgbClr>
            </a:solidFill>
            <a:prstDash val="solid"/>
          </a:ln>
        </p:spPr>
      </p:sp>
      <p:sp>
        <p:nvSpPr>
          <p:cNvPr id="27" name="Shape 25"/>
          <p:cNvSpPr/>
          <p:nvPr/>
        </p:nvSpPr>
        <p:spPr>
          <a:xfrm>
            <a:off x="3867912" y="3310128"/>
            <a:ext cx="173736" cy="173736"/>
          </a:xfrm>
          <a:prstGeom prst="ellipse">
            <a:avLst/>
          </a:prstGeom>
          <a:solidFill>
            <a:srgbClr val="775DA6"/>
          </a:solidFill>
          <a:ln w="12700">
            <a:solidFill>
              <a:srgbClr val="FFFFFF">
                <a:alpha val="0"/>
              </a:srgbClr>
            </a:solidFill>
            <a:prstDash val="solid"/>
          </a:ln>
        </p:spPr>
      </p:sp>
      <p:sp>
        <p:nvSpPr>
          <p:cNvPr id="28" name="Shape 26"/>
          <p:cNvSpPr/>
          <p:nvPr/>
        </p:nvSpPr>
        <p:spPr>
          <a:xfrm>
            <a:off x="4261104" y="3310128"/>
            <a:ext cx="173736" cy="173736"/>
          </a:xfrm>
          <a:prstGeom prst="ellipse">
            <a:avLst/>
          </a:prstGeom>
          <a:solidFill>
            <a:srgbClr val="405466"/>
          </a:solidFill>
          <a:ln w="12700">
            <a:solidFill>
              <a:srgbClr val="FFFFFF">
                <a:alpha val="0"/>
              </a:srgbClr>
            </a:solidFill>
            <a:prstDash val="solid"/>
          </a:ln>
        </p:spPr>
      </p:sp>
      <p:sp>
        <p:nvSpPr>
          <p:cNvPr id="29" name="Shape 27"/>
          <p:cNvSpPr/>
          <p:nvPr/>
        </p:nvSpPr>
        <p:spPr>
          <a:xfrm>
            <a:off x="4654296" y="3310128"/>
            <a:ext cx="173736" cy="173736"/>
          </a:xfrm>
          <a:prstGeom prst="ellipse">
            <a:avLst/>
          </a:prstGeom>
          <a:solidFill>
            <a:srgbClr val="2A8C82"/>
          </a:solidFill>
          <a:ln w="12700">
            <a:solidFill>
              <a:srgbClr val="FFFFFF">
                <a:alpha val="0"/>
              </a:srgbClr>
            </a:solidFill>
            <a:prstDash val="solid"/>
          </a:ln>
        </p:spPr>
      </p:sp>
      <p:sp>
        <p:nvSpPr>
          <p:cNvPr id="30" name="Shape 28"/>
          <p:cNvSpPr/>
          <p:nvPr/>
        </p:nvSpPr>
        <p:spPr>
          <a:xfrm>
            <a:off x="1115568" y="3721608"/>
            <a:ext cx="173736" cy="173736"/>
          </a:xfrm>
          <a:prstGeom prst="ellipse">
            <a:avLst/>
          </a:prstGeom>
          <a:solidFill>
            <a:srgbClr val="775DA6"/>
          </a:solidFill>
          <a:ln w="12700">
            <a:solidFill>
              <a:srgbClr val="FFFFFF">
                <a:alpha val="0"/>
              </a:srgbClr>
            </a:solidFill>
            <a:prstDash val="solid"/>
          </a:ln>
        </p:spPr>
      </p:sp>
      <p:sp>
        <p:nvSpPr>
          <p:cNvPr id="31" name="Shape 29"/>
          <p:cNvSpPr/>
          <p:nvPr/>
        </p:nvSpPr>
        <p:spPr>
          <a:xfrm>
            <a:off x="1508760" y="3721608"/>
            <a:ext cx="173736" cy="173736"/>
          </a:xfrm>
          <a:prstGeom prst="ellipse">
            <a:avLst/>
          </a:prstGeom>
          <a:solidFill>
            <a:srgbClr val="405466"/>
          </a:solidFill>
          <a:ln w="12700">
            <a:solidFill>
              <a:srgbClr val="FFFFFF">
                <a:alpha val="0"/>
              </a:srgbClr>
            </a:solidFill>
            <a:prstDash val="solid"/>
          </a:ln>
        </p:spPr>
      </p:sp>
      <p:sp>
        <p:nvSpPr>
          <p:cNvPr id="32" name="Shape 30"/>
          <p:cNvSpPr/>
          <p:nvPr/>
        </p:nvSpPr>
        <p:spPr>
          <a:xfrm>
            <a:off x="1901952" y="3721608"/>
            <a:ext cx="173736" cy="173736"/>
          </a:xfrm>
          <a:prstGeom prst="ellipse">
            <a:avLst/>
          </a:prstGeom>
          <a:solidFill>
            <a:srgbClr val="2A8C82"/>
          </a:solidFill>
          <a:ln w="12700">
            <a:solidFill>
              <a:srgbClr val="FFFFFF">
                <a:alpha val="0"/>
              </a:srgbClr>
            </a:solidFill>
            <a:prstDash val="solid"/>
          </a:ln>
        </p:spPr>
      </p:sp>
      <p:sp>
        <p:nvSpPr>
          <p:cNvPr id="33" name="Shape 31"/>
          <p:cNvSpPr/>
          <p:nvPr/>
        </p:nvSpPr>
        <p:spPr>
          <a:xfrm>
            <a:off x="2295144" y="3721608"/>
            <a:ext cx="173736" cy="173736"/>
          </a:xfrm>
          <a:prstGeom prst="ellipse">
            <a:avLst/>
          </a:prstGeom>
          <a:solidFill>
            <a:srgbClr val="D65F5F"/>
          </a:solidFill>
          <a:ln w="12700">
            <a:solidFill>
              <a:srgbClr val="FFFFFF">
                <a:alpha val="0"/>
              </a:srgbClr>
            </a:solidFill>
            <a:prstDash val="solid"/>
          </a:ln>
        </p:spPr>
      </p:sp>
      <p:sp>
        <p:nvSpPr>
          <p:cNvPr id="34" name="Shape 32"/>
          <p:cNvSpPr/>
          <p:nvPr/>
        </p:nvSpPr>
        <p:spPr>
          <a:xfrm>
            <a:off x="2688336" y="3721608"/>
            <a:ext cx="173736" cy="173736"/>
          </a:xfrm>
          <a:prstGeom prst="ellipse">
            <a:avLst/>
          </a:prstGeom>
          <a:solidFill>
            <a:srgbClr val="D7A62A"/>
          </a:solidFill>
          <a:ln w="12700">
            <a:solidFill>
              <a:srgbClr val="FFFFFF">
                <a:alpha val="0"/>
              </a:srgbClr>
            </a:solidFill>
            <a:prstDash val="solid"/>
          </a:ln>
        </p:spPr>
      </p:sp>
      <p:sp>
        <p:nvSpPr>
          <p:cNvPr id="35" name="Shape 33"/>
          <p:cNvSpPr/>
          <p:nvPr/>
        </p:nvSpPr>
        <p:spPr>
          <a:xfrm>
            <a:off x="3081528" y="3721608"/>
            <a:ext cx="173736" cy="173736"/>
          </a:xfrm>
          <a:prstGeom prst="ellipse">
            <a:avLst/>
          </a:prstGeom>
          <a:solidFill>
            <a:srgbClr val="775DA6"/>
          </a:solidFill>
          <a:ln w="12700">
            <a:solidFill>
              <a:srgbClr val="FFFFFF">
                <a:alpha val="0"/>
              </a:srgbClr>
            </a:solidFill>
            <a:prstDash val="solid"/>
          </a:ln>
        </p:spPr>
      </p:sp>
      <p:sp>
        <p:nvSpPr>
          <p:cNvPr id="36" name="Shape 34"/>
          <p:cNvSpPr/>
          <p:nvPr/>
        </p:nvSpPr>
        <p:spPr>
          <a:xfrm>
            <a:off x="3474720" y="3721608"/>
            <a:ext cx="173736" cy="173736"/>
          </a:xfrm>
          <a:prstGeom prst="ellipse">
            <a:avLst/>
          </a:prstGeom>
          <a:solidFill>
            <a:srgbClr val="405466"/>
          </a:solidFill>
          <a:ln w="12700">
            <a:solidFill>
              <a:srgbClr val="FFFFFF">
                <a:alpha val="0"/>
              </a:srgbClr>
            </a:solidFill>
            <a:prstDash val="solid"/>
          </a:ln>
        </p:spPr>
      </p:sp>
      <p:sp>
        <p:nvSpPr>
          <p:cNvPr id="37" name="Shape 35"/>
          <p:cNvSpPr/>
          <p:nvPr/>
        </p:nvSpPr>
        <p:spPr>
          <a:xfrm>
            <a:off x="3867912" y="3721608"/>
            <a:ext cx="173736" cy="173736"/>
          </a:xfrm>
          <a:prstGeom prst="ellipse">
            <a:avLst/>
          </a:prstGeom>
          <a:solidFill>
            <a:srgbClr val="2A8C82"/>
          </a:solidFill>
          <a:ln w="12700">
            <a:solidFill>
              <a:srgbClr val="FFFFFF">
                <a:alpha val="0"/>
              </a:srgbClr>
            </a:solidFill>
            <a:prstDash val="solid"/>
          </a:ln>
        </p:spPr>
      </p:sp>
      <p:sp>
        <p:nvSpPr>
          <p:cNvPr id="38" name="Shape 36"/>
          <p:cNvSpPr/>
          <p:nvPr/>
        </p:nvSpPr>
        <p:spPr>
          <a:xfrm>
            <a:off x="4261104" y="3721608"/>
            <a:ext cx="173736" cy="173736"/>
          </a:xfrm>
          <a:prstGeom prst="ellipse">
            <a:avLst/>
          </a:prstGeom>
          <a:solidFill>
            <a:srgbClr val="D65F5F"/>
          </a:solidFill>
          <a:ln w="12700">
            <a:solidFill>
              <a:srgbClr val="FFFFFF">
                <a:alpha val="0"/>
              </a:srgbClr>
            </a:solidFill>
            <a:prstDash val="solid"/>
          </a:ln>
        </p:spPr>
      </p:sp>
      <p:sp>
        <p:nvSpPr>
          <p:cNvPr id="39" name="Shape 37"/>
          <p:cNvSpPr/>
          <p:nvPr/>
        </p:nvSpPr>
        <p:spPr>
          <a:xfrm>
            <a:off x="4654296" y="3721608"/>
            <a:ext cx="173736" cy="173736"/>
          </a:xfrm>
          <a:prstGeom prst="ellipse">
            <a:avLst/>
          </a:prstGeom>
          <a:solidFill>
            <a:srgbClr val="D7A62A"/>
          </a:solidFill>
          <a:ln w="12700">
            <a:solidFill>
              <a:srgbClr val="FFFFFF">
                <a:alpha val="0"/>
              </a:srgbClr>
            </a:solidFill>
            <a:prstDash val="solid"/>
          </a:ln>
        </p:spPr>
      </p:sp>
      <p:sp>
        <p:nvSpPr>
          <p:cNvPr id="40" name="Shape 38"/>
          <p:cNvSpPr/>
          <p:nvPr/>
        </p:nvSpPr>
        <p:spPr>
          <a:xfrm>
            <a:off x="1115568" y="4133088"/>
            <a:ext cx="173736" cy="173736"/>
          </a:xfrm>
          <a:prstGeom prst="ellipse">
            <a:avLst/>
          </a:prstGeom>
          <a:solidFill>
            <a:srgbClr val="2A8C82"/>
          </a:solidFill>
          <a:ln w="12700">
            <a:solidFill>
              <a:srgbClr val="FFFFFF">
                <a:alpha val="0"/>
              </a:srgbClr>
            </a:solidFill>
            <a:prstDash val="solid"/>
          </a:ln>
        </p:spPr>
      </p:sp>
      <p:sp>
        <p:nvSpPr>
          <p:cNvPr id="41" name="Shape 39"/>
          <p:cNvSpPr/>
          <p:nvPr/>
        </p:nvSpPr>
        <p:spPr>
          <a:xfrm>
            <a:off x="1508760" y="4133088"/>
            <a:ext cx="173736" cy="173736"/>
          </a:xfrm>
          <a:prstGeom prst="ellipse">
            <a:avLst/>
          </a:prstGeom>
          <a:solidFill>
            <a:srgbClr val="D65F5F"/>
          </a:solidFill>
          <a:ln w="12700">
            <a:solidFill>
              <a:srgbClr val="FFFFFF">
                <a:alpha val="0"/>
              </a:srgbClr>
            </a:solidFill>
            <a:prstDash val="solid"/>
          </a:ln>
        </p:spPr>
      </p:sp>
      <p:sp>
        <p:nvSpPr>
          <p:cNvPr id="42" name="Shape 40"/>
          <p:cNvSpPr/>
          <p:nvPr/>
        </p:nvSpPr>
        <p:spPr>
          <a:xfrm>
            <a:off x="1901952" y="4133088"/>
            <a:ext cx="173736" cy="173736"/>
          </a:xfrm>
          <a:prstGeom prst="ellipse">
            <a:avLst/>
          </a:prstGeom>
          <a:solidFill>
            <a:srgbClr val="D7A62A"/>
          </a:solidFill>
          <a:ln w="12700">
            <a:solidFill>
              <a:srgbClr val="FFFFFF">
                <a:alpha val="0"/>
              </a:srgbClr>
            </a:solidFill>
            <a:prstDash val="solid"/>
          </a:ln>
        </p:spPr>
      </p:sp>
      <p:sp>
        <p:nvSpPr>
          <p:cNvPr id="43" name="Shape 41"/>
          <p:cNvSpPr/>
          <p:nvPr/>
        </p:nvSpPr>
        <p:spPr>
          <a:xfrm>
            <a:off x="2295144" y="4133088"/>
            <a:ext cx="173736" cy="173736"/>
          </a:xfrm>
          <a:prstGeom prst="ellipse">
            <a:avLst/>
          </a:prstGeom>
          <a:solidFill>
            <a:srgbClr val="775DA6"/>
          </a:solidFill>
          <a:ln w="12700">
            <a:solidFill>
              <a:srgbClr val="FFFFFF">
                <a:alpha val="0"/>
              </a:srgbClr>
            </a:solidFill>
            <a:prstDash val="solid"/>
          </a:ln>
        </p:spPr>
      </p:sp>
      <p:sp>
        <p:nvSpPr>
          <p:cNvPr id="44" name="Shape 42"/>
          <p:cNvSpPr/>
          <p:nvPr/>
        </p:nvSpPr>
        <p:spPr>
          <a:xfrm>
            <a:off x="2688336" y="4133088"/>
            <a:ext cx="173736" cy="173736"/>
          </a:xfrm>
          <a:prstGeom prst="ellipse">
            <a:avLst/>
          </a:prstGeom>
          <a:solidFill>
            <a:srgbClr val="405466"/>
          </a:solidFill>
          <a:ln w="12700">
            <a:solidFill>
              <a:srgbClr val="FFFFFF">
                <a:alpha val="0"/>
              </a:srgbClr>
            </a:solidFill>
            <a:prstDash val="solid"/>
          </a:ln>
        </p:spPr>
      </p:sp>
      <p:sp>
        <p:nvSpPr>
          <p:cNvPr id="45" name="Shape 43"/>
          <p:cNvSpPr/>
          <p:nvPr/>
        </p:nvSpPr>
        <p:spPr>
          <a:xfrm>
            <a:off x="3081528" y="4133088"/>
            <a:ext cx="173736" cy="173736"/>
          </a:xfrm>
          <a:prstGeom prst="ellipse">
            <a:avLst/>
          </a:prstGeom>
          <a:solidFill>
            <a:srgbClr val="2A8C82"/>
          </a:solidFill>
          <a:ln w="12700">
            <a:solidFill>
              <a:srgbClr val="FFFFFF">
                <a:alpha val="0"/>
              </a:srgbClr>
            </a:solidFill>
            <a:prstDash val="solid"/>
          </a:ln>
        </p:spPr>
      </p:sp>
      <p:sp>
        <p:nvSpPr>
          <p:cNvPr id="46" name="Shape 44"/>
          <p:cNvSpPr/>
          <p:nvPr/>
        </p:nvSpPr>
        <p:spPr>
          <a:xfrm>
            <a:off x="3474720" y="4133088"/>
            <a:ext cx="173736" cy="173736"/>
          </a:xfrm>
          <a:prstGeom prst="ellipse">
            <a:avLst/>
          </a:prstGeom>
          <a:solidFill>
            <a:srgbClr val="D65F5F"/>
          </a:solidFill>
          <a:ln w="12700">
            <a:solidFill>
              <a:srgbClr val="FFFFFF">
                <a:alpha val="0"/>
              </a:srgbClr>
            </a:solidFill>
            <a:prstDash val="solid"/>
          </a:ln>
        </p:spPr>
      </p:sp>
      <p:sp>
        <p:nvSpPr>
          <p:cNvPr id="47" name="Shape 45"/>
          <p:cNvSpPr/>
          <p:nvPr/>
        </p:nvSpPr>
        <p:spPr>
          <a:xfrm>
            <a:off x="3867912" y="4133088"/>
            <a:ext cx="173736" cy="173736"/>
          </a:xfrm>
          <a:prstGeom prst="ellipse">
            <a:avLst/>
          </a:prstGeom>
          <a:solidFill>
            <a:srgbClr val="D7A62A"/>
          </a:solidFill>
          <a:ln w="12700">
            <a:solidFill>
              <a:srgbClr val="FFFFFF">
                <a:alpha val="0"/>
              </a:srgbClr>
            </a:solidFill>
            <a:prstDash val="solid"/>
          </a:ln>
        </p:spPr>
      </p:sp>
      <p:sp>
        <p:nvSpPr>
          <p:cNvPr id="48" name="Shape 46"/>
          <p:cNvSpPr/>
          <p:nvPr/>
        </p:nvSpPr>
        <p:spPr>
          <a:xfrm>
            <a:off x="4261104" y="4133088"/>
            <a:ext cx="173736" cy="173736"/>
          </a:xfrm>
          <a:prstGeom prst="ellipse">
            <a:avLst/>
          </a:prstGeom>
          <a:solidFill>
            <a:srgbClr val="775DA6"/>
          </a:solidFill>
          <a:ln w="12700">
            <a:solidFill>
              <a:srgbClr val="FFFFFF">
                <a:alpha val="0"/>
              </a:srgbClr>
            </a:solidFill>
            <a:prstDash val="solid"/>
          </a:ln>
        </p:spPr>
      </p:sp>
      <p:sp>
        <p:nvSpPr>
          <p:cNvPr id="49" name="Shape 47"/>
          <p:cNvSpPr/>
          <p:nvPr/>
        </p:nvSpPr>
        <p:spPr>
          <a:xfrm>
            <a:off x="4654296" y="4133088"/>
            <a:ext cx="173736" cy="173736"/>
          </a:xfrm>
          <a:prstGeom prst="ellipse">
            <a:avLst/>
          </a:prstGeom>
          <a:solidFill>
            <a:srgbClr val="405466"/>
          </a:solidFill>
          <a:ln w="12700">
            <a:solidFill>
              <a:srgbClr val="FFFFFF">
                <a:alpha val="0"/>
              </a:srgbClr>
            </a:solidFill>
            <a:prstDash val="solid"/>
          </a:ln>
        </p:spPr>
      </p:sp>
      <p:sp>
        <p:nvSpPr>
          <p:cNvPr id="50" name="Text 48"/>
          <p:cNvSpPr txBox="1"/>
          <p:nvPr/>
        </p:nvSpPr>
        <p:spPr>
          <a:xfrm>
            <a:off x="1069848" y="4718304"/>
            <a:ext cx="4443984" cy="512064"/>
          </a:xfrm>
          <a:prstGeom prst="rect">
            <a:avLst/>
          </a:prstGeom>
          <a:noFill/>
          <a:ln/>
        </p:spPr>
        <p:txBody>
          <a:bodyPr wrap="square" lIns="0" tIns="0" rIns="0" bIns="0" rtlCol="0" anchor="ctr">
            <a:normAutofit/>
          </a:bodyPr>
          <a:lstStyle/>
          <a:p>
            <a:pPr algn="ctr" indent="0" marL="0">
              <a:buNone/>
            </a:pPr>
            <a:r>
              <a:rPr lang="en-US" sz="1550" dirty="0">
                <a:solidFill>
                  <a:srgbClr val="405466"/>
                </a:solidFill>
                <a:latin typeface="Arial" pitchFamily="34" charset="0"/>
                <a:ea typeface="Arial" pitchFamily="34" charset="-122"/>
                <a:cs typeface="Arial" pitchFamily="34" charset="-120"/>
              </a:rPr>
              <a:t>Large, changing cross-section of issue-related tweets each day</a:t>
            </a:r>
            <a:endParaRPr lang="en-US" sz="1550" dirty="0"/>
          </a:p>
        </p:txBody>
      </p:sp>
      <p:sp>
        <p:nvSpPr>
          <p:cNvPr id="51" name="Shape 49"/>
          <p:cNvSpPr/>
          <p:nvPr/>
        </p:nvSpPr>
        <p:spPr>
          <a:xfrm>
            <a:off x="6291072" y="1399032"/>
            <a:ext cx="5148072" cy="4187952"/>
          </a:xfrm>
          <a:prstGeom prst="roundRect">
            <a:avLst>
              <a:gd name="adj" fmla="val 1747"/>
            </a:avLst>
          </a:prstGeom>
          <a:solidFill>
            <a:srgbClr val="DCEFEB"/>
          </a:solidFill>
          <a:ln w="12700">
            <a:solidFill>
              <a:srgbClr val="2A8C82"/>
            </a:solidFill>
            <a:prstDash val="solid"/>
          </a:ln>
        </p:spPr>
      </p:sp>
      <p:sp>
        <p:nvSpPr>
          <p:cNvPr id="52" name="Shape 50"/>
          <p:cNvSpPr/>
          <p:nvPr/>
        </p:nvSpPr>
        <p:spPr>
          <a:xfrm>
            <a:off x="6620256" y="1728216"/>
            <a:ext cx="1572768" cy="310896"/>
          </a:xfrm>
          <a:prstGeom prst="roundRect">
            <a:avLst>
              <a:gd name="adj" fmla="val 44118"/>
            </a:avLst>
          </a:prstGeom>
          <a:solidFill>
            <a:srgbClr val="2A8C82"/>
          </a:solidFill>
          <a:ln w="12700">
            <a:solidFill>
              <a:srgbClr val="2A8C82"/>
            </a:solidFill>
            <a:prstDash val="solid"/>
          </a:ln>
        </p:spPr>
      </p:sp>
      <p:sp>
        <p:nvSpPr>
          <p:cNvPr id="53" name="Text 51"/>
          <p:cNvSpPr txBox="1"/>
          <p:nvPr/>
        </p:nvSpPr>
        <p:spPr>
          <a:xfrm>
            <a:off x="6693408" y="1737360"/>
            <a:ext cx="1426464"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ACCOUNT PANEL</a:t>
            </a:r>
            <a:endParaRPr lang="en-US" sz="1100" dirty="0"/>
          </a:p>
        </p:txBody>
      </p:sp>
      <p:sp>
        <p:nvSpPr>
          <p:cNvPr id="54" name="Text 52"/>
          <p:cNvSpPr txBox="1"/>
          <p:nvPr/>
        </p:nvSpPr>
        <p:spPr>
          <a:xfrm>
            <a:off x="6611112" y="2194560"/>
            <a:ext cx="4434840" cy="384048"/>
          </a:xfrm>
          <a:prstGeom prst="rect">
            <a:avLst/>
          </a:prstGeom>
          <a:noFill/>
          <a:ln/>
        </p:spPr>
        <p:txBody>
          <a:bodyPr wrap="square" lIns="0" tIns="0" rIns="0" bIns="0" rtlCol="0" anchor="ctr">
            <a:normAutofit/>
          </a:bodyPr>
          <a:lstStyle/>
          <a:p>
            <a:pPr algn="l" indent="0" marL="0">
              <a:buNone/>
            </a:pPr>
            <a:r>
              <a:rPr lang="en-US" sz="2400" b="1" dirty="0">
                <a:solidFill>
                  <a:srgbClr val="242126"/>
                </a:solidFill>
                <a:latin typeface="Cambria" pitchFamily="34" charset="0"/>
                <a:ea typeface="Cambria" pitchFamily="34" charset="-122"/>
                <a:cs typeface="Cambria" pitchFamily="34" charset="-120"/>
              </a:rPr>
              <a:t>How do the same speakers change?</a:t>
            </a:r>
            <a:endParaRPr lang="en-US" sz="2400" dirty="0"/>
          </a:p>
        </p:txBody>
      </p:sp>
      <p:sp>
        <p:nvSpPr>
          <p:cNvPr id="55" name="Shape 53"/>
          <p:cNvSpPr/>
          <p:nvPr/>
        </p:nvSpPr>
        <p:spPr>
          <a:xfrm>
            <a:off x="6830568" y="2880360"/>
            <a:ext cx="182880" cy="182880"/>
          </a:xfrm>
          <a:prstGeom prst="ellipse">
            <a:avLst/>
          </a:prstGeom>
          <a:solidFill>
            <a:srgbClr val="D65F5F"/>
          </a:solidFill>
          <a:ln w="12700">
            <a:solidFill>
              <a:srgbClr val="FFFFFF">
                <a:alpha val="0"/>
              </a:srgbClr>
            </a:solidFill>
            <a:prstDash val="solid"/>
          </a:ln>
        </p:spPr>
      </p:sp>
      <p:sp>
        <p:nvSpPr>
          <p:cNvPr id="56" name="Shape 54"/>
          <p:cNvSpPr/>
          <p:nvPr/>
        </p:nvSpPr>
        <p:spPr>
          <a:xfrm>
            <a:off x="7114032" y="2971800"/>
            <a:ext cx="3108960" cy="0"/>
          </a:xfrm>
          <a:prstGeom prst="line">
            <a:avLst/>
          </a:prstGeom>
          <a:noFill/>
          <a:ln w="17780">
            <a:solidFill>
              <a:srgbClr val="E7E4E6"/>
            </a:solidFill>
            <a:prstDash val="solid"/>
            <a:tailEnd type="triangle"/>
          </a:ln>
        </p:spPr>
      </p:sp>
      <p:sp>
        <p:nvSpPr>
          <p:cNvPr id="57" name="Shape 55"/>
          <p:cNvSpPr/>
          <p:nvPr/>
        </p:nvSpPr>
        <p:spPr>
          <a:xfrm>
            <a:off x="10378440" y="2880360"/>
            <a:ext cx="182880" cy="182880"/>
          </a:xfrm>
          <a:prstGeom prst="ellipse">
            <a:avLst/>
          </a:prstGeom>
          <a:solidFill>
            <a:srgbClr val="D65F5F"/>
          </a:solidFill>
          <a:ln w="12700">
            <a:solidFill>
              <a:srgbClr val="FFFFFF">
                <a:alpha val="0"/>
              </a:srgbClr>
            </a:solidFill>
            <a:prstDash val="solid"/>
          </a:ln>
        </p:spPr>
      </p:sp>
      <p:sp>
        <p:nvSpPr>
          <p:cNvPr id="58" name="Shape 56"/>
          <p:cNvSpPr/>
          <p:nvPr/>
        </p:nvSpPr>
        <p:spPr>
          <a:xfrm>
            <a:off x="6830568" y="3273552"/>
            <a:ext cx="182880" cy="182880"/>
          </a:xfrm>
          <a:prstGeom prst="ellipse">
            <a:avLst/>
          </a:prstGeom>
          <a:solidFill>
            <a:srgbClr val="D7A62A"/>
          </a:solidFill>
          <a:ln w="12700">
            <a:solidFill>
              <a:srgbClr val="FFFFFF">
                <a:alpha val="0"/>
              </a:srgbClr>
            </a:solidFill>
            <a:prstDash val="solid"/>
          </a:ln>
        </p:spPr>
      </p:sp>
      <p:sp>
        <p:nvSpPr>
          <p:cNvPr id="59" name="Shape 57"/>
          <p:cNvSpPr/>
          <p:nvPr/>
        </p:nvSpPr>
        <p:spPr>
          <a:xfrm>
            <a:off x="7114032" y="3364992"/>
            <a:ext cx="3108960" cy="0"/>
          </a:xfrm>
          <a:prstGeom prst="line">
            <a:avLst/>
          </a:prstGeom>
          <a:noFill/>
          <a:ln w="17780">
            <a:solidFill>
              <a:srgbClr val="E7E4E6"/>
            </a:solidFill>
            <a:prstDash val="solid"/>
            <a:tailEnd type="triangle"/>
          </a:ln>
        </p:spPr>
      </p:sp>
      <p:sp>
        <p:nvSpPr>
          <p:cNvPr id="60" name="Shape 58"/>
          <p:cNvSpPr/>
          <p:nvPr/>
        </p:nvSpPr>
        <p:spPr>
          <a:xfrm>
            <a:off x="10378440" y="3273552"/>
            <a:ext cx="182880" cy="182880"/>
          </a:xfrm>
          <a:prstGeom prst="ellipse">
            <a:avLst/>
          </a:prstGeom>
          <a:solidFill>
            <a:srgbClr val="D7A62A"/>
          </a:solidFill>
          <a:ln w="12700">
            <a:solidFill>
              <a:srgbClr val="FFFFFF">
                <a:alpha val="0"/>
              </a:srgbClr>
            </a:solidFill>
            <a:prstDash val="solid"/>
          </a:ln>
        </p:spPr>
      </p:sp>
      <p:sp>
        <p:nvSpPr>
          <p:cNvPr id="61" name="Shape 59"/>
          <p:cNvSpPr/>
          <p:nvPr/>
        </p:nvSpPr>
        <p:spPr>
          <a:xfrm>
            <a:off x="6830568" y="3666744"/>
            <a:ext cx="182880" cy="182880"/>
          </a:xfrm>
          <a:prstGeom prst="ellipse">
            <a:avLst/>
          </a:prstGeom>
          <a:solidFill>
            <a:srgbClr val="775DA6"/>
          </a:solidFill>
          <a:ln w="12700">
            <a:solidFill>
              <a:srgbClr val="FFFFFF">
                <a:alpha val="0"/>
              </a:srgbClr>
            </a:solidFill>
            <a:prstDash val="solid"/>
          </a:ln>
        </p:spPr>
      </p:sp>
      <p:sp>
        <p:nvSpPr>
          <p:cNvPr id="62" name="Shape 60"/>
          <p:cNvSpPr/>
          <p:nvPr/>
        </p:nvSpPr>
        <p:spPr>
          <a:xfrm>
            <a:off x="7114032" y="3758184"/>
            <a:ext cx="3108960" cy="0"/>
          </a:xfrm>
          <a:prstGeom prst="line">
            <a:avLst/>
          </a:prstGeom>
          <a:noFill/>
          <a:ln w="17780">
            <a:solidFill>
              <a:srgbClr val="E7E4E6"/>
            </a:solidFill>
            <a:prstDash val="solid"/>
            <a:tailEnd type="triangle"/>
          </a:ln>
        </p:spPr>
      </p:sp>
      <p:sp>
        <p:nvSpPr>
          <p:cNvPr id="63" name="Shape 61"/>
          <p:cNvSpPr/>
          <p:nvPr/>
        </p:nvSpPr>
        <p:spPr>
          <a:xfrm>
            <a:off x="10378440" y="3666744"/>
            <a:ext cx="182880" cy="182880"/>
          </a:xfrm>
          <a:prstGeom prst="ellipse">
            <a:avLst/>
          </a:prstGeom>
          <a:solidFill>
            <a:srgbClr val="775DA6"/>
          </a:solidFill>
          <a:ln w="12700">
            <a:solidFill>
              <a:srgbClr val="FFFFFF">
                <a:alpha val="0"/>
              </a:srgbClr>
            </a:solidFill>
            <a:prstDash val="solid"/>
          </a:ln>
        </p:spPr>
      </p:sp>
      <p:sp>
        <p:nvSpPr>
          <p:cNvPr id="64" name="Shape 62"/>
          <p:cNvSpPr/>
          <p:nvPr/>
        </p:nvSpPr>
        <p:spPr>
          <a:xfrm>
            <a:off x="6830568" y="4059936"/>
            <a:ext cx="182880" cy="182880"/>
          </a:xfrm>
          <a:prstGeom prst="ellipse">
            <a:avLst/>
          </a:prstGeom>
          <a:solidFill>
            <a:srgbClr val="405466"/>
          </a:solidFill>
          <a:ln w="12700">
            <a:solidFill>
              <a:srgbClr val="FFFFFF">
                <a:alpha val="0"/>
              </a:srgbClr>
            </a:solidFill>
            <a:prstDash val="solid"/>
          </a:ln>
        </p:spPr>
      </p:sp>
      <p:sp>
        <p:nvSpPr>
          <p:cNvPr id="65" name="Shape 63"/>
          <p:cNvSpPr/>
          <p:nvPr/>
        </p:nvSpPr>
        <p:spPr>
          <a:xfrm>
            <a:off x="7114032" y="4151376"/>
            <a:ext cx="3108960" cy="0"/>
          </a:xfrm>
          <a:prstGeom prst="line">
            <a:avLst/>
          </a:prstGeom>
          <a:noFill/>
          <a:ln w="17780">
            <a:solidFill>
              <a:srgbClr val="E7E4E6"/>
            </a:solidFill>
            <a:prstDash val="solid"/>
            <a:tailEnd type="triangle"/>
          </a:ln>
        </p:spPr>
      </p:sp>
      <p:sp>
        <p:nvSpPr>
          <p:cNvPr id="66" name="Shape 64"/>
          <p:cNvSpPr/>
          <p:nvPr/>
        </p:nvSpPr>
        <p:spPr>
          <a:xfrm>
            <a:off x="10378440" y="4059936"/>
            <a:ext cx="182880" cy="182880"/>
          </a:xfrm>
          <a:prstGeom prst="ellipse">
            <a:avLst/>
          </a:prstGeom>
          <a:solidFill>
            <a:srgbClr val="405466"/>
          </a:solidFill>
          <a:ln w="12700">
            <a:solidFill>
              <a:srgbClr val="FFFFFF">
                <a:alpha val="0"/>
              </a:srgbClr>
            </a:solidFill>
            <a:prstDash val="solid"/>
          </a:ln>
        </p:spPr>
      </p:sp>
      <p:sp>
        <p:nvSpPr>
          <p:cNvPr id="67" name="Shape 65"/>
          <p:cNvSpPr/>
          <p:nvPr/>
        </p:nvSpPr>
        <p:spPr>
          <a:xfrm>
            <a:off x="6830568" y="4453128"/>
            <a:ext cx="182880" cy="182880"/>
          </a:xfrm>
          <a:prstGeom prst="ellipse">
            <a:avLst/>
          </a:prstGeom>
          <a:solidFill>
            <a:srgbClr val="571D2B"/>
          </a:solidFill>
          <a:ln w="12700">
            <a:solidFill>
              <a:srgbClr val="FFFFFF">
                <a:alpha val="0"/>
              </a:srgbClr>
            </a:solidFill>
            <a:prstDash val="solid"/>
          </a:ln>
        </p:spPr>
      </p:sp>
      <p:sp>
        <p:nvSpPr>
          <p:cNvPr id="68" name="Shape 66"/>
          <p:cNvSpPr/>
          <p:nvPr/>
        </p:nvSpPr>
        <p:spPr>
          <a:xfrm>
            <a:off x="7114032" y="4544568"/>
            <a:ext cx="3108960" cy="0"/>
          </a:xfrm>
          <a:prstGeom prst="line">
            <a:avLst/>
          </a:prstGeom>
          <a:noFill/>
          <a:ln w="17780">
            <a:solidFill>
              <a:srgbClr val="E7E4E6"/>
            </a:solidFill>
            <a:prstDash val="solid"/>
            <a:tailEnd type="triangle"/>
          </a:ln>
        </p:spPr>
      </p:sp>
      <p:sp>
        <p:nvSpPr>
          <p:cNvPr id="69" name="Shape 67"/>
          <p:cNvSpPr/>
          <p:nvPr/>
        </p:nvSpPr>
        <p:spPr>
          <a:xfrm>
            <a:off x="10378440" y="4453128"/>
            <a:ext cx="182880" cy="182880"/>
          </a:xfrm>
          <a:prstGeom prst="ellipse">
            <a:avLst/>
          </a:prstGeom>
          <a:solidFill>
            <a:srgbClr val="571D2B"/>
          </a:solidFill>
          <a:ln w="12700">
            <a:solidFill>
              <a:srgbClr val="FFFFFF">
                <a:alpha val="0"/>
              </a:srgbClr>
            </a:solidFill>
            <a:prstDash val="solid"/>
          </a:ln>
        </p:spPr>
      </p:sp>
      <p:sp>
        <p:nvSpPr>
          <p:cNvPr id="70" name="Text 68"/>
          <p:cNvSpPr txBox="1"/>
          <p:nvPr/>
        </p:nvSpPr>
        <p:spPr>
          <a:xfrm>
            <a:off x="6611112" y="4718304"/>
            <a:ext cx="4443984" cy="512064"/>
          </a:xfrm>
          <a:prstGeom prst="rect">
            <a:avLst/>
          </a:prstGeom>
          <a:noFill/>
          <a:ln/>
        </p:spPr>
        <p:txBody>
          <a:bodyPr wrap="square" lIns="0" tIns="0" rIns="0" bIns="0" rtlCol="0" anchor="ctr">
            <a:normAutofit/>
          </a:bodyPr>
          <a:lstStyle/>
          <a:p>
            <a:pPr algn="ctr" indent="0" marL="0">
              <a:buNone/>
            </a:pPr>
            <a:r>
              <a:rPr lang="en-US" sz="1550" dirty="0">
                <a:solidFill>
                  <a:srgbClr val="405466"/>
                </a:solidFill>
                <a:latin typeface="Arial" pitchFamily="34" charset="0"/>
                <a:ea typeface="Arial" pitchFamily="34" charset="-122"/>
                <a:cs typeface="Arial" pitchFamily="34" charset="-120"/>
              </a:rPr>
              <a:t>Frequent accounts tracked continuously—without being recruited into a survey panel</a:t>
            </a:r>
            <a:endParaRPr lang="en-US" sz="1550" dirty="0"/>
          </a:p>
        </p:txBody>
      </p:sp>
      <p:sp>
        <p:nvSpPr>
          <p:cNvPr id="71" name="Text 69"/>
          <p:cNvSpPr txBox="1"/>
          <p:nvPr/>
        </p:nvSpPr>
        <p:spPr>
          <a:xfrm>
            <a:off x="1051560" y="5843016"/>
            <a:ext cx="10104120" cy="384048"/>
          </a:xfrm>
          <a:prstGeom prst="rect">
            <a:avLst/>
          </a:prstGeom>
          <a:noFill/>
          <a:ln/>
        </p:spPr>
        <p:txBody>
          <a:bodyPr wrap="square" lIns="0" tIns="0" rIns="0" bIns="0" rtlCol="0" anchor="ctr">
            <a:normAutofit/>
          </a:bodyPr>
          <a:lstStyle/>
          <a:p>
            <a:pPr algn="ctr" indent="0" marL="0">
              <a:buNone/>
            </a:pPr>
            <a:r>
              <a:rPr lang="en-US" sz="1800" b="1" dirty="0">
                <a:solidFill>
                  <a:srgbClr val="571D2B"/>
                </a:solidFill>
                <a:latin typeface="Arial" pitchFamily="34" charset="0"/>
                <a:ea typeface="Arial" pitchFamily="34" charset="-122"/>
                <a:cs typeface="Arial" pitchFamily="34" charset="-120"/>
              </a:rPr>
              <a:t>When both samples move together, simple compositional turnover becomes a less satisfying explanation.</a:t>
            </a:r>
            <a:endParaRPr lang="en-US" sz="1800" dirty="0"/>
          </a:p>
        </p:txBody>
      </p:sp>
      <p:sp>
        <p:nvSpPr>
          <p:cNvPr id="72" name="Text 70"/>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“Random sample” refers to the Twitter stream, not a national probability sample.</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MEASUREMENT</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From public speech to theoretically meaningful quantities</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13232" y="1344168"/>
            <a:ext cx="7516368" cy="4297680"/>
          </a:xfrm>
          <a:prstGeom prst="roundRect">
            <a:avLst>
              <a:gd name="adj" fmla="val 1702"/>
            </a:avLst>
          </a:prstGeom>
          <a:solidFill>
            <a:srgbClr val="FFFFFF"/>
          </a:solidFill>
          <a:ln w="12700">
            <a:solidFill>
              <a:srgbClr val="E7E4E6"/>
            </a:solidFill>
            <a:prstDash val="solid"/>
          </a:ln>
          <a:effectLst>
            <a:outerShdw sx="100000" sy="100000" kx="0" ky="0" algn="bl" rotWithShape="0" blurRad="19050" dist="50800" dir="2700000">
              <a:srgbClr val="000000">
                <a:alpha val="12000"/>
              </a:srgbClr>
            </a:outerShdw>
          </a:effectLst>
        </p:spPr>
      </p:sp>
      <p:pic>
        <p:nvPicPr>
          <p:cNvPr id="7" name="Image 0" descr="/Users/tsclark/Documents/GitHub/website/presentations/assets/figure-1-pipeline.png">    </p:cNvPr>
          <p:cNvPicPr>
            <a:picLocks noChangeAspect="1"/>
          </p:cNvPicPr>
          <p:nvPr/>
        </p:nvPicPr>
        <p:blipFill>
          <a:blip r:embed="rId1"/>
          <a:stretch>
            <a:fillRect/>
          </a:stretch>
        </p:blipFill>
        <p:spPr>
          <a:xfrm>
            <a:off x="990067" y="1609344"/>
            <a:ext cx="6962699" cy="3547872"/>
          </a:xfrm>
          <a:prstGeom prst="rect">
            <a:avLst/>
          </a:prstGeom>
        </p:spPr>
      </p:pic>
      <p:sp>
        <p:nvSpPr>
          <p:cNvPr id="8" name="Text 5"/>
          <p:cNvSpPr txBox="1"/>
          <p:nvPr/>
        </p:nvSpPr>
        <p:spPr>
          <a:xfrm>
            <a:off x="1234440" y="5138928"/>
            <a:ext cx="6446520" cy="310896"/>
          </a:xfrm>
          <a:prstGeom prst="rect">
            <a:avLst/>
          </a:prstGeom>
          <a:noFill/>
          <a:ln/>
        </p:spPr>
        <p:txBody>
          <a:bodyPr wrap="square" lIns="0" tIns="0" rIns="0" bIns="0" rtlCol="0" anchor="ctr">
            <a:normAutofit/>
          </a:bodyPr>
          <a:lstStyle/>
          <a:p>
            <a:pPr algn="ctr" indent="0" marL="0">
              <a:buNone/>
            </a:pPr>
            <a:r>
              <a:rPr lang="en-US" sz="1550" b="1" dirty="0">
                <a:solidFill>
                  <a:srgbClr val="571D2B"/>
                </a:solidFill>
                <a:latin typeface="Arial" pitchFamily="34" charset="0"/>
                <a:ea typeface="Arial" pitchFamily="34" charset="-122"/>
                <a:cs typeface="Arial" pitchFamily="34" charset="-120"/>
              </a:rPr>
              <a:t>A reusable architecture—not a one-off word count</a:t>
            </a:r>
            <a:endParaRPr lang="en-US" sz="1550" dirty="0"/>
          </a:p>
        </p:txBody>
      </p:sp>
      <p:sp>
        <p:nvSpPr>
          <p:cNvPr id="9" name="Shape 6"/>
          <p:cNvSpPr/>
          <p:nvPr/>
        </p:nvSpPr>
        <p:spPr>
          <a:xfrm>
            <a:off x="8613648" y="1344168"/>
            <a:ext cx="2852928" cy="1042416"/>
          </a:xfrm>
          <a:prstGeom prst="roundRect">
            <a:avLst>
              <a:gd name="adj" fmla="val 7018"/>
            </a:avLst>
          </a:prstGeom>
          <a:solidFill>
            <a:srgbClr val="DCEFEB"/>
          </a:solidFill>
          <a:ln w="12700">
            <a:solidFill>
              <a:srgbClr val="2A8C82"/>
            </a:solidFill>
            <a:prstDash val="solid"/>
          </a:ln>
        </p:spPr>
      </p:sp>
      <p:sp>
        <p:nvSpPr>
          <p:cNvPr id="10" name="Text 7"/>
          <p:cNvSpPr txBox="1"/>
          <p:nvPr/>
        </p:nvSpPr>
        <p:spPr>
          <a:xfrm>
            <a:off x="8851392" y="1527048"/>
            <a:ext cx="2377440" cy="256032"/>
          </a:xfrm>
          <a:prstGeom prst="rect">
            <a:avLst/>
          </a:prstGeom>
          <a:noFill/>
          <a:ln/>
        </p:spPr>
        <p:txBody>
          <a:bodyPr wrap="square" lIns="0" tIns="0" rIns="0" bIns="0" rtlCol="0" anchor="ctr">
            <a:normAutofit/>
          </a:bodyPr>
          <a:lstStyle/>
          <a:p>
            <a:pPr algn="ctr" indent="0" marL="0">
              <a:buNone/>
            </a:pPr>
            <a:r>
              <a:rPr lang="en-US" sz="1150" b="1" spc="110" kern="0" dirty="0">
                <a:solidFill>
                  <a:srgbClr val="2A8C82"/>
                </a:solidFill>
                <a:latin typeface="Arial" pitchFamily="34" charset="0"/>
                <a:ea typeface="Arial" pitchFamily="34" charset="-122"/>
                <a:cs typeface="Arial" pitchFamily="34" charset="-120"/>
              </a:rPr>
              <a:t>SUPPORT</a:t>
            </a:r>
            <a:endParaRPr lang="en-US" sz="1150" dirty="0"/>
          </a:p>
        </p:txBody>
      </p:sp>
      <p:sp>
        <p:nvSpPr>
          <p:cNvPr id="11" name="Text 8"/>
          <p:cNvSpPr txBox="1"/>
          <p:nvPr/>
        </p:nvSpPr>
        <p:spPr>
          <a:xfrm>
            <a:off x="8851392" y="1837944"/>
            <a:ext cx="2377440" cy="256032"/>
          </a:xfrm>
          <a:prstGeom prst="rect">
            <a:avLst/>
          </a:prstGeom>
          <a:noFill/>
          <a:ln/>
        </p:spPr>
        <p:txBody>
          <a:bodyPr wrap="square" lIns="0" tIns="0" rIns="0" bIns="0" rtlCol="0" anchor="ctr">
            <a:normAutofit/>
          </a:bodyPr>
          <a:lstStyle/>
          <a:p>
            <a:pPr algn="ctr" indent="0" marL="0">
              <a:buNone/>
            </a:pPr>
            <a:r>
              <a:rPr lang="en-US" sz="1300" dirty="0">
                <a:solidFill>
                  <a:srgbClr val="405466"/>
                </a:solidFill>
                <a:latin typeface="Arial" pitchFamily="34" charset="0"/>
                <a:ea typeface="Arial" pitchFamily="34" charset="-122"/>
                <a:cs typeface="Arial" pitchFamily="34" charset="-120"/>
              </a:rPr>
              <a:t>supportive · neutral · opposed</a:t>
            </a:r>
            <a:endParaRPr lang="en-US" sz="1300" dirty="0"/>
          </a:p>
        </p:txBody>
      </p:sp>
      <p:sp>
        <p:nvSpPr>
          <p:cNvPr id="12" name="Shape 9"/>
          <p:cNvSpPr/>
          <p:nvPr/>
        </p:nvSpPr>
        <p:spPr>
          <a:xfrm>
            <a:off x="8613648" y="2660904"/>
            <a:ext cx="2852928" cy="1042416"/>
          </a:xfrm>
          <a:prstGeom prst="roundRect">
            <a:avLst>
              <a:gd name="adj" fmla="val 7018"/>
            </a:avLst>
          </a:prstGeom>
          <a:solidFill>
            <a:srgbClr val="E9E3F2"/>
          </a:solidFill>
          <a:ln w="12700">
            <a:solidFill>
              <a:srgbClr val="775DA6"/>
            </a:solidFill>
            <a:prstDash val="solid"/>
          </a:ln>
        </p:spPr>
      </p:sp>
      <p:sp>
        <p:nvSpPr>
          <p:cNvPr id="13" name="Text 10"/>
          <p:cNvSpPr txBox="1"/>
          <p:nvPr/>
        </p:nvSpPr>
        <p:spPr>
          <a:xfrm>
            <a:off x="8851392" y="2843784"/>
            <a:ext cx="2377440" cy="256032"/>
          </a:xfrm>
          <a:prstGeom prst="rect">
            <a:avLst/>
          </a:prstGeom>
          <a:noFill/>
          <a:ln/>
        </p:spPr>
        <p:txBody>
          <a:bodyPr wrap="square" lIns="0" tIns="0" rIns="0" bIns="0" rtlCol="0" anchor="ctr">
            <a:normAutofit/>
          </a:bodyPr>
          <a:lstStyle/>
          <a:p>
            <a:pPr algn="ctr" indent="0" marL="0">
              <a:buNone/>
            </a:pPr>
            <a:r>
              <a:rPr lang="en-US" sz="1150" b="1" spc="110" kern="0" dirty="0">
                <a:solidFill>
                  <a:srgbClr val="775DA6"/>
                </a:solidFill>
                <a:latin typeface="Arial" pitchFamily="34" charset="0"/>
                <a:ea typeface="Arial" pitchFamily="34" charset="-122"/>
                <a:cs typeface="Arial" pitchFamily="34" charset="-120"/>
              </a:rPr>
              <a:t>INTENSITY</a:t>
            </a:r>
            <a:endParaRPr lang="en-US" sz="1150" dirty="0"/>
          </a:p>
        </p:txBody>
      </p:sp>
      <p:sp>
        <p:nvSpPr>
          <p:cNvPr id="14" name="Text 11"/>
          <p:cNvSpPr txBox="1"/>
          <p:nvPr/>
        </p:nvSpPr>
        <p:spPr>
          <a:xfrm>
            <a:off x="8851392" y="3154680"/>
            <a:ext cx="2377440" cy="256032"/>
          </a:xfrm>
          <a:prstGeom prst="rect">
            <a:avLst/>
          </a:prstGeom>
          <a:noFill/>
          <a:ln/>
        </p:spPr>
        <p:txBody>
          <a:bodyPr wrap="square" lIns="0" tIns="0" rIns="0" bIns="0" rtlCol="0" anchor="ctr">
            <a:normAutofit/>
          </a:bodyPr>
          <a:lstStyle/>
          <a:p>
            <a:pPr algn="ctr" indent="0" marL="0">
              <a:buNone/>
            </a:pPr>
            <a:r>
              <a:rPr lang="en-US" sz="1300" dirty="0">
                <a:solidFill>
                  <a:srgbClr val="405466"/>
                </a:solidFill>
                <a:latin typeface="Arial" pitchFamily="34" charset="0"/>
                <a:ea typeface="Arial" pitchFamily="34" charset="-122"/>
                <a:cs typeface="Arial" pitchFamily="34" charset="-120"/>
              </a:rPr>
              <a:t>intense · dispassionate</a:t>
            </a:r>
            <a:endParaRPr lang="en-US" sz="1300" dirty="0"/>
          </a:p>
        </p:txBody>
      </p:sp>
      <p:sp>
        <p:nvSpPr>
          <p:cNvPr id="15" name="Shape 12"/>
          <p:cNvSpPr/>
          <p:nvPr/>
        </p:nvSpPr>
        <p:spPr>
          <a:xfrm>
            <a:off x="8613648" y="3977640"/>
            <a:ext cx="2852928" cy="1042416"/>
          </a:xfrm>
          <a:prstGeom prst="roundRect">
            <a:avLst>
              <a:gd name="adj" fmla="val 7018"/>
            </a:avLst>
          </a:prstGeom>
          <a:solidFill>
            <a:srgbClr val="F8E1E1"/>
          </a:solidFill>
          <a:ln w="12700">
            <a:solidFill>
              <a:srgbClr val="D65F5F"/>
            </a:solidFill>
            <a:prstDash val="solid"/>
          </a:ln>
        </p:spPr>
      </p:sp>
      <p:sp>
        <p:nvSpPr>
          <p:cNvPr id="16" name="Text 13"/>
          <p:cNvSpPr txBox="1"/>
          <p:nvPr/>
        </p:nvSpPr>
        <p:spPr>
          <a:xfrm>
            <a:off x="8851392" y="4160520"/>
            <a:ext cx="2377440" cy="256032"/>
          </a:xfrm>
          <a:prstGeom prst="rect">
            <a:avLst/>
          </a:prstGeom>
          <a:noFill/>
          <a:ln/>
        </p:spPr>
        <p:txBody>
          <a:bodyPr wrap="square" lIns="0" tIns="0" rIns="0" bIns="0" rtlCol="0" anchor="ctr">
            <a:normAutofit/>
          </a:bodyPr>
          <a:lstStyle/>
          <a:p>
            <a:pPr algn="ctr" indent="0" marL="0">
              <a:buNone/>
            </a:pPr>
            <a:r>
              <a:rPr lang="en-US" sz="1150" b="1" spc="110" kern="0" dirty="0">
                <a:solidFill>
                  <a:srgbClr val="D65F5F"/>
                </a:solidFill>
                <a:latin typeface="Arial" pitchFamily="34" charset="0"/>
                <a:ea typeface="Arial" pitchFamily="34" charset="-122"/>
                <a:cs typeface="Arial" pitchFamily="34" charset="-120"/>
              </a:rPr>
              <a:t>ANGER</a:t>
            </a:r>
            <a:endParaRPr lang="en-US" sz="1150" dirty="0"/>
          </a:p>
        </p:txBody>
      </p:sp>
      <p:sp>
        <p:nvSpPr>
          <p:cNvPr id="17" name="Text 14"/>
          <p:cNvSpPr txBox="1"/>
          <p:nvPr/>
        </p:nvSpPr>
        <p:spPr>
          <a:xfrm>
            <a:off x="8851392" y="4471416"/>
            <a:ext cx="2377440" cy="256032"/>
          </a:xfrm>
          <a:prstGeom prst="rect">
            <a:avLst/>
          </a:prstGeom>
          <a:noFill/>
          <a:ln/>
        </p:spPr>
        <p:txBody>
          <a:bodyPr wrap="square" lIns="0" tIns="0" rIns="0" bIns="0" rtlCol="0" anchor="ctr">
            <a:normAutofit/>
          </a:bodyPr>
          <a:lstStyle/>
          <a:p>
            <a:pPr algn="ctr" indent="0" marL="0">
              <a:buNone/>
            </a:pPr>
            <a:r>
              <a:rPr lang="en-US" sz="1300" dirty="0">
                <a:solidFill>
                  <a:srgbClr val="405466"/>
                </a:solidFill>
                <a:latin typeface="Arial" pitchFamily="34" charset="0"/>
                <a:ea typeface="Arial" pitchFamily="34" charset="-122"/>
                <a:cs typeface="Arial" pitchFamily="34" charset="-120"/>
              </a:rPr>
              <a:t>pleased · neutral · angry</a:t>
            </a:r>
            <a:endParaRPr lang="en-US" sz="1300" dirty="0"/>
          </a:p>
        </p:txBody>
      </p:sp>
      <p:sp>
        <p:nvSpPr>
          <p:cNvPr id="18" name="Shape 15"/>
          <p:cNvSpPr/>
          <p:nvPr/>
        </p:nvSpPr>
        <p:spPr>
          <a:xfrm>
            <a:off x="2990088" y="5852160"/>
            <a:ext cx="6199632" cy="475488"/>
          </a:xfrm>
          <a:prstGeom prst="roundRect">
            <a:avLst>
              <a:gd name="adj" fmla="val 15385"/>
            </a:avLst>
          </a:prstGeom>
          <a:solidFill>
            <a:srgbClr val="F4F2F3"/>
          </a:solidFill>
          <a:ln w="12700">
            <a:solidFill>
              <a:srgbClr val="E7E4E6"/>
            </a:solidFill>
            <a:prstDash val="solid"/>
          </a:ln>
        </p:spPr>
      </p:sp>
      <p:sp>
        <p:nvSpPr>
          <p:cNvPr id="19" name="Text 16"/>
          <p:cNvSpPr txBox="1"/>
          <p:nvPr/>
        </p:nvSpPr>
        <p:spPr>
          <a:xfrm>
            <a:off x="3227832" y="5934456"/>
            <a:ext cx="5742432" cy="274320"/>
          </a:xfrm>
          <a:prstGeom prst="rect">
            <a:avLst/>
          </a:prstGeom>
          <a:noFill/>
          <a:ln/>
        </p:spPr>
        <p:txBody>
          <a:bodyPr wrap="square" lIns="0" tIns="0" rIns="0" bIns="0" rtlCol="0" anchor="ctr">
            <a:normAutofit/>
          </a:bodyPr>
          <a:lstStyle/>
          <a:p>
            <a:pPr algn="ctr" indent="0" marL="0">
              <a:buNone/>
            </a:pPr>
            <a:r>
              <a:rPr lang="en-US" sz="1600" b="1" dirty="0">
                <a:solidFill>
                  <a:srgbClr val="242126"/>
                </a:solidFill>
                <a:latin typeface="Arial" pitchFamily="34" charset="0"/>
                <a:ea typeface="Arial" pitchFamily="34" charset="-122"/>
                <a:cs typeface="Arial" pitchFamily="34" charset="-120"/>
              </a:rPr>
              <a:t>The claim is about revealed public discourse—not private preferences.</a:t>
            </a:r>
            <a:endParaRPr lang="en-US" sz="1600" dirty="0"/>
          </a:p>
        </p:txBody>
      </p:sp>
      <p:sp>
        <p:nvSpPr>
          <p:cNvPr id="20" name="Text 17"/>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Figure 1 and pp. 14–16.</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VALIDATION</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Measurement is imperfect—but the errors are visible</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04088" y="1335024"/>
            <a:ext cx="3767328" cy="4498848"/>
          </a:xfrm>
          <a:prstGeom prst="roundRect">
            <a:avLst>
              <a:gd name="adj" fmla="val 1942"/>
            </a:avLst>
          </a:prstGeom>
          <a:solidFill>
            <a:srgbClr val="F4F2F3"/>
          </a:solidFill>
          <a:ln w="12700">
            <a:solidFill>
              <a:srgbClr val="E7E4E6"/>
            </a:solidFill>
            <a:prstDash val="solid"/>
          </a:ln>
        </p:spPr>
      </p:sp>
      <p:sp>
        <p:nvSpPr>
          <p:cNvPr id="7" name="Text 5"/>
          <p:cNvSpPr txBox="1"/>
          <p:nvPr/>
        </p:nvSpPr>
        <p:spPr>
          <a:xfrm>
            <a:off x="1014984" y="1627632"/>
            <a:ext cx="3136392" cy="365760"/>
          </a:xfrm>
          <a:prstGeom prst="rect">
            <a:avLst/>
          </a:prstGeom>
          <a:noFill/>
          <a:ln/>
        </p:spPr>
        <p:txBody>
          <a:bodyPr wrap="square" lIns="0" tIns="0" rIns="0" bIns="0" rtlCol="0" anchor="ctr">
            <a:normAutofit/>
          </a:bodyPr>
          <a:lstStyle/>
          <a:p>
            <a:pPr algn="ctr" indent="0" marL="0">
              <a:buNone/>
            </a:pPr>
            <a:r>
              <a:rPr lang="en-US" sz="2200" b="1" dirty="0">
                <a:solidFill>
                  <a:srgbClr val="242126"/>
                </a:solidFill>
                <a:latin typeface="Cambria" pitchFamily="34" charset="0"/>
                <a:ea typeface="Cambria" pitchFamily="34" charset="-122"/>
                <a:cs typeface="Cambria" pitchFamily="34" charset="-120"/>
              </a:rPr>
              <a:t>10-fold cross-validation</a:t>
            </a:r>
            <a:endParaRPr lang="en-US" sz="2200" dirty="0"/>
          </a:p>
        </p:txBody>
      </p:sp>
      <p:sp>
        <p:nvSpPr>
          <p:cNvPr id="8" name="Text 6"/>
          <p:cNvSpPr txBox="1"/>
          <p:nvPr/>
        </p:nvSpPr>
        <p:spPr>
          <a:xfrm>
            <a:off x="1005840" y="2185416"/>
            <a:ext cx="960120" cy="585216"/>
          </a:xfrm>
          <a:prstGeom prst="rect">
            <a:avLst/>
          </a:prstGeom>
          <a:noFill/>
          <a:ln/>
        </p:spPr>
        <p:txBody>
          <a:bodyPr wrap="square" lIns="0" tIns="0" rIns="0" bIns="0" rtlCol="0" anchor="ctr">
            <a:normAutofit/>
          </a:bodyPr>
          <a:lstStyle/>
          <a:p>
            <a:pPr algn="ctr" indent="0" marL="0">
              <a:buNone/>
            </a:pPr>
            <a:r>
              <a:rPr lang="en-US" sz="3500" b="1" dirty="0">
                <a:solidFill>
                  <a:srgbClr val="2A8C82"/>
                </a:solidFill>
                <a:latin typeface="Cambria" pitchFamily="34" charset="0"/>
                <a:ea typeface="Cambria" pitchFamily="34" charset="-122"/>
                <a:cs typeface="Cambria" pitchFamily="34" charset="-120"/>
              </a:rPr>
              <a:t>68%</a:t>
            </a:r>
            <a:endParaRPr lang="en-US" sz="3500" dirty="0"/>
          </a:p>
        </p:txBody>
      </p:sp>
      <p:sp>
        <p:nvSpPr>
          <p:cNvPr id="9" name="Text 7"/>
          <p:cNvSpPr txBox="1"/>
          <p:nvPr/>
        </p:nvSpPr>
        <p:spPr>
          <a:xfrm>
            <a:off x="1078992" y="2743200"/>
            <a:ext cx="813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support classification accuracy</a:t>
            </a:r>
            <a:endParaRPr lang="en-US" sz="1200" dirty="0"/>
          </a:p>
        </p:txBody>
      </p:sp>
      <p:sp>
        <p:nvSpPr>
          <p:cNvPr id="10" name="Text 8"/>
          <p:cNvSpPr txBox="1"/>
          <p:nvPr/>
        </p:nvSpPr>
        <p:spPr>
          <a:xfrm>
            <a:off x="2093976" y="2185416"/>
            <a:ext cx="960120" cy="585216"/>
          </a:xfrm>
          <a:prstGeom prst="rect">
            <a:avLst/>
          </a:prstGeom>
          <a:noFill/>
          <a:ln/>
        </p:spPr>
        <p:txBody>
          <a:bodyPr wrap="square" lIns="0" tIns="0" rIns="0" bIns="0" rtlCol="0" anchor="ctr">
            <a:normAutofit/>
          </a:bodyPr>
          <a:lstStyle/>
          <a:p>
            <a:pPr algn="ctr" indent="0" marL="0">
              <a:buNone/>
            </a:pPr>
            <a:r>
              <a:rPr lang="en-US" sz="3500" b="1" dirty="0">
                <a:solidFill>
                  <a:srgbClr val="775DA6"/>
                </a:solidFill>
                <a:latin typeface="Cambria" pitchFamily="34" charset="0"/>
                <a:ea typeface="Cambria" pitchFamily="34" charset="-122"/>
                <a:cs typeface="Cambria" pitchFamily="34" charset="-120"/>
              </a:rPr>
              <a:t>73%</a:t>
            </a:r>
            <a:endParaRPr lang="en-US" sz="3500" dirty="0"/>
          </a:p>
        </p:txBody>
      </p:sp>
      <p:sp>
        <p:nvSpPr>
          <p:cNvPr id="11" name="Text 9"/>
          <p:cNvSpPr txBox="1"/>
          <p:nvPr/>
        </p:nvSpPr>
        <p:spPr>
          <a:xfrm>
            <a:off x="2167128" y="2743200"/>
            <a:ext cx="813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intensity classification accuracy</a:t>
            </a:r>
            <a:endParaRPr lang="en-US" sz="1200" dirty="0"/>
          </a:p>
        </p:txBody>
      </p:sp>
      <p:sp>
        <p:nvSpPr>
          <p:cNvPr id="12" name="Text 10"/>
          <p:cNvSpPr txBox="1"/>
          <p:nvPr/>
        </p:nvSpPr>
        <p:spPr>
          <a:xfrm>
            <a:off x="3182112" y="2185416"/>
            <a:ext cx="960120" cy="585216"/>
          </a:xfrm>
          <a:prstGeom prst="rect">
            <a:avLst/>
          </a:prstGeom>
          <a:noFill/>
          <a:ln/>
        </p:spPr>
        <p:txBody>
          <a:bodyPr wrap="square" lIns="0" tIns="0" rIns="0" bIns="0" rtlCol="0" anchor="ctr">
            <a:normAutofit/>
          </a:bodyPr>
          <a:lstStyle/>
          <a:p>
            <a:pPr algn="ctr" indent="0" marL="0">
              <a:buNone/>
            </a:pPr>
            <a:r>
              <a:rPr lang="en-US" sz="3500" b="1" dirty="0">
                <a:solidFill>
                  <a:srgbClr val="D65F5F"/>
                </a:solidFill>
                <a:latin typeface="Cambria" pitchFamily="34" charset="0"/>
                <a:ea typeface="Cambria" pitchFamily="34" charset="-122"/>
                <a:cs typeface="Cambria" pitchFamily="34" charset="-120"/>
              </a:rPr>
              <a:t>69%</a:t>
            </a:r>
            <a:endParaRPr lang="en-US" sz="3500" dirty="0"/>
          </a:p>
        </p:txBody>
      </p:sp>
      <p:sp>
        <p:nvSpPr>
          <p:cNvPr id="13" name="Text 11"/>
          <p:cNvSpPr txBox="1"/>
          <p:nvPr/>
        </p:nvSpPr>
        <p:spPr>
          <a:xfrm>
            <a:off x="3255264" y="2743200"/>
            <a:ext cx="813816" cy="512064"/>
          </a:xfrm>
          <a:prstGeom prst="rect">
            <a:avLst/>
          </a:prstGeom>
          <a:noFill/>
          <a:ln/>
        </p:spPr>
        <p:txBody>
          <a:bodyPr wrap="square" lIns="0" tIns="0" rIns="0" bIns="0" rtlCol="0" anchor="t">
            <a:normAutofit/>
          </a:bodyPr>
          <a:lstStyle/>
          <a:p>
            <a:pPr algn="ctr" indent="0" marL="0">
              <a:buNone/>
            </a:pPr>
            <a:r>
              <a:rPr lang="en-US" sz="1200" dirty="0">
                <a:solidFill>
                  <a:srgbClr val="6F686D"/>
                </a:solidFill>
                <a:latin typeface="Arial" pitchFamily="34" charset="0"/>
                <a:ea typeface="Arial" pitchFamily="34" charset="-122"/>
                <a:cs typeface="Arial" pitchFamily="34" charset="-120"/>
              </a:rPr>
              <a:t>anger classification accuracy</a:t>
            </a:r>
            <a:endParaRPr lang="en-US" sz="1200" dirty="0"/>
          </a:p>
        </p:txBody>
      </p:sp>
      <p:sp>
        <p:nvSpPr>
          <p:cNvPr id="14" name="Shape 12"/>
          <p:cNvSpPr/>
          <p:nvPr/>
        </p:nvSpPr>
        <p:spPr>
          <a:xfrm>
            <a:off x="996696" y="3511296"/>
            <a:ext cx="3200400" cy="1508760"/>
          </a:xfrm>
          <a:prstGeom prst="roundRect">
            <a:avLst>
              <a:gd name="adj" fmla="val 4848"/>
            </a:avLst>
          </a:prstGeom>
          <a:solidFill>
            <a:srgbClr val="FFFFFF"/>
          </a:solidFill>
          <a:ln w="12700">
            <a:solidFill>
              <a:srgbClr val="E7E4E6"/>
            </a:solidFill>
            <a:prstDash val="solid"/>
          </a:ln>
        </p:spPr>
      </p:sp>
      <p:sp>
        <p:nvSpPr>
          <p:cNvPr id="15" name="Text 13"/>
          <p:cNvSpPr txBox="1"/>
          <p:nvPr/>
        </p:nvSpPr>
        <p:spPr>
          <a:xfrm>
            <a:off x="1252728" y="3703320"/>
            <a:ext cx="2688336" cy="256032"/>
          </a:xfrm>
          <a:prstGeom prst="rect">
            <a:avLst/>
          </a:prstGeom>
          <a:noFill/>
          <a:ln/>
        </p:spPr>
        <p:txBody>
          <a:bodyPr wrap="square" lIns="0" tIns="0" rIns="0" bIns="0" rtlCol="0" anchor="ctr">
            <a:normAutofit/>
          </a:bodyPr>
          <a:lstStyle/>
          <a:p>
            <a:pPr algn="l" indent="0" marL="0">
              <a:buNone/>
            </a:pPr>
            <a:r>
              <a:rPr lang="en-US" sz="1400" b="1" dirty="0">
                <a:solidFill>
                  <a:srgbClr val="2A8C82"/>
                </a:solidFill>
                <a:latin typeface="Arial" pitchFamily="34" charset="0"/>
                <a:ea typeface="Arial" pitchFamily="34" charset="-122"/>
                <a:cs typeface="Arial" pitchFamily="34" charset="-120"/>
              </a:rPr>
              <a:t>What works best</a:t>
            </a:r>
            <a:endParaRPr lang="en-US" sz="1400" dirty="0"/>
          </a:p>
        </p:txBody>
      </p:sp>
      <p:sp>
        <p:nvSpPr>
          <p:cNvPr id="16" name="Text 14"/>
          <p:cNvSpPr txBox="1"/>
          <p:nvPr/>
        </p:nvSpPr>
        <p:spPr>
          <a:xfrm>
            <a:off x="1252728" y="4005072"/>
            <a:ext cx="2688336" cy="493776"/>
          </a:xfrm>
          <a:prstGeom prst="rect">
            <a:avLst/>
          </a:prstGeom>
          <a:noFill/>
          <a:ln/>
        </p:spPr>
        <p:txBody>
          <a:bodyPr wrap="square" lIns="0" tIns="0" rIns="0" bIns="0" rtlCol="0" anchor="t">
            <a:normAutofit/>
          </a:bodyPr>
          <a:lstStyle/>
          <a:p>
            <a:pPr algn="l" indent="0" marL="0">
              <a:buNone/>
            </a:pPr>
            <a:r>
              <a:rPr lang="en-US" sz="1420" dirty="0">
                <a:solidFill>
                  <a:srgbClr val="405466"/>
                </a:solidFill>
                <a:latin typeface="Arial" pitchFamily="34" charset="0"/>
                <a:ea typeface="Arial" pitchFamily="34" charset="-122"/>
                <a:cs typeface="Arial" pitchFamily="34" charset="-120"/>
              </a:rPr>
              <a:t>Supportive and neutral tweets; intense versus dispassionate speech.</a:t>
            </a:r>
            <a:endParaRPr lang="en-US" sz="1420" dirty="0"/>
          </a:p>
        </p:txBody>
      </p:sp>
      <p:sp>
        <p:nvSpPr>
          <p:cNvPr id="17" name="Text 15"/>
          <p:cNvSpPr txBox="1"/>
          <p:nvPr/>
        </p:nvSpPr>
        <p:spPr>
          <a:xfrm>
            <a:off x="1252728" y="4544568"/>
            <a:ext cx="2688336" cy="237744"/>
          </a:xfrm>
          <a:prstGeom prst="rect">
            <a:avLst/>
          </a:prstGeom>
          <a:noFill/>
          <a:ln/>
        </p:spPr>
        <p:txBody>
          <a:bodyPr wrap="square" lIns="0" tIns="0" rIns="0" bIns="0" rtlCol="0" anchor="ctr">
            <a:normAutofit/>
          </a:bodyPr>
          <a:lstStyle/>
          <a:p>
            <a:pPr algn="l" indent="0" marL="0">
              <a:buNone/>
            </a:pPr>
            <a:r>
              <a:rPr lang="en-US" sz="1400" b="1" dirty="0">
                <a:solidFill>
                  <a:srgbClr val="D65F5F"/>
                </a:solidFill>
                <a:latin typeface="Arial" pitchFamily="34" charset="0"/>
                <a:ea typeface="Arial" pitchFamily="34" charset="-122"/>
                <a:cs typeface="Arial" pitchFamily="34" charset="-120"/>
              </a:rPr>
              <a:t>Harder cases</a:t>
            </a:r>
            <a:endParaRPr lang="en-US" sz="1400" dirty="0"/>
          </a:p>
        </p:txBody>
      </p:sp>
      <p:sp>
        <p:nvSpPr>
          <p:cNvPr id="18" name="Text 16"/>
          <p:cNvSpPr txBox="1"/>
          <p:nvPr/>
        </p:nvSpPr>
        <p:spPr>
          <a:xfrm>
            <a:off x="1252728" y="4809744"/>
            <a:ext cx="2688336" cy="292608"/>
          </a:xfrm>
          <a:prstGeom prst="rect">
            <a:avLst/>
          </a:prstGeom>
          <a:noFill/>
          <a:ln/>
        </p:spPr>
        <p:txBody>
          <a:bodyPr wrap="square" lIns="0" tIns="0" rIns="0" bIns="0" rtlCol="0" anchor="ctr">
            <a:normAutofit/>
          </a:bodyPr>
          <a:lstStyle/>
          <a:p>
            <a:pPr algn="l" indent="0" marL="0">
              <a:buNone/>
            </a:pPr>
            <a:r>
              <a:rPr lang="en-US" sz="1420" dirty="0">
                <a:solidFill>
                  <a:srgbClr val="405466"/>
                </a:solidFill>
                <a:latin typeface="Arial" pitchFamily="34" charset="0"/>
                <a:ea typeface="Arial" pitchFamily="34" charset="-122"/>
                <a:cs typeface="Arial" pitchFamily="34" charset="-120"/>
              </a:rPr>
              <a:t>Rare opposition and anger categories.</a:t>
            </a:r>
            <a:endParaRPr lang="en-US" sz="1420" dirty="0"/>
          </a:p>
        </p:txBody>
      </p:sp>
      <p:sp>
        <p:nvSpPr>
          <p:cNvPr id="19" name="Shape 17"/>
          <p:cNvSpPr/>
          <p:nvPr/>
        </p:nvSpPr>
        <p:spPr>
          <a:xfrm>
            <a:off x="4846320" y="1335024"/>
            <a:ext cx="6638544" cy="4498848"/>
          </a:xfrm>
          <a:prstGeom prst="roundRect">
            <a:avLst>
              <a:gd name="adj" fmla="val 1626"/>
            </a:avLst>
          </a:prstGeom>
          <a:solidFill>
            <a:srgbClr val="FFFFFF"/>
          </a:solidFill>
          <a:ln w="12700">
            <a:solidFill>
              <a:srgbClr val="E7E4E6"/>
            </a:solidFill>
            <a:prstDash val="solid"/>
          </a:ln>
          <a:effectLst>
            <a:outerShdw sx="100000" sy="100000" kx="0" ky="0" algn="bl" rotWithShape="0" blurRad="19050" dist="50800" dir="2700000">
              <a:srgbClr val="000000">
                <a:alpha val="12000"/>
              </a:srgbClr>
            </a:outerShdw>
          </a:effectLst>
        </p:spPr>
      </p:sp>
      <p:pic>
        <p:nvPicPr>
          <p:cNvPr id="20" name="Image 0" descr="/Users/tsclark/Documents/GitHub/website/presentations/assets/figure-2-classifier-validation.png">    </p:cNvPr>
          <p:cNvPicPr>
            <a:picLocks noChangeAspect="1"/>
          </p:cNvPicPr>
          <p:nvPr/>
        </p:nvPicPr>
        <p:blipFill>
          <a:blip r:embed="rId1"/>
          <a:stretch>
            <a:fillRect/>
          </a:stretch>
        </p:blipFill>
        <p:spPr>
          <a:xfrm>
            <a:off x="5820116" y="1627632"/>
            <a:ext cx="4690953" cy="3419856"/>
          </a:xfrm>
          <a:prstGeom prst="rect">
            <a:avLst/>
          </a:prstGeom>
        </p:spPr>
      </p:pic>
      <p:sp>
        <p:nvSpPr>
          <p:cNvPr id="21" name="Text 18"/>
          <p:cNvSpPr txBox="1"/>
          <p:nvPr/>
        </p:nvSpPr>
        <p:spPr>
          <a:xfrm>
            <a:off x="5385816" y="5102352"/>
            <a:ext cx="5532120" cy="310896"/>
          </a:xfrm>
          <a:prstGeom prst="rect">
            <a:avLst/>
          </a:prstGeom>
          <a:noFill/>
          <a:ln/>
        </p:spPr>
        <p:txBody>
          <a:bodyPr wrap="square" lIns="0" tIns="0" rIns="0" bIns="0" rtlCol="0" anchor="ctr">
            <a:normAutofit/>
          </a:bodyPr>
          <a:lstStyle/>
          <a:p>
            <a:pPr algn="ctr" indent="0" marL="0">
              <a:buNone/>
            </a:pPr>
            <a:r>
              <a:rPr lang="en-US" sz="1550" b="1" dirty="0">
                <a:solidFill>
                  <a:srgbClr val="571D2B"/>
                </a:solidFill>
                <a:latin typeface="Arial" pitchFamily="34" charset="0"/>
                <a:ea typeface="Arial" pitchFamily="34" charset="-122"/>
                <a:cs typeface="Arial" pitchFamily="34" charset="-120"/>
              </a:rPr>
              <a:t>Daily classifier estimates track the hand-coded series</a:t>
            </a:r>
            <a:endParaRPr lang="en-US" sz="1550" dirty="0"/>
          </a:p>
        </p:txBody>
      </p:sp>
      <p:sp>
        <p:nvSpPr>
          <p:cNvPr id="22" name="Text 19"/>
          <p:cNvSpPr txBox="1"/>
          <p:nvPr/>
        </p:nvSpPr>
        <p:spPr>
          <a:xfrm>
            <a:off x="1133856" y="6044184"/>
            <a:ext cx="9976104" cy="320040"/>
          </a:xfrm>
          <a:prstGeom prst="rect">
            <a:avLst/>
          </a:prstGeom>
          <a:noFill/>
          <a:ln/>
        </p:spPr>
        <p:txBody>
          <a:bodyPr wrap="square" lIns="0" tIns="0" rIns="0" bIns="0" rtlCol="0" anchor="ctr">
            <a:normAutofit/>
          </a:bodyPr>
          <a:lstStyle/>
          <a:p>
            <a:pPr algn="ctr" indent="0" marL="0">
              <a:buNone/>
            </a:pPr>
            <a:r>
              <a:rPr lang="en-US" sz="1750" b="1" dirty="0">
                <a:solidFill>
                  <a:srgbClr val="242126"/>
                </a:solidFill>
                <a:latin typeface="Arial" pitchFamily="34" charset="0"/>
                <a:ea typeface="Arial" pitchFamily="34" charset="-122"/>
                <a:cs typeface="Arial" pitchFamily="34" charset="-120"/>
              </a:rPr>
              <a:t>The main inference relies on patterns and contrasts—not on pretending each label is error-free.</a:t>
            </a:r>
            <a:endParaRPr lang="en-US" sz="1750" dirty="0"/>
          </a:p>
        </p:txBody>
      </p:sp>
      <p:sp>
        <p:nvSpPr>
          <p:cNvPr id="23" name="Text 20"/>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Table 2 and Figure 2.</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VALIDATION</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Follower networks recover ideology—but ideology is not issue position</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31520" y="1335024"/>
            <a:ext cx="5897880" cy="4489704"/>
          </a:xfrm>
          <a:prstGeom prst="roundRect">
            <a:avLst>
              <a:gd name="adj" fmla="val 1629"/>
            </a:avLst>
          </a:prstGeom>
          <a:solidFill>
            <a:srgbClr val="FFFFFF"/>
          </a:solidFill>
          <a:ln w="12700">
            <a:solidFill>
              <a:srgbClr val="E7E4E6"/>
            </a:solidFill>
            <a:prstDash val="solid"/>
          </a:ln>
          <a:effectLst>
            <a:outerShdw sx="100000" sy="100000" kx="0" ky="0" algn="bl" rotWithShape="0" blurRad="19050" dist="50800" dir="2700000">
              <a:srgbClr val="000000">
                <a:alpha val="12000"/>
              </a:srgbClr>
            </a:outerShdw>
          </a:effectLst>
        </p:spPr>
      </p:sp>
      <p:pic>
        <p:nvPicPr>
          <p:cNvPr id="7" name="Image 0" descr="/Users/tsclark/Documents/GitHub/website/presentations/assets/figure-4-ideology-validation.png">    </p:cNvPr>
          <p:cNvPicPr>
            <a:picLocks noChangeAspect="1"/>
          </p:cNvPicPr>
          <p:nvPr/>
        </p:nvPicPr>
        <p:blipFill>
          <a:blip r:embed="rId1"/>
          <a:stretch>
            <a:fillRect/>
          </a:stretch>
        </p:blipFill>
        <p:spPr>
          <a:xfrm>
            <a:off x="2299029" y="1517904"/>
            <a:ext cx="2762862" cy="3950208"/>
          </a:xfrm>
          <a:prstGeom prst="rect">
            <a:avLst/>
          </a:prstGeom>
        </p:spPr>
      </p:pic>
      <p:sp>
        <p:nvSpPr>
          <p:cNvPr id="8" name="Shape 5"/>
          <p:cNvSpPr/>
          <p:nvPr/>
        </p:nvSpPr>
        <p:spPr>
          <a:xfrm>
            <a:off x="7022592" y="1335024"/>
            <a:ext cx="4453128" cy="1060704"/>
          </a:xfrm>
          <a:prstGeom prst="roundRect">
            <a:avLst>
              <a:gd name="adj" fmla="val 6897"/>
            </a:avLst>
          </a:prstGeom>
          <a:solidFill>
            <a:srgbClr val="E9E3F2"/>
          </a:solidFill>
          <a:ln w="12700">
            <a:solidFill>
              <a:srgbClr val="775DA6"/>
            </a:solidFill>
            <a:prstDash val="solid"/>
          </a:ln>
        </p:spPr>
      </p:sp>
      <p:sp>
        <p:nvSpPr>
          <p:cNvPr id="9" name="Text 6"/>
          <p:cNvSpPr txBox="1"/>
          <p:nvPr/>
        </p:nvSpPr>
        <p:spPr>
          <a:xfrm>
            <a:off x="7306056" y="1517904"/>
            <a:ext cx="3858768" cy="256032"/>
          </a:xfrm>
          <a:prstGeom prst="rect">
            <a:avLst/>
          </a:prstGeom>
          <a:noFill/>
          <a:ln/>
        </p:spPr>
        <p:txBody>
          <a:bodyPr wrap="square" lIns="0" tIns="0" rIns="0" bIns="0" rtlCol="0" anchor="ctr">
            <a:normAutofit/>
          </a:bodyPr>
          <a:lstStyle/>
          <a:p>
            <a:pPr algn="l" indent="0" marL="0">
              <a:buNone/>
            </a:pPr>
            <a:r>
              <a:rPr lang="en-US" sz="1800" b="1" dirty="0">
                <a:solidFill>
                  <a:srgbClr val="775DA6"/>
                </a:solidFill>
                <a:latin typeface="Cambria" pitchFamily="34" charset="0"/>
                <a:ea typeface="Cambria" pitchFamily="34" charset="-122"/>
                <a:cs typeface="Cambria" pitchFamily="34" charset="-120"/>
              </a:rPr>
              <a:t>1. Infer latent distance</a:t>
            </a:r>
            <a:endParaRPr lang="en-US" sz="1800" dirty="0"/>
          </a:p>
        </p:txBody>
      </p:sp>
      <p:sp>
        <p:nvSpPr>
          <p:cNvPr id="10" name="Text 7"/>
          <p:cNvSpPr txBox="1"/>
          <p:nvPr/>
        </p:nvSpPr>
        <p:spPr>
          <a:xfrm>
            <a:off x="7306056" y="1819656"/>
            <a:ext cx="3858768" cy="402336"/>
          </a:xfrm>
          <a:prstGeom prst="rect">
            <a:avLst/>
          </a:prstGeom>
          <a:noFill/>
          <a:ln/>
        </p:spPr>
        <p:txBody>
          <a:bodyPr wrap="square" lIns="0" tIns="0" rIns="0" bIns="0" rtlCol="0" anchor="t">
            <a:normAutofit/>
          </a:bodyPr>
          <a:lstStyle/>
          <a:p>
            <a:pPr algn="l" indent="0" marL="0">
              <a:buNone/>
            </a:pPr>
            <a:r>
              <a:rPr lang="en-US" sz="1380" dirty="0">
                <a:solidFill>
                  <a:srgbClr val="405466"/>
                </a:solidFill>
                <a:latin typeface="Arial" pitchFamily="34" charset="0"/>
                <a:ea typeface="Arial" pitchFamily="34" charset="-122"/>
                <a:cs typeface="Arial" pitchFamily="34" charset="-120"/>
              </a:rPr>
              <a:t>People are less likely to follow accounts far from them in ideological space.</a:t>
            </a:r>
            <a:endParaRPr lang="en-US" sz="1380" dirty="0"/>
          </a:p>
        </p:txBody>
      </p:sp>
      <p:sp>
        <p:nvSpPr>
          <p:cNvPr id="11" name="Shape 8"/>
          <p:cNvSpPr/>
          <p:nvPr/>
        </p:nvSpPr>
        <p:spPr>
          <a:xfrm>
            <a:off x="7022592" y="2660904"/>
            <a:ext cx="4453128" cy="1060704"/>
          </a:xfrm>
          <a:prstGeom prst="roundRect">
            <a:avLst>
              <a:gd name="adj" fmla="val 6897"/>
            </a:avLst>
          </a:prstGeom>
          <a:solidFill>
            <a:srgbClr val="DCEFEB"/>
          </a:solidFill>
          <a:ln w="12700">
            <a:solidFill>
              <a:srgbClr val="2A8C82"/>
            </a:solidFill>
            <a:prstDash val="solid"/>
          </a:ln>
        </p:spPr>
      </p:sp>
      <p:sp>
        <p:nvSpPr>
          <p:cNvPr id="12" name="Text 9"/>
          <p:cNvSpPr txBox="1"/>
          <p:nvPr/>
        </p:nvSpPr>
        <p:spPr>
          <a:xfrm>
            <a:off x="7306056" y="2843784"/>
            <a:ext cx="3858768" cy="256032"/>
          </a:xfrm>
          <a:prstGeom prst="rect">
            <a:avLst/>
          </a:prstGeom>
          <a:noFill/>
          <a:ln/>
        </p:spPr>
        <p:txBody>
          <a:bodyPr wrap="square" lIns="0" tIns="0" rIns="0" bIns="0" rtlCol="0" anchor="ctr">
            <a:normAutofit/>
          </a:bodyPr>
          <a:lstStyle/>
          <a:p>
            <a:pPr algn="l" indent="0" marL="0">
              <a:buNone/>
            </a:pPr>
            <a:r>
              <a:rPr lang="en-US" sz="1800" b="1" dirty="0">
                <a:solidFill>
                  <a:srgbClr val="2A8C82"/>
                </a:solidFill>
                <a:latin typeface="Cambria" pitchFamily="34" charset="0"/>
                <a:ea typeface="Cambria" pitchFamily="34" charset="-122"/>
                <a:cs typeface="Cambria" pitchFamily="34" charset="-120"/>
              </a:rPr>
              <a:t>2. Validate against profiles</a:t>
            </a:r>
            <a:endParaRPr lang="en-US" sz="1800" dirty="0"/>
          </a:p>
        </p:txBody>
      </p:sp>
      <p:sp>
        <p:nvSpPr>
          <p:cNvPr id="13" name="Text 10"/>
          <p:cNvSpPr txBox="1"/>
          <p:nvPr/>
        </p:nvSpPr>
        <p:spPr>
          <a:xfrm>
            <a:off x="7306056" y="3145536"/>
            <a:ext cx="3858768" cy="402336"/>
          </a:xfrm>
          <a:prstGeom prst="rect">
            <a:avLst/>
          </a:prstGeom>
          <a:noFill/>
          <a:ln/>
        </p:spPr>
        <p:txBody>
          <a:bodyPr wrap="square" lIns="0" tIns="0" rIns="0" bIns="0" rtlCol="0" anchor="t">
            <a:normAutofit/>
          </a:bodyPr>
          <a:lstStyle/>
          <a:p>
            <a:pPr algn="l" indent="0" marL="0">
              <a:buNone/>
            </a:pPr>
            <a:r>
              <a:rPr lang="en-US" sz="1380" dirty="0">
                <a:solidFill>
                  <a:srgbClr val="405466"/>
                </a:solidFill>
                <a:latin typeface="Arial" pitchFamily="34" charset="0"/>
                <a:ea typeface="Arial" pitchFamily="34" charset="-122"/>
                <a:cs typeface="Arial" pitchFamily="34" charset="-120"/>
              </a:rPr>
              <a:t>Self-described liberals and conservatives separate strongly on the recovered scale.</a:t>
            </a:r>
            <a:endParaRPr lang="en-US" sz="1380" dirty="0"/>
          </a:p>
        </p:txBody>
      </p:sp>
      <p:sp>
        <p:nvSpPr>
          <p:cNvPr id="14" name="Shape 11"/>
          <p:cNvSpPr/>
          <p:nvPr/>
        </p:nvSpPr>
        <p:spPr>
          <a:xfrm>
            <a:off x="7022592" y="3986784"/>
            <a:ext cx="4453128" cy="1060704"/>
          </a:xfrm>
          <a:prstGeom prst="roundRect">
            <a:avLst>
              <a:gd name="adj" fmla="val 6897"/>
            </a:avLst>
          </a:prstGeom>
          <a:solidFill>
            <a:srgbClr val="F8E1E1"/>
          </a:solidFill>
          <a:ln w="12700">
            <a:solidFill>
              <a:srgbClr val="D65F5F"/>
            </a:solidFill>
            <a:prstDash val="solid"/>
          </a:ln>
        </p:spPr>
      </p:sp>
      <p:sp>
        <p:nvSpPr>
          <p:cNvPr id="15" name="Text 12"/>
          <p:cNvSpPr txBox="1"/>
          <p:nvPr/>
        </p:nvSpPr>
        <p:spPr>
          <a:xfrm>
            <a:off x="7306056" y="4169664"/>
            <a:ext cx="3858768" cy="256032"/>
          </a:xfrm>
          <a:prstGeom prst="rect">
            <a:avLst/>
          </a:prstGeom>
          <a:noFill/>
          <a:ln/>
        </p:spPr>
        <p:txBody>
          <a:bodyPr wrap="square" lIns="0" tIns="0" rIns="0" bIns="0" rtlCol="0" anchor="ctr">
            <a:normAutofit/>
          </a:bodyPr>
          <a:lstStyle/>
          <a:p>
            <a:pPr algn="l" indent="0" marL="0">
              <a:buNone/>
            </a:pPr>
            <a:r>
              <a:rPr lang="en-US" sz="1800" b="1" dirty="0">
                <a:solidFill>
                  <a:srgbClr val="D65F5F"/>
                </a:solidFill>
                <a:latin typeface="Cambria" pitchFamily="34" charset="0"/>
                <a:ea typeface="Cambria" pitchFamily="34" charset="-122"/>
                <a:cs typeface="Cambria" pitchFamily="34" charset="-120"/>
              </a:rPr>
              <a:t>3. Keep the concepts distinct</a:t>
            </a:r>
            <a:endParaRPr lang="en-US" sz="1800" dirty="0"/>
          </a:p>
        </p:txBody>
      </p:sp>
      <p:sp>
        <p:nvSpPr>
          <p:cNvPr id="16" name="Text 13"/>
          <p:cNvSpPr txBox="1"/>
          <p:nvPr/>
        </p:nvSpPr>
        <p:spPr>
          <a:xfrm>
            <a:off x="7306056" y="4471416"/>
            <a:ext cx="3858768" cy="402336"/>
          </a:xfrm>
          <a:prstGeom prst="rect">
            <a:avLst/>
          </a:prstGeom>
          <a:noFill/>
          <a:ln/>
        </p:spPr>
        <p:txBody>
          <a:bodyPr wrap="square" lIns="0" tIns="0" rIns="0" bIns="0" rtlCol="0" anchor="t">
            <a:normAutofit/>
          </a:bodyPr>
          <a:lstStyle/>
          <a:p>
            <a:pPr algn="l" indent="0" marL="0">
              <a:buNone/>
            </a:pPr>
            <a:r>
              <a:rPr lang="en-US" sz="1380" dirty="0">
                <a:solidFill>
                  <a:srgbClr val="405466"/>
                </a:solidFill>
                <a:latin typeface="Arial" pitchFamily="34" charset="0"/>
                <a:ea typeface="Arial" pitchFamily="34" charset="-122"/>
                <a:cs typeface="Arial" pitchFamily="34" charset="-120"/>
              </a:rPr>
              <a:t>General ideology and prior support for marriage equality need not sort the same people.</a:t>
            </a:r>
            <a:endParaRPr lang="en-US" sz="1380" dirty="0"/>
          </a:p>
        </p:txBody>
      </p:sp>
      <p:sp>
        <p:nvSpPr>
          <p:cNvPr id="17" name="Text 14"/>
          <p:cNvSpPr txBox="1"/>
          <p:nvPr/>
        </p:nvSpPr>
        <p:spPr>
          <a:xfrm>
            <a:off x="7196328" y="5596128"/>
            <a:ext cx="4133088" cy="411480"/>
          </a:xfrm>
          <a:prstGeom prst="rect">
            <a:avLst/>
          </a:prstGeom>
          <a:noFill/>
          <a:ln/>
        </p:spPr>
        <p:txBody>
          <a:bodyPr wrap="square" lIns="0" tIns="0" rIns="0" bIns="0" rtlCol="0" anchor="ctr">
            <a:normAutofit/>
          </a:bodyPr>
          <a:lstStyle/>
          <a:p>
            <a:pPr algn="ctr" indent="0" marL="0">
              <a:buNone/>
            </a:pPr>
            <a:r>
              <a:rPr lang="en-US" sz="1800" b="1" dirty="0">
                <a:solidFill>
                  <a:srgbClr val="571D2B"/>
                </a:solidFill>
                <a:latin typeface="Arial" pitchFamily="34" charset="0"/>
                <a:ea typeface="Arial" pitchFamily="34" charset="-122"/>
                <a:cs typeface="Arial" pitchFamily="34" charset="-120"/>
              </a:rPr>
              <a:t>That distinction becomes the central empirical result.</a:t>
            </a:r>
            <a:endParaRPr lang="en-US" sz="1800" dirty="0"/>
          </a:p>
        </p:txBody>
      </p:sp>
      <p:sp>
        <p:nvSpPr>
          <p:cNvPr id="18" name="Text 15"/>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Figure 4 and pp. 20–23.</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FINDING 1</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No aggregate movement toward the Court’s policy</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58952" y="1417320"/>
            <a:ext cx="5074920" cy="3593592"/>
          </a:xfrm>
          <a:prstGeom prst="roundRect">
            <a:avLst>
              <a:gd name="adj" fmla="val 2036"/>
            </a:avLst>
          </a:prstGeom>
          <a:solidFill>
            <a:srgbClr val="F4F2F3"/>
          </a:solidFill>
          <a:ln w="12700">
            <a:solidFill>
              <a:srgbClr val="E7E4E6"/>
            </a:solidFill>
            <a:prstDash val="solid"/>
          </a:ln>
        </p:spPr>
      </p:sp>
      <p:sp>
        <p:nvSpPr>
          <p:cNvPr id="7" name="Shape 5"/>
          <p:cNvSpPr/>
          <p:nvPr/>
        </p:nvSpPr>
        <p:spPr>
          <a:xfrm>
            <a:off x="1078992" y="1746504"/>
            <a:ext cx="1481328" cy="310896"/>
          </a:xfrm>
          <a:prstGeom prst="roundRect">
            <a:avLst>
              <a:gd name="adj" fmla="val 44118"/>
            </a:avLst>
          </a:prstGeom>
          <a:solidFill>
            <a:srgbClr val="571D2B"/>
          </a:solidFill>
          <a:ln w="12700">
            <a:solidFill>
              <a:srgbClr val="571D2B"/>
            </a:solidFill>
            <a:prstDash val="solid"/>
          </a:ln>
        </p:spPr>
      </p:sp>
      <p:sp>
        <p:nvSpPr>
          <p:cNvPr id="8" name="Text 6"/>
          <p:cNvSpPr txBox="1"/>
          <p:nvPr/>
        </p:nvSpPr>
        <p:spPr>
          <a:xfrm>
            <a:off x="1152144" y="1755648"/>
            <a:ext cx="1335024"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DAILY STREAM</a:t>
            </a:r>
            <a:endParaRPr lang="en-US" sz="1100" dirty="0"/>
          </a:p>
        </p:txBody>
      </p:sp>
      <p:sp>
        <p:nvSpPr>
          <p:cNvPr id="9" name="Text 7"/>
          <p:cNvSpPr txBox="1"/>
          <p:nvPr/>
        </p:nvSpPr>
        <p:spPr>
          <a:xfrm>
            <a:off x="1124712" y="2359152"/>
            <a:ext cx="1508760" cy="713232"/>
          </a:xfrm>
          <a:prstGeom prst="rect">
            <a:avLst/>
          </a:prstGeom>
          <a:noFill/>
          <a:ln/>
        </p:spPr>
        <p:txBody>
          <a:bodyPr wrap="square" lIns="0" tIns="0" rIns="0" bIns="0" rtlCol="0" anchor="ctr">
            <a:normAutofit/>
          </a:bodyPr>
          <a:lstStyle/>
          <a:p>
            <a:pPr algn="ctr" indent="0" marL="0">
              <a:buNone/>
            </a:pPr>
            <a:r>
              <a:rPr lang="en-US" sz="4400" b="1" dirty="0">
                <a:solidFill>
                  <a:srgbClr val="242126"/>
                </a:solidFill>
                <a:latin typeface="Cambria" pitchFamily="34" charset="0"/>
                <a:ea typeface="Cambria" pitchFamily="34" charset="-122"/>
                <a:cs typeface="Cambria" pitchFamily="34" charset="-120"/>
              </a:rPr>
              <a:t>1.68</a:t>
            </a:r>
            <a:endParaRPr lang="en-US" sz="4400" dirty="0"/>
          </a:p>
        </p:txBody>
      </p:sp>
      <p:sp>
        <p:nvSpPr>
          <p:cNvPr id="10" name="Text 8"/>
          <p:cNvSpPr txBox="1"/>
          <p:nvPr/>
        </p:nvSpPr>
        <p:spPr>
          <a:xfrm>
            <a:off x="1444752" y="3017520"/>
            <a:ext cx="868680" cy="274320"/>
          </a:xfrm>
          <a:prstGeom prst="rect">
            <a:avLst/>
          </a:prstGeom>
          <a:noFill/>
          <a:ln/>
        </p:spPr>
        <p:txBody>
          <a:bodyPr wrap="square" lIns="0" tIns="0" rIns="0" bIns="0" rtlCol="0" anchor="ctr">
            <a:normAutofit/>
          </a:bodyPr>
          <a:lstStyle/>
          <a:p>
            <a:pPr algn="ctr" indent="0" marL="0">
              <a:buNone/>
            </a:pPr>
            <a:r>
              <a:rPr lang="en-US" sz="1250" dirty="0">
                <a:solidFill>
                  <a:srgbClr val="6F686D"/>
                </a:solidFill>
                <a:latin typeface="Arial" pitchFamily="34" charset="0"/>
                <a:ea typeface="Arial" pitchFamily="34" charset="-122"/>
                <a:cs typeface="Arial" pitchFamily="34" charset="-120"/>
              </a:rPr>
              <a:t>before</a:t>
            </a:r>
            <a:endParaRPr lang="en-US" sz="1250" dirty="0"/>
          </a:p>
        </p:txBody>
      </p:sp>
      <p:sp>
        <p:nvSpPr>
          <p:cNvPr id="11" name="Shape 9"/>
          <p:cNvSpPr/>
          <p:nvPr/>
        </p:nvSpPr>
        <p:spPr>
          <a:xfrm>
            <a:off x="2834640" y="2761488"/>
            <a:ext cx="685800" cy="0"/>
          </a:xfrm>
          <a:prstGeom prst="line">
            <a:avLst/>
          </a:prstGeom>
          <a:noFill/>
          <a:ln w="38100">
            <a:solidFill>
              <a:srgbClr val="D65F5F"/>
            </a:solidFill>
            <a:prstDash val="solid"/>
            <a:tailEnd type="triangle"/>
          </a:ln>
        </p:spPr>
      </p:sp>
      <p:sp>
        <p:nvSpPr>
          <p:cNvPr id="12" name="Text 10"/>
          <p:cNvSpPr txBox="1"/>
          <p:nvPr/>
        </p:nvSpPr>
        <p:spPr>
          <a:xfrm>
            <a:off x="3794760" y="2359152"/>
            <a:ext cx="1508760" cy="713232"/>
          </a:xfrm>
          <a:prstGeom prst="rect">
            <a:avLst/>
          </a:prstGeom>
          <a:noFill/>
          <a:ln/>
        </p:spPr>
        <p:txBody>
          <a:bodyPr wrap="square" lIns="0" tIns="0" rIns="0" bIns="0" rtlCol="0" anchor="ctr">
            <a:normAutofit/>
          </a:bodyPr>
          <a:lstStyle/>
          <a:p>
            <a:pPr algn="ctr" indent="0" marL="0">
              <a:buNone/>
            </a:pPr>
            <a:r>
              <a:rPr lang="en-US" sz="4400" b="1" dirty="0">
                <a:solidFill>
                  <a:srgbClr val="D65F5F"/>
                </a:solidFill>
                <a:latin typeface="Cambria" pitchFamily="34" charset="0"/>
                <a:ea typeface="Cambria" pitchFamily="34" charset="-122"/>
                <a:cs typeface="Cambria" pitchFamily="34" charset="-120"/>
              </a:rPr>
              <a:t>1.56</a:t>
            </a:r>
            <a:endParaRPr lang="en-US" sz="4400" dirty="0"/>
          </a:p>
        </p:txBody>
      </p:sp>
      <p:sp>
        <p:nvSpPr>
          <p:cNvPr id="13" name="Text 11"/>
          <p:cNvSpPr txBox="1"/>
          <p:nvPr/>
        </p:nvSpPr>
        <p:spPr>
          <a:xfrm>
            <a:off x="4114800" y="3017520"/>
            <a:ext cx="868680" cy="274320"/>
          </a:xfrm>
          <a:prstGeom prst="rect">
            <a:avLst/>
          </a:prstGeom>
          <a:noFill/>
          <a:ln/>
        </p:spPr>
        <p:txBody>
          <a:bodyPr wrap="square" lIns="0" tIns="0" rIns="0" bIns="0" rtlCol="0" anchor="ctr">
            <a:normAutofit/>
          </a:bodyPr>
          <a:lstStyle/>
          <a:p>
            <a:pPr algn="ctr" indent="0" marL="0">
              <a:buNone/>
            </a:pPr>
            <a:r>
              <a:rPr lang="en-US" sz="1250" dirty="0">
                <a:solidFill>
                  <a:srgbClr val="6F686D"/>
                </a:solidFill>
                <a:latin typeface="Arial" pitchFamily="34" charset="0"/>
                <a:ea typeface="Arial" pitchFamily="34" charset="-122"/>
                <a:cs typeface="Arial" pitchFamily="34" charset="-120"/>
              </a:rPr>
              <a:t>after</a:t>
            </a:r>
            <a:endParaRPr lang="en-US" sz="1250" dirty="0"/>
          </a:p>
        </p:txBody>
      </p:sp>
      <p:sp>
        <p:nvSpPr>
          <p:cNvPr id="14" name="Text 12"/>
          <p:cNvSpPr txBox="1"/>
          <p:nvPr/>
        </p:nvSpPr>
        <p:spPr>
          <a:xfrm>
            <a:off x="1078992" y="3767328"/>
            <a:ext cx="4434840" cy="310896"/>
          </a:xfrm>
          <a:prstGeom prst="rect">
            <a:avLst/>
          </a:prstGeom>
          <a:noFill/>
          <a:ln/>
        </p:spPr>
        <p:txBody>
          <a:bodyPr wrap="square" lIns="0" tIns="0" rIns="0" bIns="0" rtlCol="0" anchor="ctr">
            <a:normAutofit/>
          </a:bodyPr>
          <a:lstStyle/>
          <a:p>
            <a:pPr algn="ctr" indent="0" marL="0">
              <a:buNone/>
            </a:pPr>
            <a:r>
              <a:rPr lang="en-US" sz="1450" dirty="0">
                <a:solidFill>
                  <a:srgbClr val="405466"/>
                </a:solidFill>
                <a:latin typeface="Arial" pitchFamily="34" charset="0"/>
                <a:ea typeface="Arial" pitchFamily="34" charset="-122"/>
                <a:cs typeface="Arial" pitchFamily="34" charset="-120"/>
              </a:rPr>
              <a:t>Supportiveness index</a:t>
            </a:r>
            <a:endParaRPr lang="en-US" sz="1450" dirty="0"/>
          </a:p>
        </p:txBody>
      </p:sp>
      <p:sp>
        <p:nvSpPr>
          <p:cNvPr id="15" name="Shape 13"/>
          <p:cNvSpPr/>
          <p:nvPr/>
        </p:nvSpPr>
        <p:spPr>
          <a:xfrm>
            <a:off x="6355080" y="1417320"/>
            <a:ext cx="5074920" cy="3593592"/>
          </a:xfrm>
          <a:prstGeom prst="roundRect">
            <a:avLst>
              <a:gd name="adj" fmla="val 2036"/>
            </a:avLst>
          </a:prstGeom>
          <a:solidFill>
            <a:srgbClr val="DCEFEB"/>
          </a:solidFill>
          <a:ln w="12700">
            <a:solidFill>
              <a:srgbClr val="2A8C82"/>
            </a:solidFill>
            <a:prstDash val="solid"/>
          </a:ln>
        </p:spPr>
      </p:sp>
      <p:sp>
        <p:nvSpPr>
          <p:cNvPr id="16" name="Shape 14"/>
          <p:cNvSpPr/>
          <p:nvPr/>
        </p:nvSpPr>
        <p:spPr>
          <a:xfrm>
            <a:off x="6675120" y="1746504"/>
            <a:ext cx="1536192" cy="310896"/>
          </a:xfrm>
          <a:prstGeom prst="roundRect">
            <a:avLst>
              <a:gd name="adj" fmla="val 44118"/>
            </a:avLst>
          </a:prstGeom>
          <a:solidFill>
            <a:srgbClr val="2A8C82"/>
          </a:solidFill>
          <a:ln w="12700">
            <a:solidFill>
              <a:srgbClr val="2A8C82"/>
            </a:solidFill>
            <a:prstDash val="solid"/>
          </a:ln>
        </p:spPr>
      </p:sp>
      <p:sp>
        <p:nvSpPr>
          <p:cNvPr id="17" name="Text 15"/>
          <p:cNvSpPr txBox="1"/>
          <p:nvPr/>
        </p:nvSpPr>
        <p:spPr>
          <a:xfrm>
            <a:off x="6748272" y="1755648"/>
            <a:ext cx="1389888"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ACCOUNT PANEL</a:t>
            </a:r>
            <a:endParaRPr lang="en-US" sz="1100" dirty="0"/>
          </a:p>
        </p:txBody>
      </p:sp>
      <p:sp>
        <p:nvSpPr>
          <p:cNvPr id="18" name="Text 16"/>
          <p:cNvSpPr txBox="1"/>
          <p:nvPr/>
        </p:nvSpPr>
        <p:spPr>
          <a:xfrm>
            <a:off x="6720840" y="2359152"/>
            <a:ext cx="1508760" cy="713232"/>
          </a:xfrm>
          <a:prstGeom prst="rect">
            <a:avLst/>
          </a:prstGeom>
          <a:noFill/>
          <a:ln/>
        </p:spPr>
        <p:txBody>
          <a:bodyPr wrap="square" lIns="0" tIns="0" rIns="0" bIns="0" rtlCol="0" anchor="ctr">
            <a:normAutofit/>
          </a:bodyPr>
          <a:lstStyle/>
          <a:p>
            <a:pPr algn="ctr" indent="0" marL="0">
              <a:buNone/>
            </a:pPr>
            <a:r>
              <a:rPr lang="en-US" sz="4400" b="1" dirty="0">
                <a:solidFill>
                  <a:srgbClr val="242126"/>
                </a:solidFill>
                <a:latin typeface="Cambria" pitchFamily="34" charset="0"/>
                <a:ea typeface="Cambria" pitchFamily="34" charset="-122"/>
                <a:cs typeface="Cambria" pitchFamily="34" charset="-120"/>
              </a:rPr>
              <a:t>1.13</a:t>
            </a:r>
            <a:endParaRPr lang="en-US" sz="4400" dirty="0"/>
          </a:p>
        </p:txBody>
      </p:sp>
      <p:sp>
        <p:nvSpPr>
          <p:cNvPr id="19" name="Text 17"/>
          <p:cNvSpPr txBox="1"/>
          <p:nvPr/>
        </p:nvSpPr>
        <p:spPr>
          <a:xfrm>
            <a:off x="7040880" y="3017520"/>
            <a:ext cx="868680" cy="274320"/>
          </a:xfrm>
          <a:prstGeom prst="rect">
            <a:avLst/>
          </a:prstGeom>
          <a:noFill/>
          <a:ln/>
        </p:spPr>
        <p:txBody>
          <a:bodyPr wrap="square" lIns="0" tIns="0" rIns="0" bIns="0" rtlCol="0" anchor="ctr">
            <a:normAutofit/>
          </a:bodyPr>
          <a:lstStyle/>
          <a:p>
            <a:pPr algn="ctr" indent="0" marL="0">
              <a:buNone/>
            </a:pPr>
            <a:r>
              <a:rPr lang="en-US" sz="1250" dirty="0">
                <a:solidFill>
                  <a:srgbClr val="6F686D"/>
                </a:solidFill>
                <a:latin typeface="Arial" pitchFamily="34" charset="0"/>
                <a:ea typeface="Arial" pitchFamily="34" charset="-122"/>
                <a:cs typeface="Arial" pitchFamily="34" charset="-120"/>
              </a:rPr>
              <a:t>before</a:t>
            </a:r>
            <a:endParaRPr lang="en-US" sz="1250" dirty="0"/>
          </a:p>
        </p:txBody>
      </p:sp>
      <p:sp>
        <p:nvSpPr>
          <p:cNvPr id="20" name="Shape 18"/>
          <p:cNvSpPr/>
          <p:nvPr/>
        </p:nvSpPr>
        <p:spPr>
          <a:xfrm>
            <a:off x="8430768" y="2761488"/>
            <a:ext cx="685800" cy="0"/>
          </a:xfrm>
          <a:prstGeom prst="line">
            <a:avLst/>
          </a:prstGeom>
          <a:noFill/>
          <a:ln w="38100">
            <a:solidFill>
              <a:srgbClr val="D65F5F"/>
            </a:solidFill>
            <a:prstDash val="solid"/>
            <a:tailEnd type="triangle"/>
          </a:ln>
        </p:spPr>
      </p:sp>
      <p:sp>
        <p:nvSpPr>
          <p:cNvPr id="21" name="Text 19"/>
          <p:cNvSpPr txBox="1"/>
          <p:nvPr/>
        </p:nvSpPr>
        <p:spPr>
          <a:xfrm>
            <a:off x="9390888" y="2359152"/>
            <a:ext cx="1508760" cy="713232"/>
          </a:xfrm>
          <a:prstGeom prst="rect">
            <a:avLst/>
          </a:prstGeom>
          <a:noFill/>
          <a:ln/>
        </p:spPr>
        <p:txBody>
          <a:bodyPr wrap="square" lIns="0" tIns="0" rIns="0" bIns="0" rtlCol="0" anchor="ctr">
            <a:normAutofit/>
          </a:bodyPr>
          <a:lstStyle/>
          <a:p>
            <a:pPr algn="ctr" indent="0" marL="0">
              <a:buNone/>
            </a:pPr>
            <a:r>
              <a:rPr lang="en-US" sz="4400" b="1" dirty="0">
                <a:solidFill>
                  <a:srgbClr val="D65F5F"/>
                </a:solidFill>
                <a:latin typeface="Cambria" pitchFamily="34" charset="0"/>
                <a:ea typeface="Cambria" pitchFamily="34" charset="-122"/>
                <a:cs typeface="Cambria" pitchFamily="34" charset="-120"/>
              </a:rPr>
              <a:t>1.11</a:t>
            </a:r>
            <a:endParaRPr lang="en-US" sz="4400" dirty="0"/>
          </a:p>
        </p:txBody>
      </p:sp>
      <p:sp>
        <p:nvSpPr>
          <p:cNvPr id="22" name="Text 20"/>
          <p:cNvSpPr txBox="1"/>
          <p:nvPr/>
        </p:nvSpPr>
        <p:spPr>
          <a:xfrm>
            <a:off x="9710928" y="3017520"/>
            <a:ext cx="868680" cy="274320"/>
          </a:xfrm>
          <a:prstGeom prst="rect">
            <a:avLst/>
          </a:prstGeom>
          <a:noFill/>
          <a:ln/>
        </p:spPr>
        <p:txBody>
          <a:bodyPr wrap="square" lIns="0" tIns="0" rIns="0" bIns="0" rtlCol="0" anchor="ctr">
            <a:normAutofit/>
          </a:bodyPr>
          <a:lstStyle/>
          <a:p>
            <a:pPr algn="ctr" indent="0" marL="0">
              <a:buNone/>
            </a:pPr>
            <a:r>
              <a:rPr lang="en-US" sz="1250" dirty="0">
                <a:solidFill>
                  <a:srgbClr val="6F686D"/>
                </a:solidFill>
                <a:latin typeface="Arial" pitchFamily="34" charset="0"/>
                <a:ea typeface="Arial" pitchFamily="34" charset="-122"/>
                <a:cs typeface="Arial" pitchFamily="34" charset="-120"/>
              </a:rPr>
              <a:t>after</a:t>
            </a:r>
            <a:endParaRPr lang="en-US" sz="1250" dirty="0"/>
          </a:p>
        </p:txBody>
      </p:sp>
      <p:sp>
        <p:nvSpPr>
          <p:cNvPr id="23" name="Text 21"/>
          <p:cNvSpPr txBox="1"/>
          <p:nvPr/>
        </p:nvSpPr>
        <p:spPr>
          <a:xfrm>
            <a:off x="6675120" y="3767328"/>
            <a:ext cx="4434840" cy="310896"/>
          </a:xfrm>
          <a:prstGeom prst="rect">
            <a:avLst/>
          </a:prstGeom>
          <a:noFill/>
          <a:ln/>
        </p:spPr>
        <p:txBody>
          <a:bodyPr wrap="square" lIns="0" tIns="0" rIns="0" bIns="0" rtlCol="0" anchor="ctr">
            <a:normAutofit/>
          </a:bodyPr>
          <a:lstStyle/>
          <a:p>
            <a:pPr algn="ctr" indent="0" marL="0">
              <a:buNone/>
            </a:pPr>
            <a:r>
              <a:rPr lang="en-US" sz="1450" dirty="0">
                <a:solidFill>
                  <a:srgbClr val="405466"/>
                </a:solidFill>
                <a:latin typeface="Arial" pitchFamily="34" charset="0"/>
                <a:ea typeface="Arial" pitchFamily="34" charset="-122"/>
                <a:cs typeface="Arial" pitchFamily="34" charset="-120"/>
              </a:rPr>
              <a:t>Supportiveness index</a:t>
            </a:r>
            <a:endParaRPr lang="en-US" sz="1450" dirty="0"/>
          </a:p>
        </p:txBody>
      </p:sp>
      <p:sp>
        <p:nvSpPr>
          <p:cNvPr id="24" name="Shape 22"/>
          <p:cNvSpPr/>
          <p:nvPr/>
        </p:nvSpPr>
        <p:spPr>
          <a:xfrm>
            <a:off x="877824" y="5449824"/>
            <a:ext cx="493776" cy="493776"/>
          </a:xfrm>
          <a:prstGeom prst="ellipse">
            <a:avLst/>
          </a:prstGeom>
          <a:solidFill>
            <a:srgbClr val="D65F5F"/>
          </a:solidFill>
          <a:ln w="12700">
            <a:solidFill>
              <a:srgbClr val="FFFFFF">
                <a:alpha val="0"/>
              </a:srgbClr>
            </a:solidFill>
            <a:prstDash val="solid"/>
          </a:ln>
        </p:spPr>
      </p:sp>
      <p:sp>
        <p:nvSpPr>
          <p:cNvPr id="25" name="Text 23"/>
          <p:cNvSpPr txBox="1"/>
          <p:nvPr/>
        </p:nvSpPr>
        <p:spPr>
          <a:xfrm>
            <a:off x="960120" y="5458968"/>
            <a:ext cx="329184" cy="393192"/>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a:t>
            </a:r>
            <a:endParaRPr lang="en-US" sz="2100" dirty="0"/>
          </a:p>
        </p:txBody>
      </p:sp>
      <p:sp>
        <p:nvSpPr>
          <p:cNvPr id="26" name="Text 24"/>
          <p:cNvSpPr txBox="1"/>
          <p:nvPr/>
        </p:nvSpPr>
        <p:spPr>
          <a:xfrm>
            <a:off x="1581912" y="5340096"/>
            <a:ext cx="9765792" cy="694944"/>
          </a:xfrm>
          <a:prstGeom prst="rect">
            <a:avLst/>
          </a:prstGeom>
          <a:noFill/>
          <a:ln/>
        </p:spPr>
        <p:txBody>
          <a:bodyPr wrap="square" lIns="0" tIns="0" rIns="0" bIns="0" rtlCol="0" anchor="ctr">
            <a:normAutofit/>
          </a:bodyPr>
          <a:lstStyle/>
          <a:p>
            <a:pPr algn="l" indent="0" marL="0">
              <a:buNone/>
            </a:pPr>
            <a:r>
              <a:rPr lang="en-US" sz="1900" b="1" dirty="0">
                <a:solidFill>
                  <a:srgbClr val="571D2B"/>
                </a:solidFill>
                <a:latin typeface="Arial" pitchFamily="34" charset="0"/>
                <a:ea typeface="Arial" pitchFamily="34" charset="-122"/>
                <a:cs typeface="Arial" pitchFamily="34" charset="-120"/>
              </a:rPr>
              <a:t>Statistically detectable because N is enormous; substantively small and in the wrong direction for legitimation.</a:t>
            </a:r>
            <a:endParaRPr lang="en-US" sz="1900" dirty="0"/>
          </a:p>
        </p:txBody>
      </p:sp>
      <p:sp>
        <p:nvSpPr>
          <p:cNvPr id="27" name="Text 25"/>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p. 24. Decision-day tweets excluded from pre/post comparisons.</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FINDING 2</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Prior policy position predicts polarization; ideology does not</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13232" y="1271016"/>
            <a:ext cx="10771632" cy="4407408"/>
          </a:xfrm>
          <a:prstGeom prst="roundRect">
            <a:avLst>
              <a:gd name="adj" fmla="val 1660"/>
            </a:avLst>
          </a:prstGeom>
          <a:solidFill>
            <a:srgbClr val="FFFFFF"/>
          </a:solidFill>
          <a:ln w="12700">
            <a:solidFill>
              <a:srgbClr val="E7E4E6"/>
            </a:solidFill>
            <a:prstDash val="solid"/>
          </a:ln>
          <a:effectLst>
            <a:outerShdw sx="100000" sy="100000" kx="0" ky="0" algn="bl" rotWithShape="0" blurRad="19050" dist="50800" dir="2700000">
              <a:srgbClr val="000000">
                <a:alpha val="12000"/>
              </a:srgbClr>
            </a:outerShdw>
          </a:effectLst>
        </p:spPr>
      </p:sp>
      <p:pic>
        <p:nvPicPr>
          <p:cNvPr id="7" name="Image 0" descr="/Users/tsclark/Documents/GitHub/website/presentations/assets/figure-5-polarization.png">    </p:cNvPr>
          <p:cNvPicPr>
            <a:picLocks noChangeAspect="1"/>
          </p:cNvPicPr>
          <p:nvPr/>
        </p:nvPicPr>
        <p:blipFill>
          <a:blip r:embed="rId1"/>
          <a:stretch>
            <a:fillRect/>
          </a:stretch>
        </p:blipFill>
        <p:spPr>
          <a:xfrm>
            <a:off x="2821119" y="1527048"/>
            <a:ext cx="6537569" cy="3200400"/>
          </a:xfrm>
          <a:prstGeom prst="rect">
            <a:avLst/>
          </a:prstGeom>
        </p:spPr>
      </p:pic>
      <p:sp>
        <p:nvSpPr>
          <p:cNvPr id="8" name="Shape 5"/>
          <p:cNvSpPr/>
          <p:nvPr/>
        </p:nvSpPr>
        <p:spPr>
          <a:xfrm>
            <a:off x="1911096" y="4837176"/>
            <a:ext cx="1078992" cy="310896"/>
          </a:xfrm>
          <a:prstGeom prst="roundRect">
            <a:avLst>
              <a:gd name="adj" fmla="val 44118"/>
            </a:avLst>
          </a:prstGeom>
          <a:solidFill>
            <a:srgbClr val="F4F2F3"/>
          </a:solidFill>
          <a:ln w="12700">
            <a:solidFill>
              <a:srgbClr val="F4F2F3"/>
            </a:solidFill>
            <a:prstDash val="solid"/>
          </a:ln>
        </p:spPr>
      </p:sp>
      <p:sp>
        <p:nvSpPr>
          <p:cNvPr id="9" name="Text 6"/>
          <p:cNvSpPr txBox="1"/>
          <p:nvPr/>
        </p:nvSpPr>
        <p:spPr>
          <a:xfrm>
            <a:off x="1984248" y="4846320"/>
            <a:ext cx="932688" cy="274320"/>
          </a:xfrm>
          <a:prstGeom prst="rect">
            <a:avLst/>
          </a:prstGeom>
          <a:noFill/>
          <a:ln/>
        </p:spPr>
        <p:txBody>
          <a:bodyPr wrap="square" lIns="0" tIns="0" rIns="0" bIns="0" rtlCol="0" anchor="ctr">
            <a:normAutofit/>
          </a:bodyPr>
          <a:lstStyle/>
          <a:p>
            <a:pPr algn="ctr" indent="0" marL="0">
              <a:buNone/>
            </a:pPr>
            <a:r>
              <a:rPr lang="en-US" sz="1100" b="1" dirty="0">
                <a:solidFill>
                  <a:srgbClr val="6F686D"/>
                </a:solidFill>
                <a:latin typeface="Arial" pitchFamily="34" charset="0"/>
                <a:ea typeface="Arial" pitchFamily="34" charset="-122"/>
                <a:cs typeface="Arial" pitchFamily="34" charset="-120"/>
              </a:rPr>
              <a:t>NEAR-FLAT</a:t>
            </a:r>
            <a:endParaRPr lang="en-US" sz="1100" dirty="0"/>
          </a:p>
        </p:txBody>
      </p:sp>
      <p:sp>
        <p:nvSpPr>
          <p:cNvPr id="10" name="Text 7"/>
          <p:cNvSpPr txBox="1"/>
          <p:nvPr/>
        </p:nvSpPr>
        <p:spPr>
          <a:xfrm>
            <a:off x="3099816" y="4846320"/>
            <a:ext cx="2084832" cy="274320"/>
          </a:xfrm>
          <a:prstGeom prst="rect">
            <a:avLst/>
          </a:prstGeom>
          <a:noFill/>
          <a:ln/>
        </p:spPr>
        <p:txBody>
          <a:bodyPr wrap="square" lIns="0" tIns="0" rIns="0" bIns="0" rtlCol="0" anchor="ctr">
            <a:normAutofit/>
          </a:bodyPr>
          <a:lstStyle/>
          <a:p>
            <a:pPr algn="l" indent="0" marL="0">
              <a:buNone/>
            </a:pPr>
            <a:r>
              <a:rPr lang="en-US" sz="1500" dirty="0">
                <a:solidFill>
                  <a:srgbClr val="405466"/>
                </a:solidFill>
                <a:latin typeface="Arial" pitchFamily="34" charset="0"/>
                <a:ea typeface="Arial" pitchFamily="34" charset="-122"/>
                <a:cs typeface="Arial" pitchFamily="34" charset="-120"/>
              </a:rPr>
              <a:t>general ideology</a:t>
            </a:r>
            <a:endParaRPr lang="en-US" sz="1500" dirty="0"/>
          </a:p>
        </p:txBody>
      </p:sp>
      <p:sp>
        <p:nvSpPr>
          <p:cNvPr id="11" name="Shape 8"/>
          <p:cNvSpPr/>
          <p:nvPr/>
        </p:nvSpPr>
        <p:spPr>
          <a:xfrm>
            <a:off x="6784848" y="4837176"/>
            <a:ext cx="1078992" cy="310896"/>
          </a:xfrm>
          <a:prstGeom prst="roundRect">
            <a:avLst>
              <a:gd name="adj" fmla="val 44118"/>
            </a:avLst>
          </a:prstGeom>
          <a:solidFill>
            <a:srgbClr val="F8E1E1"/>
          </a:solidFill>
          <a:ln w="12700">
            <a:solidFill>
              <a:srgbClr val="F8E1E1"/>
            </a:solidFill>
            <a:prstDash val="solid"/>
          </a:ln>
        </p:spPr>
      </p:sp>
      <p:sp>
        <p:nvSpPr>
          <p:cNvPr id="12" name="Text 9"/>
          <p:cNvSpPr txBox="1"/>
          <p:nvPr/>
        </p:nvSpPr>
        <p:spPr>
          <a:xfrm>
            <a:off x="6858000" y="4846320"/>
            <a:ext cx="932688" cy="274320"/>
          </a:xfrm>
          <a:prstGeom prst="rect">
            <a:avLst/>
          </a:prstGeom>
          <a:noFill/>
          <a:ln/>
        </p:spPr>
        <p:txBody>
          <a:bodyPr wrap="square" lIns="0" tIns="0" rIns="0" bIns="0" rtlCol="0" anchor="ctr">
            <a:normAutofit/>
          </a:bodyPr>
          <a:lstStyle/>
          <a:p>
            <a:pPr algn="ctr" indent="0" marL="0">
              <a:buNone/>
            </a:pPr>
            <a:r>
              <a:rPr lang="en-US" sz="1100" b="1" dirty="0">
                <a:solidFill>
                  <a:srgbClr val="D65F5F"/>
                </a:solidFill>
                <a:latin typeface="Arial" pitchFamily="34" charset="0"/>
                <a:ea typeface="Arial" pitchFamily="34" charset="-122"/>
                <a:cs typeface="Arial" pitchFamily="34" charset="-120"/>
              </a:rPr>
              <a:t>UPWARD</a:t>
            </a:r>
            <a:endParaRPr lang="en-US" sz="1100" dirty="0"/>
          </a:p>
        </p:txBody>
      </p:sp>
      <p:sp>
        <p:nvSpPr>
          <p:cNvPr id="13" name="Text 10"/>
          <p:cNvSpPr txBox="1"/>
          <p:nvPr/>
        </p:nvSpPr>
        <p:spPr>
          <a:xfrm>
            <a:off x="7982712" y="4846320"/>
            <a:ext cx="2084832" cy="274320"/>
          </a:xfrm>
          <a:prstGeom prst="rect">
            <a:avLst/>
          </a:prstGeom>
          <a:noFill/>
          <a:ln/>
        </p:spPr>
        <p:txBody>
          <a:bodyPr wrap="square" lIns="0" tIns="0" rIns="0" bIns="0" rtlCol="0" anchor="ctr">
            <a:normAutofit/>
          </a:bodyPr>
          <a:lstStyle/>
          <a:p>
            <a:pPr algn="l" indent="0" marL="0">
              <a:buNone/>
            </a:pPr>
            <a:r>
              <a:rPr lang="en-US" sz="1500" dirty="0">
                <a:solidFill>
                  <a:srgbClr val="405466"/>
                </a:solidFill>
                <a:latin typeface="Arial" pitchFamily="34" charset="0"/>
                <a:ea typeface="Arial" pitchFamily="34" charset="-122"/>
                <a:cs typeface="Arial" pitchFamily="34" charset="-120"/>
              </a:rPr>
              <a:t>prior issue support</a:t>
            </a:r>
            <a:endParaRPr lang="en-US" sz="1500" dirty="0"/>
          </a:p>
        </p:txBody>
      </p:sp>
      <p:sp>
        <p:nvSpPr>
          <p:cNvPr id="14" name="Shape 11"/>
          <p:cNvSpPr/>
          <p:nvPr/>
        </p:nvSpPr>
        <p:spPr>
          <a:xfrm>
            <a:off x="1490472" y="5824728"/>
            <a:ext cx="9235440" cy="493776"/>
          </a:xfrm>
          <a:prstGeom prst="roundRect">
            <a:avLst>
              <a:gd name="adj" fmla="val 14815"/>
            </a:avLst>
          </a:prstGeom>
          <a:solidFill>
            <a:srgbClr val="571D2B"/>
          </a:solidFill>
          <a:ln w="12700">
            <a:solidFill>
              <a:srgbClr val="571D2B"/>
            </a:solidFill>
            <a:prstDash val="solid"/>
          </a:ln>
        </p:spPr>
      </p:sp>
      <p:sp>
        <p:nvSpPr>
          <p:cNvPr id="15" name="Text 12"/>
          <p:cNvSpPr txBox="1"/>
          <p:nvPr/>
        </p:nvSpPr>
        <p:spPr>
          <a:xfrm>
            <a:off x="1783080" y="5907024"/>
            <a:ext cx="8650224" cy="27432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Supporters became more supportive; opponents became more opposed.</a:t>
            </a:r>
            <a:endParaRPr lang="en-US" sz="1800" dirty="0"/>
          </a:p>
        </p:txBody>
      </p:sp>
      <p:sp>
        <p:nvSpPr>
          <p:cNvPr id="16" name="Text 13"/>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Figure 5. Point sizes reflect each panelist’s tweet volume.</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FINDING 3</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Emotion moves faster—and more sharply—than policy support</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13232" y="1335024"/>
            <a:ext cx="5248656" cy="4453128"/>
          </a:xfrm>
          <a:prstGeom prst="roundRect">
            <a:avLst>
              <a:gd name="adj" fmla="val 1643"/>
            </a:avLst>
          </a:prstGeom>
          <a:solidFill>
            <a:srgbClr val="FFFFFF"/>
          </a:solidFill>
          <a:ln w="12700">
            <a:solidFill>
              <a:srgbClr val="E7E4E6"/>
            </a:solidFill>
            <a:prstDash val="solid"/>
          </a:ln>
          <a:effectLst>
            <a:outerShdw sx="100000" sy="100000" kx="0" ky="0" algn="bl" rotWithShape="0" blurRad="19050" dist="50800" dir="2700000">
              <a:srgbClr val="000000">
                <a:alpha val="12000"/>
              </a:srgbClr>
            </a:outerShdw>
          </a:effectLst>
        </p:spPr>
      </p:sp>
      <p:pic>
        <p:nvPicPr>
          <p:cNvPr id="7" name="Image 0" descr="/Users/tsclark/Documents/GitHub/website/presentations/assets/figure-6-intensity.png">    </p:cNvPr>
          <p:cNvPicPr>
            <a:picLocks noChangeAspect="1"/>
          </p:cNvPicPr>
          <p:nvPr/>
        </p:nvPicPr>
        <p:blipFill>
          <a:blip r:embed="rId1"/>
          <a:stretch>
            <a:fillRect/>
          </a:stretch>
        </p:blipFill>
        <p:spPr>
          <a:xfrm>
            <a:off x="2376251" y="1572768"/>
            <a:ext cx="1922618" cy="3429000"/>
          </a:xfrm>
          <a:prstGeom prst="rect">
            <a:avLst/>
          </a:prstGeom>
        </p:spPr>
      </p:pic>
      <p:sp>
        <p:nvSpPr>
          <p:cNvPr id="8" name="Shape 5"/>
          <p:cNvSpPr/>
          <p:nvPr/>
        </p:nvSpPr>
        <p:spPr>
          <a:xfrm>
            <a:off x="1078992" y="5102352"/>
            <a:ext cx="1115568" cy="310896"/>
          </a:xfrm>
          <a:prstGeom prst="roundRect">
            <a:avLst>
              <a:gd name="adj" fmla="val 44118"/>
            </a:avLst>
          </a:prstGeom>
          <a:solidFill>
            <a:srgbClr val="E9E3F2"/>
          </a:solidFill>
          <a:ln w="12700">
            <a:solidFill>
              <a:srgbClr val="E9E3F2"/>
            </a:solidFill>
            <a:prstDash val="solid"/>
          </a:ln>
        </p:spPr>
      </p:sp>
      <p:sp>
        <p:nvSpPr>
          <p:cNvPr id="9" name="Text 6"/>
          <p:cNvSpPr txBox="1"/>
          <p:nvPr/>
        </p:nvSpPr>
        <p:spPr>
          <a:xfrm>
            <a:off x="1152144" y="5111496"/>
            <a:ext cx="969264" cy="274320"/>
          </a:xfrm>
          <a:prstGeom prst="rect">
            <a:avLst/>
          </a:prstGeom>
          <a:noFill/>
          <a:ln/>
        </p:spPr>
        <p:txBody>
          <a:bodyPr wrap="square" lIns="0" tIns="0" rIns="0" bIns="0" rtlCol="0" anchor="ctr">
            <a:normAutofit/>
          </a:bodyPr>
          <a:lstStyle/>
          <a:p>
            <a:pPr algn="ctr" indent="0" marL="0">
              <a:buNone/>
            </a:pPr>
            <a:r>
              <a:rPr lang="en-US" sz="1100" b="1" dirty="0">
                <a:solidFill>
                  <a:srgbClr val="775DA6"/>
                </a:solidFill>
                <a:latin typeface="Arial" pitchFamily="34" charset="0"/>
                <a:ea typeface="Arial" pitchFamily="34" charset="-122"/>
                <a:cs typeface="Arial" pitchFamily="34" charset="-120"/>
              </a:rPr>
              <a:t>INTENSITY</a:t>
            </a:r>
            <a:endParaRPr lang="en-US" sz="1100" dirty="0"/>
          </a:p>
        </p:txBody>
      </p:sp>
      <p:sp>
        <p:nvSpPr>
          <p:cNvPr id="10" name="Text 7"/>
          <p:cNvSpPr txBox="1"/>
          <p:nvPr/>
        </p:nvSpPr>
        <p:spPr>
          <a:xfrm>
            <a:off x="2386584" y="5084064"/>
            <a:ext cx="3182112" cy="411480"/>
          </a:xfrm>
          <a:prstGeom prst="rect">
            <a:avLst/>
          </a:prstGeom>
          <a:noFill/>
          <a:ln/>
        </p:spPr>
        <p:txBody>
          <a:bodyPr wrap="square" lIns="0" tIns="0" rIns="0" bIns="0" rtlCol="0" anchor="ctr">
            <a:normAutofit/>
          </a:bodyPr>
          <a:lstStyle/>
          <a:p>
            <a:pPr algn="l" indent="0" marL="0">
              <a:buNone/>
            </a:pPr>
            <a:r>
              <a:rPr lang="en-US" sz="1470" b="1" dirty="0">
                <a:solidFill>
                  <a:srgbClr val="405466"/>
                </a:solidFill>
                <a:latin typeface="Arial" pitchFamily="34" charset="0"/>
                <a:ea typeface="Arial" pitchFamily="34" charset="-122"/>
                <a:cs typeface="Arial" pitchFamily="34" charset="-120"/>
              </a:rPr>
              <a:t>Both supportive and opposed speech spike, then fade.</a:t>
            </a:r>
            <a:endParaRPr lang="en-US" sz="1470" dirty="0"/>
          </a:p>
        </p:txBody>
      </p:sp>
      <p:sp>
        <p:nvSpPr>
          <p:cNvPr id="11" name="Shape 8"/>
          <p:cNvSpPr/>
          <p:nvPr/>
        </p:nvSpPr>
        <p:spPr>
          <a:xfrm>
            <a:off x="6236208" y="1335024"/>
            <a:ext cx="5248656" cy="4453128"/>
          </a:xfrm>
          <a:prstGeom prst="roundRect">
            <a:avLst>
              <a:gd name="adj" fmla="val 1643"/>
            </a:avLst>
          </a:prstGeom>
          <a:solidFill>
            <a:srgbClr val="FFFFFF"/>
          </a:solidFill>
          <a:ln w="12700">
            <a:solidFill>
              <a:srgbClr val="E7E4E6"/>
            </a:solidFill>
            <a:prstDash val="solid"/>
          </a:ln>
          <a:effectLst>
            <a:outerShdw sx="100000" sy="100000" kx="0" ky="0" algn="bl" rotWithShape="0" blurRad="19050" dist="50800" dir="2700000">
              <a:srgbClr val="000000">
                <a:alpha val="12000"/>
              </a:srgbClr>
            </a:outerShdw>
          </a:effectLst>
        </p:spPr>
      </p:sp>
      <p:pic>
        <p:nvPicPr>
          <p:cNvPr id="12" name="Image 1" descr="/Users/tsclark/Documents/GitHub/website/presentations/assets/figure-6-anger.png">    </p:cNvPr>
          <p:cNvPicPr>
            <a:picLocks noChangeAspect="1"/>
          </p:cNvPicPr>
          <p:nvPr/>
        </p:nvPicPr>
        <p:blipFill>
          <a:blip r:embed="rId2"/>
          <a:stretch>
            <a:fillRect/>
          </a:stretch>
        </p:blipFill>
        <p:spPr>
          <a:xfrm>
            <a:off x="7879406" y="1572768"/>
            <a:ext cx="1962260" cy="3429000"/>
          </a:xfrm>
          <a:prstGeom prst="rect">
            <a:avLst/>
          </a:prstGeom>
        </p:spPr>
      </p:pic>
      <p:sp>
        <p:nvSpPr>
          <p:cNvPr id="13" name="Shape 9"/>
          <p:cNvSpPr/>
          <p:nvPr/>
        </p:nvSpPr>
        <p:spPr>
          <a:xfrm>
            <a:off x="6601968" y="5102352"/>
            <a:ext cx="932688" cy="310896"/>
          </a:xfrm>
          <a:prstGeom prst="roundRect">
            <a:avLst>
              <a:gd name="adj" fmla="val 44118"/>
            </a:avLst>
          </a:prstGeom>
          <a:solidFill>
            <a:srgbClr val="F8E1E1"/>
          </a:solidFill>
          <a:ln w="12700">
            <a:solidFill>
              <a:srgbClr val="F8E1E1"/>
            </a:solidFill>
            <a:prstDash val="solid"/>
          </a:ln>
        </p:spPr>
      </p:sp>
      <p:sp>
        <p:nvSpPr>
          <p:cNvPr id="14" name="Text 10"/>
          <p:cNvSpPr txBox="1"/>
          <p:nvPr/>
        </p:nvSpPr>
        <p:spPr>
          <a:xfrm>
            <a:off x="6675120" y="5111496"/>
            <a:ext cx="786384" cy="274320"/>
          </a:xfrm>
          <a:prstGeom prst="rect">
            <a:avLst/>
          </a:prstGeom>
          <a:noFill/>
          <a:ln/>
        </p:spPr>
        <p:txBody>
          <a:bodyPr wrap="square" lIns="0" tIns="0" rIns="0" bIns="0" rtlCol="0" anchor="ctr">
            <a:normAutofit/>
          </a:bodyPr>
          <a:lstStyle/>
          <a:p>
            <a:pPr algn="ctr" indent="0" marL="0">
              <a:buNone/>
            </a:pPr>
            <a:r>
              <a:rPr lang="en-US" sz="1100" b="1" dirty="0">
                <a:solidFill>
                  <a:srgbClr val="D65F5F"/>
                </a:solidFill>
                <a:latin typeface="Arial" pitchFamily="34" charset="0"/>
                <a:ea typeface="Arial" pitchFamily="34" charset="-122"/>
                <a:cs typeface="Arial" pitchFamily="34" charset="-120"/>
              </a:rPr>
              <a:t>ANGER</a:t>
            </a:r>
            <a:endParaRPr lang="en-US" sz="1100" dirty="0"/>
          </a:p>
        </p:txBody>
      </p:sp>
      <p:sp>
        <p:nvSpPr>
          <p:cNvPr id="15" name="Text 11"/>
          <p:cNvSpPr txBox="1"/>
          <p:nvPr/>
        </p:nvSpPr>
        <p:spPr>
          <a:xfrm>
            <a:off x="7735824" y="5084064"/>
            <a:ext cx="3383280" cy="411480"/>
          </a:xfrm>
          <a:prstGeom prst="rect">
            <a:avLst/>
          </a:prstGeom>
          <a:noFill/>
          <a:ln/>
        </p:spPr>
        <p:txBody>
          <a:bodyPr wrap="square" lIns="0" tIns="0" rIns="0" bIns="0" rtlCol="0" anchor="ctr">
            <a:normAutofit/>
          </a:bodyPr>
          <a:lstStyle/>
          <a:p>
            <a:pPr algn="l" indent="0" marL="0">
              <a:buNone/>
            </a:pPr>
            <a:r>
              <a:rPr lang="en-US" sz="1470" b="1" dirty="0">
                <a:solidFill>
                  <a:srgbClr val="405466"/>
                </a:solidFill>
                <a:latin typeface="Arial" pitchFamily="34" charset="0"/>
                <a:ea typeface="Arial" pitchFamily="34" charset="-122"/>
                <a:cs typeface="Arial" pitchFamily="34" charset="-120"/>
              </a:rPr>
              <a:t>Opposition spikes; supportive speech becomes less angry at first.</a:t>
            </a:r>
            <a:endParaRPr lang="en-US" sz="1470" dirty="0"/>
          </a:p>
        </p:txBody>
      </p:sp>
      <p:sp>
        <p:nvSpPr>
          <p:cNvPr id="16" name="Text 12"/>
          <p:cNvSpPr txBox="1"/>
          <p:nvPr/>
        </p:nvSpPr>
        <p:spPr>
          <a:xfrm>
            <a:off x="1152144" y="6025896"/>
            <a:ext cx="9902952" cy="320040"/>
          </a:xfrm>
          <a:prstGeom prst="rect">
            <a:avLst/>
          </a:prstGeom>
          <a:noFill/>
          <a:ln/>
        </p:spPr>
        <p:txBody>
          <a:bodyPr wrap="square" lIns="0" tIns="0" rIns="0" bIns="0" rtlCol="0" anchor="ctr">
            <a:normAutofit/>
          </a:bodyPr>
          <a:lstStyle/>
          <a:p>
            <a:pPr algn="ctr" indent="0" marL="0">
              <a:buNone/>
            </a:pPr>
            <a:r>
              <a:rPr lang="en-US" sz="1800" b="1" dirty="0">
                <a:solidFill>
                  <a:srgbClr val="571D2B"/>
                </a:solidFill>
                <a:latin typeface="Arial" pitchFamily="34" charset="0"/>
                <a:ea typeface="Arial" pitchFamily="34" charset="-122"/>
                <a:cs typeface="Arial" pitchFamily="34" charset="-120"/>
              </a:rPr>
              <a:t>The response is pronounced but short-lived—exactly the kind of burst surveys are likely to miss.</a:t>
            </a:r>
            <a:endParaRPr lang="en-US" sz="1800" dirty="0"/>
          </a:p>
        </p:txBody>
      </p:sp>
      <p:sp>
        <p:nvSpPr>
          <p:cNvPr id="17" name="Text 13"/>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Figure 6 and pp. 26–30. Blue = supportive; red = opposed.</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MECHANISM</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The likely mechanism is structured response—not deference</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86384" y="2212848"/>
            <a:ext cx="2148840" cy="1865376"/>
          </a:xfrm>
          <a:prstGeom prst="roundRect">
            <a:avLst>
              <a:gd name="adj" fmla="val 3922"/>
            </a:avLst>
          </a:prstGeom>
          <a:solidFill>
            <a:srgbClr val="571D2B"/>
          </a:solidFill>
          <a:ln w="12700">
            <a:solidFill>
              <a:srgbClr val="571D2B"/>
            </a:solidFill>
            <a:prstDash val="solid"/>
          </a:ln>
        </p:spPr>
      </p:sp>
      <p:sp>
        <p:nvSpPr>
          <p:cNvPr id="7" name="Text 5"/>
          <p:cNvSpPr txBox="1"/>
          <p:nvPr/>
        </p:nvSpPr>
        <p:spPr>
          <a:xfrm>
            <a:off x="987552" y="2432304"/>
            <a:ext cx="1746504" cy="34747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Cambria" pitchFamily="34" charset="0"/>
                <a:ea typeface="Cambria" pitchFamily="34" charset="-122"/>
                <a:cs typeface="Cambria" pitchFamily="34" charset="-120"/>
              </a:rPr>
              <a:t>1  Salient ruling</a:t>
            </a:r>
            <a:endParaRPr lang="en-US" sz="1900" dirty="0"/>
          </a:p>
        </p:txBody>
      </p:sp>
      <p:sp>
        <p:nvSpPr>
          <p:cNvPr id="8" name="Text 6"/>
          <p:cNvSpPr txBox="1"/>
          <p:nvPr/>
        </p:nvSpPr>
        <p:spPr>
          <a:xfrm>
            <a:off x="1014984" y="2935224"/>
            <a:ext cx="1691640" cy="731520"/>
          </a:xfrm>
          <a:prstGeom prst="rect">
            <a:avLst/>
          </a:prstGeom>
          <a:noFill/>
          <a:ln/>
        </p:spPr>
        <p:txBody>
          <a:bodyPr wrap="square" lIns="0" tIns="0" rIns="0" bIns="0" rtlCol="0" anchor="ctr">
            <a:normAutofit/>
          </a:bodyPr>
          <a:lstStyle/>
          <a:p>
            <a:pPr algn="ctr" indent="0" marL="0">
              <a:buNone/>
            </a:pPr>
            <a:r>
              <a:rPr lang="en-US" sz="1450" dirty="0">
                <a:solidFill>
                  <a:srgbClr val="F2E9EC"/>
                </a:solidFill>
                <a:latin typeface="Arial" pitchFamily="34" charset="0"/>
                <a:ea typeface="Arial" pitchFamily="34" charset="-122"/>
                <a:cs typeface="Arial" pitchFamily="34" charset="-120"/>
              </a:rPr>
              <a:t>A common legal event supplies a focal point for discussion.</a:t>
            </a:r>
            <a:endParaRPr lang="en-US" sz="1450" dirty="0"/>
          </a:p>
        </p:txBody>
      </p:sp>
      <p:sp>
        <p:nvSpPr>
          <p:cNvPr id="9" name="Shape 7"/>
          <p:cNvSpPr/>
          <p:nvPr/>
        </p:nvSpPr>
        <p:spPr>
          <a:xfrm>
            <a:off x="3035808" y="3145536"/>
            <a:ext cx="356616" cy="0"/>
          </a:xfrm>
          <a:prstGeom prst="line">
            <a:avLst/>
          </a:prstGeom>
          <a:noFill/>
          <a:ln w="25400">
            <a:solidFill>
              <a:srgbClr val="6F686D"/>
            </a:solidFill>
            <a:prstDash val="solid"/>
            <a:tailEnd type="triangle"/>
          </a:ln>
        </p:spPr>
      </p:sp>
      <p:sp>
        <p:nvSpPr>
          <p:cNvPr id="10" name="Shape 8"/>
          <p:cNvSpPr/>
          <p:nvPr/>
        </p:nvSpPr>
        <p:spPr>
          <a:xfrm>
            <a:off x="3401568" y="2212848"/>
            <a:ext cx="2148840" cy="1865376"/>
          </a:xfrm>
          <a:prstGeom prst="roundRect">
            <a:avLst>
              <a:gd name="adj" fmla="val 3922"/>
            </a:avLst>
          </a:prstGeom>
          <a:solidFill>
            <a:srgbClr val="F8E1E1"/>
          </a:solidFill>
          <a:ln w="12700">
            <a:solidFill>
              <a:srgbClr val="E7E4E6"/>
            </a:solidFill>
            <a:prstDash val="solid"/>
          </a:ln>
        </p:spPr>
      </p:sp>
      <p:sp>
        <p:nvSpPr>
          <p:cNvPr id="11" name="Text 9"/>
          <p:cNvSpPr txBox="1"/>
          <p:nvPr/>
        </p:nvSpPr>
        <p:spPr>
          <a:xfrm>
            <a:off x="3602736" y="2432304"/>
            <a:ext cx="1746504" cy="347472"/>
          </a:xfrm>
          <a:prstGeom prst="rect">
            <a:avLst/>
          </a:prstGeom>
          <a:noFill/>
          <a:ln/>
        </p:spPr>
        <p:txBody>
          <a:bodyPr wrap="square" lIns="0" tIns="0" rIns="0" bIns="0" rtlCol="0" anchor="ctr">
            <a:normAutofit/>
          </a:bodyPr>
          <a:lstStyle/>
          <a:p>
            <a:pPr algn="ctr" indent="0" marL="0">
              <a:buNone/>
            </a:pPr>
            <a:r>
              <a:rPr lang="en-US" sz="1900" b="1" dirty="0">
                <a:solidFill>
                  <a:srgbClr val="242126"/>
                </a:solidFill>
                <a:latin typeface="Cambria" pitchFamily="34" charset="0"/>
                <a:ea typeface="Cambria" pitchFamily="34" charset="-122"/>
                <a:cs typeface="Cambria" pitchFamily="34" charset="-120"/>
              </a:rPr>
              <a:t>2  Opponents react</a:t>
            </a:r>
            <a:endParaRPr lang="en-US" sz="1900" dirty="0"/>
          </a:p>
        </p:txBody>
      </p:sp>
      <p:sp>
        <p:nvSpPr>
          <p:cNvPr id="12" name="Text 10"/>
          <p:cNvSpPr txBox="1"/>
          <p:nvPr/>
        </p:nvSpPr>
        <p:spPr>
          <a:xfrm>
            <a:off x="3630168" y="2935224"/>
            <a:ext cx="1691640" cy="731520"/>
          </a:xfrm>
          <a:prstGeom prst="rect">
            <a:avLst/>
          </a:prstGeom>
          <a:noFill/>
          <a:ln/>
        </p:spPr>
        <p:txBody>
          <a:bodyPr wrap="square" lIns="0" tIns="0" rIns="0" bIns="0" rtlCol="0" anchor="ctr">
            <a:normAutofit/>
          </a:bodyPr>
          <a:lstStyle/>
          <a:p>
            <a:pPr algn="ctr" indent="0" marL="0">
              <a:buNone/>
            </a:pPr>
            <a:r>
              <a:rPr lang="en-US" sz="1450" dirty="0">
                <a:solidFill>
                  <a:srgbClr val="405466"/>
                </a:solidFill>
                <a:latin typeface="Arial" pitchFamily="34" charset="0"/>
                <a:ea typeface="Arial" pitchFamily="34" charset="-122"/>
                <a:cs typeface="Arial" pitchFamily="34" charset="-120"/>
              </a:rPr>
              <a:t>Discontent has a responsible institutional target.</a:t>
            </a:r>
            <a:endParaRPr lang="en-US" sz="1450" dirty="0"/>
          </a:p>
        </p:txBody>
      </p:sp>
      <p:sp>
        <p:nvSpPr>
          <p:cNvPr id="13" name="Shape 11"/>
          <p:cNvSpPr/>
          <p:nvPr/>
        </p:nvSpPr>
        <p:spPr>
          <a:xfrm>
            <a:off x="5650992" y="3145536"/>
            <a:ext cx="356616" cy="0"/>
          </a:xfrm>
          <a:prstGeom prst="line">
            <a:avLst/>
          </a:prstGeom>
          <a:noFill/>
          <a:ln w="25400">
            <a:solidFill>
              <a:srgbClr val="6F686D"/>
            </a:solidFill>
            <a:prstDash val="solid"/>
            <a:tailEnd type="triangle"/>
          </a:ln>
        </p:spPr>
      </p:sp>
      <p:sp>
        <p:nvSpPr>
          <p:cNvPr id="14" name="Shape 12"/>
          <p:cNvSpPr/>
          <p:nvPr/>
        </p:nvSpPr>
        <p:spPr>
          <a:xfrm>
            <a:off x="6016752" y="2212848"/>
            <a:ext cx="2148840" cy="1865376"/>
          </a:xfrm>
          <a:prstGeom prst="roundRect">
            <a:avLst>
              <a:gd name="adj" fmla="val 3922"/>
            </a:avLst>
          </a:prstGeom>
          <a:solidFill>
            <a:srgbClr val="DCEFEB"/>
          </a:solidFill>
          <a:ln w="12700">
            <a:solidFill>
              <a:srgbClr val="E7E4E6"/>
            </a:solidFill>
            <a:prstDash val="solid"/>
          </a:ln>
        </p:spPr>
      </p:sp>
      <p:sp>
        <p:nvSpPr>
          <p:cNvPr id="15" name="Text 13"/>
          <p:cNvSpPr txBox="1"/>
          <p:nvPr/>
        </p:nvSpPr>
        <p:spPr>
          <a:xfrm>
            <a:off x="6217920" y="2432304"/>
            <a:ext cx="1746504" cy="347472"/>
          </a:xfrm>
          <a:prstGeom prst="rect">
            <a:avLst/>
          </a:prstGeom>
          <a:noFill/>
          <a:ln/>
        </p:spPr>
        <p:txBody>
          <a:bodyPr wrap="square" lIns="0" tIns="0" rIns="0" bIns="0" rtlCol="0" anchor="ctr">
            <a:normAutofit/>
          </a:bodyPr>
          <a:lstStyle/>
          <a:p>
            <a:pPr algn="ctr" indent="0" marL="0">
              <a:buNone/>
            </a:pPr>
            <a:r>
              <a:rPr lang="en-US" sz="1900" b="1" dirty="0">
                <a:solidFill>
                  <a:srgbClr val="242126"/>
                </a:solidFill>
                <a:latin typeface="Cambria" pitchFamily="34" charset="0"/>
                <a:ea typeface="Cambria" pitchFamily="34" charset="-122"/>
                <a:cs typeface="Cambria" pitchFamily="34" charset="-120"/>
              </a:rPr>
              <a:t>3  Supporters answer</a:t>
            </a:r>
            <a:endParaRPr lang="en-US" sz="1900" dirty="0"/>
          </a:p>
        </p:txBody>
      </p:sp>
      <p:sp>
        <p:nvSpPr>
          <p:cNvPr id="16" name="Text 14"/>
          <p:cNvSpPr txBox="1"/>
          <p:nvPr/>
        </p:nvSpPr>
        <p:spPr>
          <a:xfrm>
            <a:off x="6245352" y="2935224"/>
            <a:ext cx="1691640" cy="731520"/>
          </a:xfrm>
          <a:prstGeom prst="rect">
            <a:avLst/>
          </a:prstGeom>
          <a:noFill/>
          <a:ln/>
        </p:spPr>
        <p:txBody>
          <a:bodyPr wrap="square" lIns="0" tIns="0" rIns="0" bIns="0" rtlCol="0" anchor="ctr">
            <a:normAutofit/>
          </a:bodyPr>
          <a:lstStyle/>
          <a:p>
            <a:pPr algn="ctr" indent="0" marL="0">
              <a:buNone/>
            </a:pPr>
            <a:r>
              <a:rPr lang="en-US" sz="1450" dirty="0">
                <a:solidFill>
                  <a:srgbClr val="405466"/>
                </a:solidFill>
                <a:latin typeface="Arial" pitchFamily="34" charset="0"/>
                <a:ea typeface="Arial" pitchFamily="34" charset="-122"/>
                <a:cs typeface="Arial" pitchFamily="34" charset="-120"/>
              </a:rPr>
              <a:t>Counter-speech reacts to the opposing side’s anger.</a:t>
            </a:r>
            <a:endParaRPr lang="en-US" sz="1450" dirty="0"/>
          </a:p>
        </p:txBody>
      </p:sp>
      <p:sp>
        <p:nvSpPr>
          <p:cNvPr id="17" name="Shape 15"/>
          <p:cNvSpPr/>
          <p:nvPr/>
        </p:nvSpPr>
        <p:spPr>
          <a:xfrm>
            <a:off x="8266176" y="3145536"/>
            <a:ext cx="356616" cy="0"/>
          </a:xfrm>
          <a:prstGeom prst="line">
            <a:avLst/>
          </a:prstGeom>
          <a:noFill/>
          <a:ln w="25400">
            <a:solidFill>
              <a:srgbClr val="6F686D"/>
            </a:solidFill>
            <a:prstDash val="solid"/>
            <a:tailEnd type="triangle"/>
          </a:ln>
        </p:spPr>
      </p:sp>
      <p:sp>
        <p:nvSpPr>
          <p:cNvPr id="18" name="Shape 16"/>
          <p:cNvSpPr/>
          <p:nvPr/>
        </p:nvSpPr>
        <p:spPr>
          <a:xfrm>
            <a:off x="8631936" y="2212848"/>
            <a:ext cx="2148840" cy="1865376"/>
          </a:xfrm>
          <a:prstGeom prst="roundRect">
            <a:avLst>
              <a:gd name="adj" fmla="val 3922"/>
            </a:avLst>
          </a:prstGeom>
          <a:solidFill>
            <a:srgbClr val="F7EDCF"/>
          </a:solidFill>
          <a:ln w="12700">
            <a:solidFill>
              <a:srgbClr val="E7E4E6"/>
            </a:solidFill>
            <a:prstDash val="solid"/>
          </a:ln>
        </p:spPr>
      </p:sp>
      <p:sp>
        <p:nvSpPr>
          <p:cNvPr id="19" name="Text 17"/>
          <p:cNvSpPr txBox="1"/>
          <p:nvPr/>
        </p:nvSpPr>
        <p:spPr>
          <a:xfrm>
            <a:off x="8833104" y="2432304"/>
            <a:ext cx="1746504" cy="347472"/>
          </a:xfrm>
          <a:prstGeom prst="rect">
            <a:avLst/>
          </a:prstGeom>
          <a:noFill/>
          <a:ln/>
        </p:spPr>
        <p:txBody>
          <a:bodyPr wrap="square" lIns="0" tIns="0" rIns="0" bIns="0" rtlCol="0" anchor="ctr">
            <a:normAutofit/>
          </a:bodyPr>
          <a:lstStyle/>
          <a:p>
            <a:pPr algn="ctr" indent="0" marL="0">
              <a:buNone/>
            </a:pPr>
            <a:r>
              <a:rPr lang="en-US" sz="1900" b="1" dirty="0">
                <a:solidFill>
                  <a:srgbClr val="242126"/>
                </a:solidFill>
                <a:latin typeface="Cambria" pitchFamily="34" charset="0"/>
                <a:ea typeface="Cambria" pitchFamily="34" charset="-122"/>
                <a:cs typeface="Cambria" pitchFamily="34" charset="-120"/>
              </a:rPr>
              <a:t>4  Conflict persists</a:t>
            </a:r>
            <a:endParaRPr lang="en-US" sz="1900" dirty="0"/>
          </a:p>
        </p:txBody>
      </p:sp>
      <p:sp>
        <p:nvSpPr>
          <p:cNvPr id="20" name="Text 18"/>
          <p:cNvSpPr txBox="1"/>
          <p:nvPr/>
        </p:nvSpPr>
        <p:spPr>
          <a:xfrm>
            <a:off x="8860536" y="2935224"/>
            <a:ext cx="1691640" cy="731520"/>
          </a:xfrm>
          <a:prstGeom prst="rect">
            <a:avLst/>
          </a:prstGeom>
          <a:noFill/>
          <a:ln/>
        </p:spPr>
        <p:txBody>
          <a:bodyPr wrap="square" lIns="0" tIns="0" rIns="0" bIns="0" rtlCol="0" anchor="ctr">
            <a:normAutofit/>
          </a:bodyPr>
          <a:lstStyle/>
          <a:p>
            <a:pPr algn="ctr" indent="0" marL="0">
              <a:buNone/>
            </a:pPr>
            <a:r>
              <a:rPr lang="en-US" sz="1450" dirty="0">
                <a:solidFill>
                  <a:srgbClr val="405466"/>
                </a:solidFill>
                <a:latin typeface="Arial" pitchFamily="34" charset="0"/>
                <a:ea typeface="Arial" pitchFamily="34" charset="-122"/>
                <a:cs typeface="Arial" pitchFamily="34" charset="-120"/>
              </a:rPr>
              <a:t>Positions harden even as the emotional burst dissipates.</a:t>
            </a:r>
            <a:endParaRPr lang="en-US" sz="1450" dirty="0"/>
          </a:p>
        </p:txBody>
      </p:sp>
      <p:sp>
        <p:nvSpPr>
          <p:cNvPr id="21" name="Shape 19"/>
          <p:cNvSpPr/>
          <p:nvPr/>
        </p:nvSpPr>
        <p:spPr>
          <a:xfrm>
            <a:off x="1161288" y="4809744"/>
            <a:ext cx="9875520" cy="859536"/>
          </a:xfrm>
          <a:prstGeom prst="roundRect">
            <a:avLst>
              <a:gd name="adj" fmla="val 8511"/>
            </a:avLst>
          </a:prstGeom>
          <a:solidFill>
            <a:srgbClr val="F4F2F3"/>
          </a:solidFill>
          <a:ln w="12700">
            <a:solidFill>
              <a:srgbClr val="E7E4E6"/>
            </a:solidFill>
            <a:prstDash val="solid"/>
          </a:ln>
        </p:spPr>
      </p:sp>
      <p:sp>
        <p:nvSpPr>
          <p:cNvPr id="22" name="Text 20"/>
          <p:cNvSpPr/>
          <p:nvPr/>
        </p:nvSpPr>
        <p:spPr>
          <a:xfrm>
            <a:off x="1490472" y="4983480"/>
            <a:ext cx="9217152" cy="475488"/>
          </a:xfrm>
          <a:prstGeom prst="rect">
            <a:avLst/>
          </a:prstGeom>
          <a:noFill/>
          <a:ln/>
        </p:spPr>
        <p:txBody>
          <a:bodyPr wrap="square" lIns="0" tIns="0" rIns="0" bIns="0" rtlCol="0" anchor="ctr">
            <a:normAutofit/>
          </a:bodyPr>
          <a:lstStyle/>
          <a:p>
            <a:pPr algn="ctr" indent="0" marL="0">
              <a:buNone/>
            </a:pPr>
            <a:r>
              <a:rPr lang="en-US" sz="1650" b="1" dirty="0">
                <a:solidFill>
                  <a:srgbClr val="571D2B"/>
                </a:solidFill>
                <a:latin typeface="Arial" pitchFamily="34" charset="0"/>
                <a:ea typeface="Arial" pitchFamily="34" charset="-122"/>
                <a:cs typeface="Arial" pitchFamily="34" charset="-120"/>
              </a:rPr>
              <a:t>Inference: </a:t>
            </a:r>
            <a:pPr algn="ctr" indent="0" marL="0">
              <a:buNone/>
            </a:pPr>
            <a:r>
              <a:rPr lang="en-US" sz="1650" dirty="0">
                <a:solidFill>
                  <a:srgbClr val="405466"/>
                </a:solidFill>
                <a:latin typeface="Arial" pitchFamily="34" charset="0"/>
                <a:ea typeface="Arial" pitchFamily="34" charset="-122"/>
                <a:cs typeface="Arial" pitchFamily="34" charset="-120"/>
              </a:rPr>
              <a:t>the observed sequence is consistent with Franklin and Kosaki’s discussion-group mechanism; the design does not directly identify each conversational link.</a:t>
            </a:r>
            <a:endParaRPr lang="en-US" sz="1650" dirty="0"/>
          </a:p>
        </p:txBody>
      </p:sp>
      <p:sp>
        <p:nvSpPr>
          <p:cNvPr id="23" name="Text 21"/>
          <p:cNvSpPr txBox="1"/>
          <p:nvPr/>
        </p:nvSpPr>
        <p:spPr>
          <a:xfrm>
            <a:off x="1399032" y="5989320"/>
            <a:ext cx="9418320" cy="347472"/>
          </a:xfrm>
          <a:prstGeom prst="rect">
            <a:avLst/>
          </a:prstGeom>
          <a:noFill/>
          <a:ln/>
        </p:spPr>
        <p:txBody>
          <a:bodyPr wrap="square" lIns="0" tIns="0" rIns="0" bIns="0" rtlCol="0" anchor="ctr">
            <a:normAutofit/>
          </a:bodyPr>
          <a:lstStyle/>
          <a:p>
            <a:pPr algn="ctr" indent="0" marL="0">
              <a:buNone/>
            </a:pPr>
            <a:r>
              <a:rPr lang="en-US" sz="2100" b="1" dirty="0">
                <a:solidFill>
                  <a:srgbClr val="571D2B"/>
                </a:solidFill>
                <a:latin typeface="Cambria" pitchFamily="34" charset="0"/>
                <a:ea typeface="Cambria" pitchFamily="34" charset="-122"/>
                <a:cs typeface="Cambria" pitchFamily="34" charset="-120"/>
              </a:rPr>
              <a:t>A decision can end litigation while beginning a new round of social interaction.</a:t>
            </a:r>
            <a:endParaRPr lang="en-US" sz="2100" dirty="0"/>
          </a:p>
        </p:txBody>
      </p:sp>
      <p:sp>
        <p:nvSpPr>
          <p:cNvPr id="24" name="Text 22"/>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Mechanism discussion: Clark et al., version 5, pp. 28–30.</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HETEROGENEITY</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Why no liberal–conservative split? Look at age within party</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Text 4"/>
          <p:cNvSpPr txBox="1"/>
          <p:nvPr/>
        </p:nvSpPr>
        <p:spPr>
          <a:xfrm>
            <a:off x="841248" y="1344168"/>
            <a:ext cx="4892040" cy="329184"/>
          </a:xfrm>
          <a:prstGeom prst="rect">
            <a:avLst/>
          </a:prstGeom>
          <a:noFill/>
          <a:ln/>
        </p:spPr>
        <p:txBody>
          <a:bodyPr wrap="square" lIns="0" tIns="0" rIns="0" bIns="0" rtlCol="0" anchor="ctr">
            <a:normAutofit/>
          </a:bodyPr>
          <a:lstStyle/>
          <a:p>
            <a:pPr algn="l" indent="0" marL="0">
              <a:buNone/>
            </a:pPr>
            <a:r>
              <a:rPr lang="en-US" sz="2000" b="1" dirty="0">
                <a:solidFill>
                  <a:srgbClr val="242126"/>
                </a:solidFill>
                <a:latin typeface="Cambria" pitchFamily="34" charset="0"/>
                <a:ea typeface="Cambria" pitchFamily="34" charset="-122"/>
                <a:cs typeface="Cambria" pitchFamily="34" charset="-120"/>
              </a:rPr>
              <a:t>Support for same-sex marriage, spring 2013</a:t>
            </a:r>
            <a:endParaRPr lang="en-US" sz="2000" dirty="0"/>
          </a:p>
        </p:txBody>
      </p:sp>
      <p:sp>
        <p:nvSpPr>
          <p:cNvPr id="7" name="Text 5"/>
          <p:cNvSpPr txBox="1"/>
          <p:nvPr/>
        </p:nvSpPr>
        <p:spPr>
          <a:xfrm>
            <a:off x="841248" y="2011680"/>
            <a:ext cx="1207008" cy="274320"/>
          </a:xfrm>
          <a:prstGeom prst="rect">
            <a:avLst/>
          </a:prstGeom>
          <a:noFill/>
          <a:ln/>
        </p:spPr>
        <p:txBody>
          <a:bodyPr wrap="square" lIns="0" tIns="0" rIns="0" bIns="0" rtlCol="0" anchor="ctr">
            <a:normAutofit/>
          </a:bodyPr>
          <a:lstStyle/>
          <a:p>
            <a:pPr algn="r" indent="0" marL="0">
              <a:buNone/>
            </a:pPr>
            <a:r>
              <a:rPr lang="en-US" sz="1350" b="1" dirty="0">
                <a:solidFill>
                  <a:srgbClr val="405466"/>
                </a:solidFill>
                <a:latin typeface="Arial" pitchFamily="34" charset="0"/>
                <a:ea typeface="Arial" pitchFamily="34" charset="-122"/>
                <a:cs typeface="Arial" pitchFamily="34" charset="-120"/>
              </a:rPr>
              <a:t>All Republicans</a:t>
            </a:r>
            <a:endParaRPr lang="en-US" sz="1350" dirty="0"/>
          </a:p>
        </p:txBody>
      </p:sp>
      <p:sp>
        <p:nvSpPr>
          <p:cNvPr id="8" name="Shape 6"/>
          <p:cNvSpPr/>
          <p:nvPr/>
        </p:nvSpPr>
        <p:spPr>
          <a:xfrm>
            <a:off x="2176272" y="2039112"/>
            <a:ext cx="3803904" cy="256032"/>
          </a:xfrm>
          <a:prstGeom prst="roundRect">
            <a:avLst>
              <a:gd name="adj" fmla="val 35714"/>
            </a:avLst>
          </a:prstGeom>
          <a:solidFill>
            <a:srgbClr val="F4F2F3"/>
          </a:solidFill>
          <a:ln w="12700">
            <a:solidFill>
              <a:srgbClr val="E7E4E6"/>
            </a:solidFill>
            <a:prstDash val="solid"/>
          </a:ln>
        </p:spPr>
      </p:sp>
      <p:sp>
        <p:nvSpPr>
          <p:cNvPr id="9" name="Shape 7"/>
          <p:cNvSpPr/>
          <p:nvPr/>
        </p:nvSpPr>
        <p:spPr>
          <a:xfrm>
            <a:off x="2176272" y="2039112"/>
            <a:ext cx="1255288" cy="256032"/>
          </a:xfrm>
          <a:prstGeom prst="roundRect">
            <a:avLst>
              <a:gd name="adj" fmla="val 35714"/>
            </a:avLst>
          </a:prstGeom>
          <a:solidFill>
            <a:srgbClr val="D65F5F"/>
          </a:solidFill>
          <a:ln w="12700">
            <a:solidFill>
              <a:srgbClr val="D65F5F"/>
            </a:solidFill>
            <a:prstDash val="solid"/>
          </a:ln>
        </p:spPr>
      </p:sp>
      <p:sp>
        <p:nvSpPr>
          <p:cNvPr id="10" name="Text 8"/>
          <p:cNvSpPr txBox="1"/>
          <p:nvPr/>
        </p:nvSpPr>
        <p:spPr>
          <a:xfrm>
            <a:off x="6126480" y="2002536"/>
            <a:ext cx="640080" cy="310896"/>
          </a:xfrm>
          <a:prstGeom prst="rect">
            <a:avLst/>
          </a:prstGeom>
          <a:noFill/>
          <a:ln/>
        </p:spPr>
        <p:txBody>
          <a:bodyPr wrap="square" lIns="0" tIns="0" rIns="0" bIns="0" rtlCol="0" anchor="ctr">
            <a:normAutofit/>
          </a:bodyPr>
          <a:lstStyle/>
          <a:p>
            <a:pPr algn="l" indent="0" marL="0">
              <a:buNone/>
            </a:pPr>
            <a:r>
              <a:rPr lang="en-US" sz="1500" b="1" dirty="0">
                <a:solidFill>
                  <a:srgbClr val="D65F5F"/>
                </a:solidFill>
                <a:latin typeface="Arial" pitchFamily="34" charset="0"/>
                <a:ea typeface="Arial" pitchFamily="34" charset="-122"/>
                <a:cs typeface="Arial" pitchFamily="34" charset="-120"/>
              </a:rPr>
              <a:t>33%</a:t>
            </a:r>
            <a:endParaRPr lang="en-US" sz="1500" dirty="0"/>
          </a:p>
        </p:txBody>
      </p:sp>
      <p:sp>
        <p:nvSpPr>
          <p:cNvPr id="11" name="Text 9"/>
          <p:cNvSpPr txBox="1"/>
          <p:nvPr/>
        </p:nvSpPr>
        <p:spPr>
          <a:xfrm>
            <a:off x="841248" y="2633472"/>
            <a:ext cx="1207008" cy="274320"/>
          </a:xfrm>
          <a:prstGeom prst="rect">
            <a:avLst/>
          </a:prstGeom>
          <a:noFill/>
          <a:ln/>
        </p:spPr>
        <p:txBody>
          <a:bodyPr wrap="square" lIns="0" tIns="0" rIns="0" bIns="0" rtlCol="0" anchor="ctr">
            <a:normAutofit/>
          </a:bodyPr>
          <a:lstStyle/>
          <a:p>
            <a:pPr algn="r" indent="0" marL="0">
              <a:buNone/>
            </a:pPr>
            <a:r>
              <a:rPr lang="en-US" sz="1350" b="1" dirty="0">
                <a:solidFill>
                  <a:srgbClr val="405466"/>
                </a:solidFill>
                <a:latin typeface="Arial" pitchFamily="34" charset="0"/>
                <a:ea typeface="Arial" pitchFamily="34" charset="-122"/>
                <a:cs typeface="Arial" pitchFamily="34" charset="-120"/>
              </a:rPr>
              <a:t>Republicans 18–29</a:t>
            </a:r>
            <a:endParaRPr lang="en-US" sz="1350" dirty="0"/>
          </a:p>
        </p:txBody>
      </p:sp>
      <p:sp>
        <p:nvSpPr>
          <p:cNvPr id="12" name="Shape 10"/>
          <p:cNvSpPr/>
          <p:nvPr/>
        </p:nvSpPr>
        <p:spPr>
          <a:xfrm>
            <a:off x="2176272" y="2660904"/>
            <a:ext cx="3803904" cy="256032"/>
          </a:xfrm>
          <a:prstGeom prst="roundRect">
            <a:avLst>
              <a:gd name="adj" fmla="val 35714"/>
            </a:avLst>
          </a:prstGeom>
          <a:solidFill>
            <a:srgbClr val="F4F2F3"/>
          </a:solidFill>
          <a:ln w="12700">
            <a:solidFill>
              <a:srgbClr val="E7E4E6"/>
            </a:solidFill>
            <a:prstDash val="solid"/>
          </a:ln>
        </p:spPr>
      </p:sp>
      <p:sp>
        <p:nvSpPr>
          <p:cNvPr id="13" name="Shape 11"/>
          <p:cNvSpPr/>
          <p:nvPr/>
        </p:nvSpPr>
        <p:spPr>
          <a:xfrm>
            <a:off x="2176272" y="2660904"/>
            <a:ext cx="2054108" cy="256032"/>
          </a:xfrm>
          <a:prstGeom prst="roundRect">
            <a:avLst>
              <a:gd name="adj" fmla="val 35714"/>
            </a:avLst>
          </a:prstGeom>
          <a:solidFill>
            <a:srgbClr val="571D2B"/>
          </a:solidFill>
          <a:ln w="12700">
            <a:solidFill>
              <a:srgbClr val="571D2B"/>
            </a:solidFill>
            <a:prstDash val="solid"/>
          </a:ln>
        </p:spPr>
      </p:sp>
      <p:sp>
        <p:nvSpPr>
          <p:cNvPr id="14" name="Text 12"/>
          <p:cNvSpPr txBox="1"/>
          <p:nvPr/>
        </p:nvSpPr>
        <p:spPr>
          <a:xfrm>
            <a:off x="6126480" y="2624328"/>
            <a:ext cx="640080" cy="310896"/>
          </a:xfrm>
          <a:prstGeom prst="rect">
            <a:avLst/>
          </a:prstGeom>
          <a:noFill/>
          <a:ln/>
        </p:spPr>
        <p:txBody>
          <a:bodyPr wrap="square" lIns="0" tIns="0" rIns="0" bIns="0" rtlCol="0" anchor="ctr">
            <a:normAutofit/>
          </a:bodyPr>
          <a:lstStyle/>
          <a:p>
            <a:pPr algn="l" indent="0" marL="0">
              <a:buNone/>
            </a:pPr>
            <a:r>
              <a:rPr lang="en-US" sz="1500" b="1" dirty="0">
                <a:solidFill>
                  <a:srgbClr val="571D2B"/>
                </a:solidFill>
                <a:latin typeface="Arial" pitchFamily="34" charset="0"/>
                <a:ea typeface="Arial" pitchFamily="34" charset="-122"/>
                <a:cs typeface="Arial" pitchFamily="34" charset="-120"/>
              </a:rPr>
              <a:t>54%</a:t>
            </a:r>
            <a:endParaRPr lang="en-US" sz="1500" dirty="0"/>
          </a:p>
        </p:txBody>
      </p:sp>
      <p:sp>
        <p:nvSpPr>
          <p:cNvPr id="15" name="Text 13"/>
          <p:cNvSpPr txBox="1"/>
          <p:nvPr/>
        </p:nvSpPr>
        <p:spPr>
          <a:xfrm>
            <a:off x="841248" y="3685032"/>
            <a:ext cx="1207008" cy="274320"/>
          </a:xfrm>
          <a:prstGeom prst="rect">
            <a:avLst/>
          </a:prstGeom>
          <a:noFill/>
          <a:ln/>
        </p:spPr>
        <p:txBody>
          <a:bodyPr wrap="square" lIns="0" tIns="0" rIns="0" bIns="0" rtlCol="0" anchor="ctr">
            <a:normAutofit/>
          </a:bodyPr>
          <a:lstStyle/>
          <a:p>
            <a:pPr algn="r" indent="0" marL="0">
              <a:buNone/>
            </a:pPr>
            <a:r>
              <a:rPr lang="en-US" sz="1350" b="1" dirty="0">
                <a:solidFill>
                  <a:srgbClr val="405466"/>
                </a:solidFill>
                <a:latin typeface="Arial" pitchFamily="34" charset="0"/>
                <a:ea typeface="Arial" pitchFamily="34" charset="-122"/>
                <a:cs typeface="Arial" pitchFamily="34" charset="-120"/>
              </a:rPr>
              <a:t>All Democrats</a:t>
            </a:r>
            <a:endParaRPr lang="en-US" sz="1350" dirty="0"/>
          </a:p>
        </p:txBody>
      </p:sp>
      <p:sp>
        <p:nvSpPr>
          <p:cNvPr id="16" name="Shape 14"/>
          <p:cNvSpPr/>
          <p:nvPr/>
        </p:nvSpPr>
        <p:spPr>
          <a:xfrm>
            <a:off x="2176272" y="3712464"/>
            <a:ext cx="3803904" cy="256032"/>
          </a:xfrm>
          <a:prstGeom prst="roundRect">
            <a:avLst>
              <a:gd name="adj" fmla="val 35714"/>
            </a:avLst>
          </a:prstGeom>
          <a:solidFill>
            <a:srgbClr val="F4F2F3"/>
          </a:solidFill>
          <a:ln w="12700">
            <a:solidFill>
              <a:srgbClr val="E7E4E6"/>
            </a:solidFill>
            <a:prstDash val="solid"/>
          </a:ln>
        </p:spPr>
      </p:sp>
      <p:sp>
        <p:nvSpPr>
          <p:cNvPr id="17" name="Shape 15"/>
          <p:cNvSpPr/>
          <p:nvPr/>
        </p:nvSpPr>
        <p:spPr>
          <a:xfrm>
            <a:off x="2176272" y="3712464"/>
            <a:ext cx="2358420" cy="256032"/>
          </a:xfrm>
          <a:prstGeom prst="roundRect">
            <a:avLst>
              <a:gd name="adj" fmla="val 35714"/>
            </a:avLst>
          </a:prstGeom>
          <a:solidFill>
            <a:srgbClr val="2A8C82"/>
          </a:solidFill>
          <a:ln w="12700">
            <a:solidFill>
              <a:srgbClr val="2A8C82"/>
            </a:solidFill>
            <a:prstDash val="solid"/>
          </a:ln>
        </p:spPr>
      </p:sp>
      <p:sp>
        <p:nvSpPr>
          <p:cNvPr id="18" name="Text 16"/>
          <p:cNvSpPr txBox="1"/>
          <p:nvPr/>
        </p:nvSpPr>
        <p:spPr>
          <a:xfrm>
            <a:off x="6126480" y="3675888"/>
            <a:ext cx="640080" cy="310896"/>
          </a:xfrm>
          <a:prstGeom prst="rect">
            <a:avLst/>
          </a:prstGeom>
          <a:noFill/>
          <a:ln/>
        </p:spPr>
        <p:txBody>
          <a:bodyPr wrap="square" lIns="0" tIns="0" rIns="0" bIns="0" rtlCol="0" anchor="ctr">
            <a:normAutofit/>
          </a:bodyPr>
          <a:lstStyle/>
          <a:p>
            <a:pPr algn="l" indent="0" marL="0">
              <a:buNone/>
            </a:pPr>
            <a:r>
              <a:rPr lang="en-US" sz="1500" b="1" dirty="0">
                <a:solidFill>
                  <a:srgbClr val="2A8C82"/>
                </a:solidFill>
                <a:latin typeface="Arial" pitchFamily="34" charset="0"/>
                <a:ea typeface="Arial" pitchFamily="34" charset="-122"/>
                <a:cs typeface="Arial" pitchFamily="34" charset="-120"/>
              </a:rPr>
              <a:t>62%</a:t>
            </a:r>
            <a:endParaRPr lang="en-US" sz="1500" dirty="0"/>
          </a:p>
        </p:txBody>
      </p:sp>
      <p:sp>
        <p:nvSpPr>
          <p:cNvPr id="19" name="Text 17"/>
          <p:cNvSpPr txBox="1"/>
          <p:nvPr/>
        </p:nvSpPr>
        <p:spPr>
          <a:xfrm>
            <a:off x="841248" y="4306824"/>
            <a:ext cx="1207008" cy="274320"/>
          </a:xfrm>
          <a:prstGeom prst="rect">
            <a:avLst/>
          </a:prstGeom>
          <a:noFill/>
          <a:ln/>
        </p:spPr>
        <p:txBody>
          <a:bodyPr wrap="square" lIns="0" tIns="0" rIns="0" bIns="0" rtlCol="0" anchor="ctr">
            <a:normAutofit/>
          </a:bodyPr>
          <a:lstStyle/>
          <a:p>
            <a:pPr algn="r" indent="0" marL="0">
              <a:buNone/>
            </a:pPr>
            <a:r>
              <a:rPr lang="en-US" sz="1350" b="1" dirty="0">
                <a:solidFill>
                  <a:srgbClr val="405466"/>
                </a:solidFill>
                <a:latin typeface="Arial" pitchFamily="34" charset="0"/>
                <a:ea typeface="Arial" pitchFamily="34" charset="-122"/>
                <a:cs typeface="Arial" pitchFamily="34" charset="-120"/>
              </a:rPr>
              <a:t>Democrats 18–29</a:t>
            </a:r>
            <a:endParaRPr lang="en-US" sz="1350" dirty="0"/>
          </a:p>
        </p:txBody>
      </p:sp>
      <p:sp>
        <p:nvSpPr>
          <p:cNvPr id="20" name="Shape 18"/>
          <p:cNvSpPr/>
          <p:nvPr/>
        </p:nvSpPr>
        <p:spPr>
          <a:xfrm>
            <a:off x="2176272" y="4334256"/>
            <a:ext cx="3803904" cy="256032"/>
          </a:xfrm>
          <a:prstGeom prst="roundRect">
            <a:avLst>
              <a:gd name="adj" fmla="val 35714"/>
            </a:avLst>
          </a:prstGeom>
          <a:solidFill>
            <a:srgbClr val="F4F2F3"/>
          </a:solidFill>
          <a:ln w="12700">
            <a:solidFill>
              <a:srgbClr val="E7E4E6"/>
            </a:solidFill>
            <a:prstDash val="solid"/>
          </a:ln>
        </p:spPr>
      </p:sp>
      <p:sp>
        <p:nvSpPr>
          <p:cNvPr id="21" name="Shape 19"/>
          <p:cNvSpPr/>
          <p:nvPr/>
        </p:nvSpPr>
        <p:spPr>
          <a:xfrm>
            <a:off x="2176272" y="4334256"/>
            <a:ext cx="2890967" cy="256032"/>
          </a:xfrm>
          <a:prstGeom prst="roundRect">
            <a:avLst>
              <a:gd name="adj" fmla="val 35714"/>
            </a:avLst>
          </a:prstGeom>
          <a:solidFill>
            <a:srgbClr val="775DA6"/>
          </a:solidFill>
          <a:ln w="12700">
            <a:solidFill>
              <a:srgbClr val="775DA6"/>
            </a:solidFill>
            <a:prstDash val="solid"/>
          </a:ln>
        </p:spPr>
      </p:sp>
      <p:sp>
        <p:nvSpPr>
          <p:cNvPr id="22" name="Text 20"/>
          <p:cNvSpPr txBox="1"/>
          <p:nvPr/>
        </p:nvSpPr>
        <p:spPr>
          <a:xfrm>
            <a:off x="6126480" y="4297680"/>
            <a:ext cx="640080" cy="310896"/>
          </a:xfrm>
          <a:prstGeom prst="rect">
            <a:avLst/>
          </a:prstGeom>
          <a:noFill/>
          <a:ln/>
        </p:spPr>
        <p:txBody>
          <a:bodyPr wrap="square" lIns="0" tIns="0" rIns="0" bIns="0" rtlCol="0" anchor="ctr">
            <a:normAutofit/>
          </a:bodyPr>
          <a:lstStyle/>
          <a:p>
            <a:pPr algn="l" indent="0" marL="0">
              <a:buNone/>
            </a:pPr>
            <a:r>
              <a:rPr lang="en-US" sz="1500" b="1" dirty="0">
                <a:solidFill>
                  <a:srgbClr val="775DA6"/>
                </a:solidFill>
                <a:latin typeface="Arial" pitchFamily="34" charset="0"/>
                <a:ea typeface="Arial" pitchFamily="34" charset="-122"/>
                <a:cs typeface="Arial" pitchFamily="34" charset="-120"/>
              </a:rPr>
              <a:t>76%</a:t>
            </a:r>
            <a:endParaRPr lang="en-US" sz="1500" dirty="0"/>
          </a:p>
        </p:txBody>
      </p:sp>
      <p:sp>
        <p:nvSpPr>
          <p:cNvPr id="23" name="Shape 21"/>
          <p:cNvSpPr/>
          <p:nvPr/>
        </p:nvSpPr>
        <p:spPr>
          <a:xfrm>
            <a:off x="6967728" y="1408176"/>
            <a:ext cx="4370832" cy="3593592"/>
          </a:xfrm>
          <a:prstGeom prst="roundRect">
            <a:avLst>
              <a:gd name="adj" fmla="val 2036"/>
            </a:avLst>
          </a:prstGeom>
          <a:solidFill>
            <a:srgbClr val="F4F2F3"/>
          </a:solidFill>
          <a:ln w="12700">
            <a:solidFill>
              <a:srgbClr val="E7E4E6"/>
            </a:solidFill>
            <a:prstDash val="solid"/>
          </a:ln>
        </p:spPr>
      </p:sp>
      <p:sp>
        <p:nvSpPr>
          <p:cNvPr id="24" name="Text 22"/>
          <p:cNvSpPr txBox="1"/>
          <p:nvPr/>
        </p:nvSpPr>
        <p:spPr>
          <a:xfrm>
            <a:off x="7324344" y="1746504"/>
            <a:ext cx="3657600" cy="566928"/>
          </a:xfrm>
          <a:prstGeom prst="rect">
            <a:avLst/>
          </a:prstGeom>
          <a:noFill/>
          <a:ln/>
        </p:spPr>
        <p:txBody>
          <a:bodyPr wrap="square" lIns="0" tIns="0" rIns="0" bIns="0" rtlCol="0" anchor="ctr">
            <a:normAutofit/>
          </a:bodyPr>
          <a:lstStyle/>
          <a:p>
            <a:pPr algn="ctr" indent="0" marL="0">
              <a:buNone/>
            </a:pPr>
            <a:r>
              <a:rPr lang="en-US" sz="2300" b="1" dirty="0">
                <a:solidFill>
                  <a:srgbClr val="242126"/>
                </a:solidFill>
                <a:latin typeface="Cambria" pitchFamily="34" charset="0"/>
                <a:ea typeface="Cambria" pitchFamily="34" charset="-122"/>
                <a:cs typeface="Cambria" pitchFamily="34" charset="-120"/>
              </a:rPr>
              <a:t>Structural response needs group separation</a:t>
            </a:r>
            <a:endParaRPr lang="en-US" sz="2300" dirty="0"/>
          </a:p>
        </p:txBody>
      </p:sp>
      <p:sp>
        <p:nvSpPr>
          <p:cNvPr id="25" name="Shape 23"/>
          <p:cNvSpPr/>
          <p:nvPr/>
        </p:nvSpPr>
        <p:spPr>
          <a:xfrm>
            <a:off x="7498080" y="2633472"/>
            <a:ext cx="1417320" cy="1417320"/>
          </a:xfrm>
          <a:prstGeom prst="ellipse">
            <a:avLst/>
          </a:prstGeom>
          <a:solidFill>
            <a:srgbClr val="F8E1E1"/>
          </a:solidFill>
          <a:ln w="12700">
            <a:solidFill>
              <a:srgbClr val="D65F5F"/>
            </a:solidFill>
            <a:prstDash val="solid"/>
          </a:ln>
        </p:spPr>
      </p:sp>
      <p:sp>
        <p:nvSpPr>
          <p:cNvPr id="26" name="Shape 24"/>
          <p:cNvSpPr/>
          <p:nvPr/>
        </p:nvSpPr>
        <p:spPr>
          <a:xfrm>
            <a:off x="8302752" y="2633472"/>
            <a:ext cx="1417320" cy="1417320"/>
          </a:xfrm>
          <a:prstGeom prst="ellipse">
            <a:avLst/>
          </a:prstGeom>
          <a:solidFill>
            <a:srgbClr val="DCEFEB"/>
          </a:solidFill>
          <a:ln w="12700">
            <a:solidFill>
              <a:srgbClr val="2A8C82"/>
            </a:solidFill>
            <a:prstDash val="solid"/>
          </a:ln>
        </p:spPr>
      </p:sp>
      <p:sp>
        <p:nvSpPr>
          <p:cNvPr id="27" name="Text 25"/>
          <p:cNvSpPr txBox="1"/>
          <p:nvPr/>
        </p:nvSpPr>
        <p:spPr>
          <a:xfrm>
            <a:off x="7424928" y="3026664"/>
            <a:ext cx="1261872" cy="530352"/>
          </a:xfrm>
          <a:prstGeom prst="rect">
            <a:avLst/>
          </a:prstGeom>
          <a:noFill/>
          <a:ln/>
        </p:spPr>
        <p:txBody>
          <a:bodyPr wrap="square" lIns="0" tIns="0" rIns="0" bIns="0" rtlCol="0" anchor="ctr">
            <a:normAutofit/>
          </a:bodyPr>
          <a:lstStyle/>
          <a:p>
            <a:pPr algn="ctr" indent="0" marL="0">
              <a:buNone/>
            </a:pPr>
            <a:r>
              <a:rPr lang="en-US" sz="1300" b="1" dirty="0">
                <a:solidFill>
                  <a:srgbClr val="D65F5F"/>
                </a:solidFill>
                <a:latin typeface="Arial" pitchFamily="34" charset="0"/>
                <a:ea typeface="Arial" pitchFamily="34" charset="-122"/>
                <a:cs typeface="Arial" pitchFamily="34" charset="-120"/>
              </a:rPr>
              <a:t>within-group</a:t>
            </a:r>
            <a:endParaRPr lang="en-US" sz="1300" dirty="0"/>
          </a:p>
          <a:p>
            <a:pPr algn="ctr" indent="0" marL="0">
              <a:buNone/>
            </a:pPr>
            <a:r>
              <a:rPr lang="en-US" sz="1300" b="1" dirty="0">
                <a:solidFill>
                  <a:srgbClr val="D65F5F"/>
                </a:solidFill>
                <a:latin typeface="Arial" pitchFamily="34" charset="0"/>
                <a:ea typeface="Arial" pitchFamily="34" charset="-122"/>
                <a:cs typeface="Arial" pitchFamily="34" charset="-120"/>
              </a:rPr>
              <a:t>variation</a:t>
            </a:r>
            <a:endParaRPr lang="en-US" sz="1300" dirty="0"/>
          </a:p>
        </p:txBody>
      </p:sp>
      <p:sp>
        <p:nvSpPr>
          <p:cNvPr id="28" name="Text 26"/>
          <p:cNvSpPr txBox="1"/>
          <p:nvPr/>
        </p:nvSpPr>
        <p:spPr>
          <a:xfrm>
            <a:off x="8723376" y="3026664"/>
            <a:ext cx="1572768" cy="530352"/>
          </a:xfrm>
          <a:prstGeom prst="rect">
            <a:avLst/>
          </a:prstGeom>
          <a:noFill/>
          <a:ln/>
        </p:spPr>
        <p:txBody>
          <a:bodyPr wrap="square" lIns="0" tIns="0" rIns="0" bIns="0" rtlCol="0" anchor="ctr">
            <a:normAutofit/>
          </a:bodyPr>
          <a:lstStyle/>
          <a:p>
            <a:pPr algn="ctr" indent="0" marL="0">
              <a:buNone/>
            </a:pPr>
            <a:r>
              <a:rPr lang="en-US" sz="1300" b="1" dirty="0">
                <a:solidFill>
                  <a:srgbClr val="2A8C82"/>
                </a:solidFill>
                <a:latin typeface="Arial" pitchFamily="34" charset="0"/>
                <a:ea typeface="Arial" pitchFamily="34" charset="-122"/>
                <a:cs typeface="Arial" pitchFamily="34" charset="-120"/>
              </a:rPr>
              <a:t>between-group</a:t>
            </a:r>
            <a:endParaRPr lang="en-US" sz="1300" dirty="0"/>
          </a:p>
          <a:p>
            <a:pPr algn="ctr" indent="0" marL="0">
              <a:buNone/>
            </a:pPr>
            <a:r>
              <a:rPr lang="en-US" sz="1300" b="1" dirty="0">
                <a:solidFill>
                  <a:srgbClr val="2A8C82"/>
                </a:solidFill>
                <a:latin typeface="Arial" pitchFamily="34" charset="0"/>
                <a:ea typeface="Arial" pitchFamily="34" charset="-122"/>
                <a:cs typeface="Arial" pitchFamily="34" charset="-120"/>
              </a:rPr>
              <a:t>difference</a:t>
            </a:r>
            <a:endParaRPr lang="en-US" sz="1300" dirty="0"/>
          </a:p>
        </p:txBody>
      </p:sp>
      <p:sp>
        <p:nvSpPr>
          <p:cNvPr id="29" name="Text 27"/>
          <p:cNvSpPr txBox="1"/>
          <p:nvPr/>
        </p:nvSpPr>
        <p:spPr>
          <a:xfrm>
            <a:off x="7333488" y="4251960"/>
            <a:ext cx="3639312" cy="457200"/>
          </a:xfrm>
          <a:prstGeom prst="rect">
            <a:avLst/>
          </a:prstGeom>
          <a:noFill/>
          <a:ln/>
        </p:spPr>
        <p:txBody>
          <a:bodyPr wrap="square" lIns="0" tIns="0" rIns="0" bIns="0" rtlCol="0" anchor="ctr">
            <a:normAutofit/>
          </a:bodyPr>
          <a:lstStyle/>
          <a:p>
            <a:pPr algn="ctr" indent="0" marL="0">
              <a:buNone/>
            </a:pPr>
            <a:r>
              <a:rPr lang="en-US" sz="1550" b="1" dirty="0">
                <a:solidFill>
                  <a:srgbClr val="571D2B"/>
                </a:solidFill>
                <a:latin typeface="Arial" pitchFamily="34" charset="0"/>
                <a:ea typeface="Arial" pitchFamily="34" charset="-122"/>
                <a:cs typeface="Arial" pitchFamily="34" charset="-120"/>
              </a:rPr>
              <a:t>A younger Twitter population compresses the partisan gap on this issue.</a:t>
            </a:r>
            <a:endParaRPr lang="en-US" sz="1550" dirty="0"/>
          </a:p>
        </p:txBody>
      </p:sp>
      <p:sp>
        <p:nvSpPr>
          <p:cNvPr id="30" name="Shape 28"/>
          <p:cNvSpPr/>
          <p:nvPr/>
        </p:nvSpPr>
        <p:spPr>
          <a:xfrm>
            <a:off x="1316736" y="5394960"/>
            <a:ext cx="9592056" cy="658368"/>
          </a:xfrm>
          <a:prstGeom prst="roundRect">
            <a:avLst>
              <a:gd name="adj" fmla="val 11111"/>
            </a:avLst>
          </a:prstGeom>
          <a:solidFill>
            <a:srgbClr val="F7EDCF"/>
          </a:solidFill>
          <a:ln w="12700">
            <a:solidFill>
              <a:srgbClr val="D7A62A"/>
            </a:solidFill>
            <a:prstDash val="solid"/>
          </a:ln>
        </p:spPr>
      </p:sp>
      <p:sp>
        <p:nvSpPr>
          <p:cNvPr id="31" name="Text 29"/>
          <p:cNvSpPr txBox="1"/>
          <p:nvPr/>
        </p:nvSpPr>
        <p:spPr>
          <a:xfrm>
            <a:off x="1682496" y="5532120"/>
            <a:ext cx="8860536" cy="347472"/>
          </a:xfrm>
          <a:prstGeom prst="rect">
            <a:avLst/>
          </a:prstGeom>
          <a:noFill/>
          <a:ln/>
        </p:spPr>
        <p:txBody>
          <a:bodyPr wrap="square" lIns="0" tIns="0" rIns="0" bIns="0" rtlCol="0" anchor="ctr">
            <a:normAutofit/>
          </a:bodyPr>
          <a:lstStyle/>
          <a:p>
            <a:pPr algn="ctr" indent="0" marL="0">
              <a:buNone/>
            </a:pPr>
            <a:r>
              <a:rPr lang="en-US" sz="1700" b="1" dirty="0">
                <a:solidFill>
                  <a:srgbClr val="242126"/>
                </a:solidFill>
                <a:latin typeface="Arial" pitchFamily="34" charset="0"/>
                <a:ea typeface="Arial" pitchFamily="34" charset="-122"/>
                <a:cs typeface="Arial" pitchFamily="34" charset="-120"/>
              </a:rPr>
              <a:t>The result is not “no polarization.” It is polarization along the grouping that is actually coherent on the policy.</a:t>
            </a:r>
            <a:endParaRPr lang="en-US" sz="1700" dirty="0"/>
          </a:p>
        </p:txBody>
      </p:sp>
      <p:sp>
        <p:nvSpPr>
          <p:cNvPr id="32" name="Text 30"/>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Source: Clark et al., version 5, Table 3; Pew Research Center data aggregated March–May 2013.</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LEGAL INTERPRETATION</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What the Court settled—and what it left unsettled</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768096" y="1408176"/>
            <a:ext cx="5093208" cy="4425696"/>
          </a:xfrm>
          <a:prstGeom prst="roundRect">
            <a:avLst>
              <a:gd name="adj" fmla="val 1653"/>
            </a:avLst>
          </a:prstGeom>
          <a:solidFill>
            <a:srgbClr val="DCEFEB"/>
          </a:solidFill>
          <a:ln w="12700">
            <a:solidFill>
              <a:srgbClr val="2A8C82"/>
            </a:solidFill>
            <a:prstDash val="solid"/>
          </a:ln>
        </p:spPr>
      </p:sp>
      <p:sp>
        <p:nvSpPr>
          <p:cNvPr id="7" name="Shape 5"/>
          <p:cNvSpPr/>
          <p:nvPr/>
        </p:nvSpPr>
        <p:spPr>
          <a:xfrm>
            <a:off x="1097280" y="1746504"/>
            <a:ext cx="1700784" cy="310896"/>
          </a:xfrm>
          <a:prstGeom prst="roundRect">
            <a:avLst>
              <a:gd name="adj" fmla="val 44118"/>
            </a:avLst>
          </a:prstGeom>
          <a:solidFill>
            <a:srgbClr val="2A8C82"/>
          </a:solidFill>
          <a:ln w="12700">
            <a:solidFill>
              <a:srgbClr val="2A8C82"/>
            </a:solidFill>
            <a:prstDash val="solid"/>
          </a:ln>
        </p:spPr>
      </p:sp>
      <p:sp>
        <p:nvSpPr>
          <p:cNvPr id="8" name="Text 6"/>
          <p:cNvSpPr txBox="1"/>
          <p:nvPr/>
        </p:nvSpPr>
        <p:spPr>
          <a:xfrm>
            <a:off x="1170432" y="1755648"/>
            <a:ext cx="1554480"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LEGAL SETTLEMENT</a:t>
            </a:r>
            <a:endParaRPr lang="en-US" sz="1100" dirty="0"/>
          </a:p>
        </p:txBody>
      </p:sp>
      <p:sp>
        <p:nvSpPr>
          <p:cNvPr id="9" name="Text 7"/>
          <p:cNvSpPr txBox="1"/>
          <p:nvPr/>
        </p:nvSpPr>
        <p:spPr>
          <a:xfrm>
            <a:off x="1078992" y="2276856"/>
            <a:ext cx="4480560" cy="384048"/>
          </a:xfrm>
          <a:prstGeom prst="rect">
            <a:avLst/>
          </a:prstGeom>
          <a:noFill/>
          <a:ln/>
        </p:spPr>
        <p:txBody>
          <a:bodyPr wrap="square" lIns="0" tIns="0" rIns="0" bIns="0" rtlCol="0" anchor="ctr">
            <a:normAutofit/>
          </a:bodyPr>
          <a:lstStyle/>
          <a:p>
            <a:pPr algn="l" indent="0" marL="0">
              <a:buNone/>
            </a:pPr>
            <a:r>
              <a:rPr lang="en-US" sz="2300" b="1" dirty="0">
                <a:solidFill>
                  <a:srgbClr val="242126"/>
                </a:solidFill>
                <a:latin typeface="Cambria" pitchFamily="34" charset="0"/>
                <a:ea typeface="Cambria" pitchFamily="34" charset="-122"/>
                <a:cs typeface="Cambria" pitchFamily="34" charset="-120"/>
              </a:rPr>
              <a:t>The judgment changed</a:t>
            </a:r>
            <a:endParaRPr lang="en-US" sz="2300" dirty="0"/>
          </a:p>
        </p:txBody>
      </p:sp>
      <p:sp>
        <p:nvSpPr>
          <p:cNvPr id="10" name="Shape 8"/>
          <p:cNvSpPr/>
          <p:nvPr/>
        </p:nvSpPr>
        <p:spPr>
          <a:xfrm>
            <a:off x="1115568" y="2880360"/>
            <a:ext cx="256032" cy="256032"/>
          </a:xfrm>
          <a:prstGeom prst="ellipse">
            <a:avLst/>
          </a:prstGeom>
          <a:solidFill>
            <a:srgbClr val="2A8C82"/>
          </a:solidFill>
          <a:ln w="12700">
            <a:solidFill>
              <a:srgbClr val="FFFFFF">
                <a:alpha val="0"/>
              </a:srgbClr>
            </a:solidFill>
            <a:prstDash val="solid"/>
          </a:ln>
        </p:spPr>
      </p:sp>
      <p:sp>
        <p:nvSpPr>
          <p:cNvPr id="11" name="Text 9"/>
          <p:cNvSpPr txBox="1"/>
          <p:nvPr/>
        </p:nvSpPr>
        <p:spPr>
          <a:xfrm>
            <a:off x="1152144" y="2889504"/>
            <a:ext cx="182880" cy="20116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12" name="Text 10"/>
          <p:cNvSpPr txBox="1"/>
          <p:nvPr/>
        </p:nvSpPr>
        <p:spPr>
          <a:xfrm>
            <a:off x="1554480" y="2816352"/>
            <a:ext cx="3822192" cy="502920"/>
          </a:xfrm>
          <a:prstGeom prst="rect">
            <a:avLst/>
          </a:prstGeom>
          <a:noFill/>
          <a:ln/>
        </p:spPr>
        <p:txBody>
          <a:bodyPr wrap="square" lIns="0" tIns="0" rIns="0" bIns="0" rtlCol="0" anchor="ctr">
            <a:normAutofit/>
          </a:bodyPr>
          <a:lstStyle/>
          <a:p>
            <a:pPr algn="l" indent="0" marL="0">
              <a:buNone/>
            </a:pPr>
            <a:r>
              <a:rPr lang="en-US" sz="1530" dirty="0">
                <a:solidFill>
                  <a:srgbClr val="405466"/>
                </a:solidFill>
                <a:latin typeface="Arial" pitchFamily="34" charset="0"/>
                <a:ea typeface="Arial" pitchFamily="34" charset="-122"/>
                <a:cs typeface="Arial" pitchFamily="34" charset="-120"/>
              </a:rPr>
              <a:t>Federal recognition rules under DOMA §3</a:t>
            </a:r>
            <a:endParaRPr lang="en-US" sz="1530" dirty="0"/>
          </a:p>
        </p:txBody>
      </p:sp>
      <p:sp>
        <p:nvSpPr>
          <p:cNvPr id="13" name="Shape 11"/>
          <p:cNvSpPr/>
          <p:nvPr/>
        </p:nvSpPr>
        <p:spPr>
          <a:xfrm>
            <a:off x="1115568" y="3593592"/>
            <a:ext cx="256032" cy="256032"/>
          </a:xfrm>
          <a:prstGeom prst="ellipse">
            <a:avLst/>
          </a:prstGeom>
          <a:solidFill>
            <a:srgbClr val="2A8C82"/>
          </a:solidFill>
          <a:ln w="12700">
            <a:solidFill>
              <a:srgbClr val="FFFFFF">
                <a:alpha val="0"/>
              </a:srgbClr>
            </a:solidFill>
            <a:prstDash val="solid"/>
          </a:ln>
        </p:spPr>
      </p:sp>
      <p:sp>
        <p:nvSpPr>
          <p:cNvPr id="14" name="Text 12"/>
          <p:cNvSpPr txBox="1"/>
          <p:nvPr/>
        </p:nvSpPr>
        <p:spPr>
          <a:xfrm>
            <a:off x="1152144" y="3602736"/>
            <a:ext cx="182880" cy="20116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15" name="Text 13"/>
          <p:cNvSpPr txBox="1"/>
          <p:nvPr/>
        </p:nvSpPr>
        <p:spPr>
          <a:xfrm>
            <a:off x="1554480" y="3529584"/>
            <a:ext cx="3822192" cy="502920"/>
          </a:xfrm>
          <a:prstGeom prst="rect">
            <a:avLst/>
          </a:prstGeom>
          <a:noFill/>
          <a:ln/>
        </p:spPr>
        <p:txBody>
          <a:bodyPr wrap="square" lIns="0" tIns="0" rIns="0" bIns="0" rtlCol="0" anchor="ctr">
            <a:normAutofit/>
          </a:bodyPr>
          <a:lstStyle/>
          <a:p>
            <a:pPr algn="l" indent="0" marL="0">
              <a:buNone/>
            </a:pPr>
            <a:r>
              <a:rPr lang="en-US" sz="1530" dirty="0">
                <a:solidFill>
                  <a:srgbClr val="405466"/>
                </a:solidFill>
                <a:latin typeface="Arial" pitchFamily="34" charset="0"/>
                <a:ea typeface="Arial" pitchFamily="34" charset="-122"/>
                <a:cs typeface="Arial" pitchFamily="34" charset="-120"/>
              </a:rPr>
              <a:t>The practical status of California’s Proposition 8</a:t>
            </a:r>
            <a:endParaRPr lang="en-US" sz="1530" dirty="0"/>
          </a:p>
        </p:txBody>
      </p:sp>
      <p:sp>
        <p:nvSpPr>
          <p:cNvPr id="16" name="Shape 14"/>
          <p:cNvSpPr/>
          <p:nvPr/>
        </p:nvSpPr>
        <p:spPr>
          <a:xfrm>
            <a:off x="1115568" y="4306824"/>
            <a:ext cx="256032" cy="256032"/>
          </a:xfrm>
          <a:prstGeom prst="ellipse">
            <a:avLst/>
          </a:prstGeom>
          <a:solidFill>
            <a:srgbClr val="2A8C82"/>
          </a:solidFill>
          <a:ln w="12700">
            <a:solidFill>
              <a:srgbClr val="FFFFFF">
                <a:alpha val="0"/>
              </a:srgbClr>
            </a:solidFill>
            <a:prstDash val="solid"/>
          </a:ln>
        </p:spPr>
      </p:sp>
      <p:sp>
        <p:nvSpPr>
          <p:cNvPr id="17" name="Text 15"/>
          <p:cNvSpPr txBox="1"/>
          <p:nvPr/>
        </p:nvSpPr>
        <p:spPr>
          <a:xfrm>
            <a:off x="1152144" y="4315968"/>
            <a:ext cx="182880" cy="20116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18" name="Text 16"/>
          <p:cNvSpPr txBox="1"/>
          <p:nvPr/>
        </p:nvSpPr>
        <p:spPr>
          <a:xfrm>
            <a:off x="1554480" y="4242816"/>
            <a:ext cx="3822192" cy="502920"/>
          </a:xfrm>
          <a:prstGeom prst="rect">
            <a:avLst/>
          </a:prstGeom>
          <a:noFill/>
          <a:ln/>
        </p:spPr>
        <p:txBody>
          <a:bodyPr wrap="square" lIns="0" tIns="0" rIns="0" bIns="0" rtlCol="0" anchor="ctr">
            <a:normAutofit/>
          </a:bodyPr>
          <a:lstStyle/>
          <a:p>
            <a:pPr algn="l" indent="0" marL="0">
              <a:buNone/>
            </a:pPr>
            <a:r>
              <a:rPr lang="en-US" sz="1530" dirty="0">
                <a:solidFill>
                  <a:srgbClr val="405466"/>
                </a:solidFill>
                <a:latin typeface="Arial" pitchFamily="34" charset="0"/>
                <a:ea typeface="Arial" pitchFamily="34" charset="-122"/>
                <a:cs typeface="Arial" pitchFamily="34" charset="-120"/>
              </a:rPr>
              <a:t>Immediate rights, obligations, and administrative expectations</a:t>
            </a:r>
            <a:endParaRPr lang="en-US" sz="1530" dirty="0"/>
          </a:p>
        </p:txBody>
      </p:sp>
      <p:sp>
        <p:nvSpPr>
          <p:cNvPr id="19" name="Shape 17"/>
          <p:cNvSpPr/>
          <p:nvPr/>
        </p:nvSpPr>
        <p:spPr>
          <a:xfrm>
            <a:off x="6336792" y="1408176"/>
            <a:ext cx="5093208" cy="4425696"/>
          </a:xfrm>
          <a:prstGeom prst="roundRect">
            <a:avLst>
              <a:gd name="adj" fmla="val 1653"/>
            </a:avLst>
          </a:prstGeom>
          <a:solidFill>
            <a:srgbClr val="F8E1E1"/>
          </a:solidFill>
          <a:ln w="12700">
            <a:solidFill>
              <a:srgbClr val="D65F5F"/>
            </a:solidFill>
            <a:prstDash val="solid"/>
          </a:ln>
        </p:spPr>
      </p:sp>
      <p:sp>
        <p:nvSpPr>
          <p:cNvPr id="20" name="Shape 18"/>
          <p:cNvSpPr/>
          <p:nvPr/>
        </p:nvSpPr>
        <p:spPr>
          <a:xfrm>
            <a:off x="6665976" y="1746504"/>
            <a:ext cx="1737360" cy="310896"/>
          </a:xfrm>
          <a:prstGeom prst="roundRect">
            <a:avLst>
              <a:gd name="adj" fmla="val 44118"/>
            </a:avLst>
          </a:prstGeom>
          <a:solidFill>
            <a:srgbClr val="D65F5F"/>
          </a:solidFill>
          <a:ln w="12700">
            <a:solidFill>
              <a:srgbClr val="D65F5F"/>
            </a:solidFill>
            <a:prstDash val="solid"/>
          </a:ln>
        </p:spPr>
      </p:sp>
      <p:sp>
        <p:nvSpPr>
          <p:cNvPr id="21" name="Text 19"/>
          <p:cNvSpPr txBox="1"/>
          <p:nvPr/>
        </p:nvSpPr>
        <p:spPr>
          <a:xfrm>
            <a:off x="6739128" y="1755648"/>
            <a:ext cx="1591056" cy="2743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SOCIAL SETTLEMENT</a:t>
            </a:r>
            <a:endParaRPr lang="en-US" sz="1100" dirty="0"/>
          </a:p>
        </p:txBody>
      </p:sp>
      <p:sp>
        <p:nvSpPr>
          <p:cNvPr id="22" name="Text 20"/>
          <p:cNvSpPr txBox="1"/>
          <p:nvPr/>
        </p:nvSpPr>
        <p:spPr>
          <a:xfrm>
            <a:off x="6647688" y="2276856"/>
            <a:ext cx="4480560" cy="384048"/>
          </a:xfrm>
          <a:prstGeom prst="rect">
            <a:avLst/>
          </a:prstGeom>
          <a:noFill/>
          <a:ln/>
        </p:spPr>
        <p:txBody>
          <a:bodyPr wrap="square" lIns="0" tIns="0" rIns="0" bIns="0" rtlCol="0" anchor="ctr">
            <a:normAutofit/>
          </a:bodyPr>
          <a:lstStyle/>
          <a:p>
            <a:pPr algn="l" indent="0" marL="0">
              <a:buNone/>
            </a:pPr>
            <a:r>
              <a:rPr lang="en-US" sz="2300" b="1" dirty="0">
                <a:solidFill>
                  <a:srgbClr val="242126"/>
                </a:solidFill>
                <a:latin typeface="Cambria" pitchFamily="34" charset="0"/>
                <a:ea typeface="Cambria" pitchFamily="34" charset="-122"/>
                <a:cs typeface="Cambria" pitchFamily="34" charset="-120"/>
              </a:rPr>
              <a:t>The judgment did not settle</a:t>
            </a:r>
            <a:endParaRPr lang="en-US" sz="2300" dirty="0"/>
          </a:p>
        </p:txBody>
      </p:sp>
      <p:sp>
        <p:nvSpPr>
          <p:cNvPr id="23" name="Shape 21"/>
          <p:cNvSpPr/>
          <p:nvPr/>
        </p:nvSpPr>
        <p:spPr>
          <a:xfrm>
            <a:off x="6684264" y="2880360"/>
            <a:ext cx="256032" cy="256032"/>
          </a:xfrm>
          <a:prstGeom prst="ellipse">
            <a:avLst/>
          </a:prstGeom>
          <a:solidFill>
            <a:srgbClr val="D65F5F"/>
          </a:solidFill>
          <a:ln w="12700">
            <a:solidFill>
              <a:srgbClr val="FFFFFF">
                <a:alpha val="0"/>
              </a:srgbClr>
            </a:solidFill>
            <a:prstDash val="solid"/>
          </a:ln>
        </p:spPr>
      </p:sp>
      <p:sp>
        <p:nvSpPr>
          <p:cNvPr id="24" name="Text 22"/>
          <p:cNvSpPr txBox="1"/>
          <p:nvPr/>
        </p:nvSpPr>
        <p:spPr>
          <a:xfrm>
            <a:off x="6720840" y="2889504"/>
            <a:ext cx="182880" cy="20116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25" name="Text 23"/>
          <p:cNvSpPr txBox="1"/>
          <p:nvPr/>
        </p:nvSpPr>
        <p:spPr>
          <a:xfrm>
            <a:off x="7123176" y="2816352"/>
            <a:ext cx="3822192" cy="502920"/>
          </a:xfrm>
          <a:prstGeom prst="rect">
            <a:avLst/>
          </a:prstGeom>
          <a:noFill/>
          <a:ln/>
        </p:spPr>
        <p:txBody>
          <a:bodyPr wrap="square" lIns="0" tIns="0" rIns="0" bIns="0" rtlCol="0" anchor="ctr">
            <a:normAutofit/>
          </a:bodyPr>
          <a:lstStyle/>
          <a:p>
            <a:pPr algn="l" indent="0" marL="0">
              <a:buNone/>
            </a:pPr>
            <a:r>
              <a:rPr lang="en-US" sz="1530" dirty="0">
                <a:solidFill>
                  <a:srgbClr val="405466"/>
                </a:solidFill>
                <a:latin typeface="Arial" pitchFamily="34" charset="0"/>
                <a:ea typeface="Arial" pitchFamily="34" charset="-122"/>
                <a:cs typeface="Arial" pitchFamily="34" charset="-120"/>
              </a:rPr>
              <a:t>The public meaning or legitimacy of marriage equality</a:t>
            </a:r>
            <a:endParaRPr lang="en-US" sz="1530" dirty="0"/>
          </a:p>
        </p:txBody>
      </p:sp>
      <p:sp>
        <p:nvSpPr>
          <p:cNvPr id="26" name="Shape 24"/>
          <p:cNvSpPr/>
          <p:nvPr/>
        </p:nvSpPr>
        <p:spPr>
          <a:xfrm>
            <a:off x="6684264" y="3593592"/>
            <a:ext cx="256032" cy="256032"/>
          </a:xfrm>
          <a:prstGeom prst="ellipse">
            <a:avLst/>
          </a:prstGeom>
          <a:solidFill>
            <a:srgbClr val="D65F5F"/>
          </a:solidFill>
          <a:ln w="12700">
            <a:solidFill>
              <a:srgbClr val="FFFFFF">
                <a:alpha val="0"/>
              </a:srgbClr>
            </a:solidFill>
            <a:prstDash val="solid"/>
          </a:ln>
        </p:spPr>
      </p:sp>
      <p:sp>
        <p:nvSpPr>
          <p:cNvPr id="27" name="Text 25"/>
          <p:cNvSpPr txBox="1"/>
          <p:nvPr/>
        </p:nvSpPr>
        <p:spPr>
          <a:xfrm>
            <a:off x="6720840" y="3602736"/>
            <a:ext cx="182880" cy="20116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28" name="Text 26"/>
          <p:cNvSpPr txBox="1"/>
          <p:nvPr/>
        </p:nvSpPr>
        <p:spPr>
          <a:xfrm>
            <a:off x="7123176" y="3529584"/>
            <a:ext cx="3822192" cy="502920"/>
          </a:xfrm>
          <a:prstGeom prst="rect">
            <a:avLst/>
          </a:prstGeom>
          <a:noFill/>
          <a:ln/>
        </p:spPr>
        <p:txBody>
          <a:bodyPr wrap="square" lIns="0" tIns="0" rIns="0" bIns="0" rtlCol="0" anchor="ctr">
            <a:normAutofit/>
          </a:bodyPr>
          <a:lstStyle/>
          <a:p>
            <a:pPr algn="l" indent="0" marL="0">
              <a:buNone/>
            </a:pPr>
            <a:r>
              <a:rPr lang="en-US" sz="1530" dirty="0">
                <a:solidFill>
                  <a:srgbClr val="405466"/>
                </a:solidFill>
                <a:latin typeface="Arial" pitchFamily="34" charset="0"/>
                <a:ea typeface="Arial" pitchFamily="34" charset="-122"/>
                <a:cs typeface="Arial" pitchFamily="34" charset="-120"/>
              </a:rPr>
              <a:t>Agreement among the most committed issue groups</a:t>
            </a:r>
            <a:endParaRPr lang="en-US" sz="1530" dirty="0"/>
          </a:p>
        </p:txBody>
      </p:sp>
      <p:sp>
        <p:nvSpPr>
          <p:cNvPr id="29" name="Shape 27"/>
          <p:cNvSpPr/>
          <p:nvPr/>
        </p:nvSpPr>
        <p:spPr>
          <a:xfrm>
            <a:off x="6684264" y="4306824"/>
            <a:ext cx="256032" cy="256032"/>
          </a:xfrm>
          <a:prstGeom prst="ellipse">
            <a:avLst/>
          </a:prstGeom>
          <a:solidFill>
            <a:srgbClr val="D65F5F"/>
          </a:solidFill>
          <a:ln w="12700">
            <a:solidFill>
              <a:srgbClr val="FFFFFF">
                <a:alpha val="0"/>
              </a:srgbClr>
            </a:solidFill>
            <a:prstDash val="solid"/>
          </a:ln>
        </p:spPr>
      </p:sp>
      <p:sp>
        <p:nvSpPr>
          <p:cNvPr id="30" name="Text 28"/>
          <p:cNvSpPr txBox="1"/>
          <p:nvPr/>
        </p:nvSpPr>
        <p:spPr>
          <a:xfrm>
            <a:off x="6720840" y="4315968"/>
            <a:ext cx="182880" cy="20116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a:t>
            </a:r>
            <a:endParaRPr lang="en-US" sz="1250" dirty="0"/>
          </a:p>
        </p:txBody>
      </p:sp>
      <p:sp>
        <p:nvSpPr>
          <p:cNvPr id="31" name="Text 29"/>
          <p:cNvSpPr txBox="1"/>
          <p:nvPr/>
        </p:nvSpPr>
        <p:spPr>
          <a:xfrm>
            <a:off x="7123176" y="4242816"/>
            <a:ext cx="3822192" cy="502920"/>
          </a:xfrm>
          <a:prstGeom prst="rect">
            <a:avLst/>
          </a:prstGeom>
          <a:noFill/>
          <a:ln/>
        </p:spPr>
        <p:txBody>
          <a:bodyPr wrap="square" lIns="0" tIns="0" rIns="0" bIns="0" rtlCol="0" anchor="ctr">
            <a:normAutofit/>
          </a:bodyPr>
          <a:lstStyle/>
          <a:p>
            <a:pPr algn="l" indent="0" marL="0">
              <a:buNone/>
            </a:pPr>
            <a:r>
              <a:rPr lang="en-US" sz="1530" dirty="0">
                <a:solidFill>
                  <a:srgbClr val="405466"/>
                </a:solidFill>
                <a:latin typeface="Arial" pitchFamily="34" charset="0"/>
                <a:ea typeface="Arial" pitchFamily="34" charset="-122"/>
                <a:cs typeface="Arial" pitchFamily="34" charset="-120"/>
              </a:rPr>
              <a:t>A nationwide constitutional right—that came later in Obergefell</a:t>
            </a:r>
            <a:endParaRPr lang="en-US" sz="1530" dirty="0"/>
          </a:p>
        </p:txBody>
      </p:sp>
      <p:sp>
        <p:nvSpPr>
          <p:cNvPr id="32" name="Text 30"/>
          <p:cNvSpPr txBox="1"/>
          <p:nvPr/>
        </p:nvSpPr>
        <p:spPr>
          <a:xfrm>
            <a:off x="1179576" y="6062472"/>
            <a:ext cx="9848088" cy="320040"/>
          </a:xfrm>
          <a:prstGeom prst="rect">
            <a:avLst/>
          </a:prstGeom>
          <a:noFill/>
          <a:ln/>
        </p:spPr>
        <p:txBody>
          <a:bodyPr wrap="square" lIns="0" tIns="0" rIns="0" bIns="0" rtlCol="0" anchor="ctr">
            <a:normAutofit/>
          </a:bodyPr>
          <a:lstStyle/>
          <a:p>
            <a:pPr algn="ctr" indent="0" marL="0">
              <a:buNone/>
            </a:pPr>
            <a:r>
              <a:rPr lang="en-US" sz="1900" b="1" dirty="0">
                <a:solidFill>
                  <a:srgbClr val="571D2B"/>
                </a:solidFill>
                <a:latin typeface="Arial" pitchFamily="34" charset="0"/>
                <a:ea typeface="Arial" pitchFamily="34" charset="-122"/>
                <a:cs typeface="Arial" pitchFamily="34" charset="-120"/>
              </a:rPr>
              <a:t>Judicial authority can coordinate behavior without producing opinion convergence.</a:t>
            </a:r>
            <a:endParaRPr lang="en-US" sz="1900" dirty="0"/>
          </a:p>
        </p:txBody>
      </p:sp>
      <p:sp>
        <p:nvSpPr>
          <p:cNvPr id="33" name="Text 31"/>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Interpretation of Windsor and Perry; Obergefell v. Hodges followed in 2015.</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CREDIBILITY</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What this design can—and cannot—support</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Text 4"/>
          <p:cNvSpPr txBox="1"/>
          <p:nvPr/>
        </p:nvSpPr>
        <p:spPr>
          <a:xfrm>
            <a:off x="768096" y="1362456"/>
            <a:ext cx="5138928" cy="310896"/>
          </a:xfrm>
          <a:prstGeom prst="rect">
            <a:avLst/>
          </a:prstGeom>
          <a:noFill/>
          <a:ln/>
        </p:spPr>
        <p:txBody>
          <a:bodyPr wrap="square" lIns="0" tIns="0" rIns="0" bIns="0" rtlCol="0" anchor="ctr">
            <a:normAutofit/>
          </a:bodyPr>
          <a:lstStyle/>
          <a:p>
            <a:pPr algn="l" indent="0" marL="0">
              <a:buNone/>
            </a:pPr>
            <a:r>
              <a:rPr lang="en-US" sz="1150" b="1" spc="120" kern="0" dirty="0">
                <a:solidFill>
                  <a:srgbClr val="2A8C82"/>
                </a:solidFill>
                <a:latin typeface="Arial" pitchFamily="34" charset="0"/>
                <a:ea typeface="Arial" pitchFamily="34" charset="-122"/>
                <a:cs typeface="Arial" pitchFamily="34" charset="-120"/>
              </a:rPr>
              <a:t>STRENGTHS</a:t>
            </a:r>
            <a:endParaRPr lang="en-US" sz="1150" dirty="0"/>
          </a:p>
        </p:txBody>
      </p:sp>
      <p:sp>
        <p:nvSpPr>
          <p:cNvPr id="7" name="Text 5"/>
          <p:cNvSpPr txBox="1"/>
          <p:nvPr/>
        </p:nvSpPr>
        <p:spPr>
          <a:xfrm>
            <a:off x="6291072" y="1362456"/>
            <a:ext cx="5138928" cy="310896"/>
          </a:xfrm>
          <a:prstGeom prst="rect">
            <a:avLst/>
          </a:prstGeom>
          <a:noFill/>
          <a:ln/>
        </p:spPr>
        <p:txBody>
          <a:bodyPr wrap="square" lIns="0" tIns="0" rIns="0" bIns="0" rtlCol="0" anchor="ctr">
            <a:normAutofit/>
          </a:bodyPr>
          <a:lstStyle/>
          <a:p>
            <a:pPr algn="l" indent="0" marL="0">
              <a:buNone/>
            </a:pPr>
            <a:r>
              <a:rPr lang="en-US" sz="1150" b="1" spc="120" kern="0" dirty="0">
                <a:solidFill>
                  <a:srgbClr val="D65F5F"/>
                </a:solidFill>
                <a:latin typeface="Arial" pitchFamily="34" charset="0"/>
                <a:ea typeface="Arial" pitchFamily="34" charset="-122"/>
                <a:cs typeface="Arial" pitchFamily="34" charset="-120"/>
              </a:rPr>
              <a:t>LIMITS</a:t>
            </a:r>
            <a:endParaRPr lang="en-US" sz="1150" dirty="0"/>
          </a:p>
        </p:txBody>
      </p:sp>
      <p:sp>
        <p:nvSpPr>
          <p:cNvPr id="8" name="Shape 6"/>
          <p:cNvSpPr/>
          <p:nvPr/>
        </p:nvSpPr>
        <p:spPr>
          <a:xfrm>
            <a:off x="768096" y="1783080"/>
            <a:ext cx="5138928" cy="822960"/>
          </a:xfrm>
          <a:prstGeom prst="roundRect">
            <a:avLst>
              <a:gd name="adj" fmla="val 8889"/>
            </a:avLst>
          </a:prstGeom>
          <a:solidFill>
            <a:srgbClr val="DCEFEB"/>
          </a:solidFill>
          <a:ln w="12700">
            <a:solidFill>
              <a:srgbClr val="2A8C82"/>
            </a:solidFill>
            <a:prstDash val="solid"/>
          </a:ln>
        </p:spPr>
      </p:sp>
      <p:sp>
        <p:nvSpPr>
          <p:cNvPr id="9" name="Text 7"/>
          <p:cNvSpPr txBox="1"/>
          <p:nvPr/>
        </p:nvSpPr>
        <p:spPr>
          <a:xfrm>
            <a:off x="1024128" y="1911096"/>
            <a:ext cx="1481328" cy="265176"/>
          </a:xfrm>
          <a:prstGeom prst="rect">
            <a:avLst/>
          </a:prstGeom>
          <a:noFill/>
          <a:ln/>
        </p:spPr>
        <p:txBody>
          <a:bodyPr wrap="square" lIns="0" tIns="0" rIns="0" bIns="0" rtlCol="0" anchor="ctr">
            <a:normAutofit/>
          </a:bodyPr>
          <a:lstStyle/>
          <a:p>
            <a:pPr algn="l" indent="0" marL="0">
              <a:buNone/>
            </a:pPr>
            <a:r>
              <a:rPr lang="en-US" sz="1600" b="1" dirty="0">
                <a:solidFill>
                  <a:srgbClr val="2A8C82"/>
                </a:solidFill>
                <a:latin typeface="Cambria" pitchFamily="34" charset="0"/>
                <a:ea typeface="Cambria" pitchFamily="34" charset="-122"/>
                <a:cs typeface="Cambria" pitchFamily="34" charset="-120"/>
              </a:rPr>
              <a:t>Real-time behavior</a:t>
            </a:r>
            <a:endParaRPr lang="en-US" sz="1600" dirty="0"/>
          </a:p>
        </p:txBody>
      </p:sp>
      <p:sp>
        <p:nvSpPr>
          <p:cNvPr id="10" name="Text 8"/>
          <p:cNvSpPr txBox="1"/>
          <p:nvPr/>
        </p:nvSpPr>
        <p:spPr>
          <a:xfrm>
            <a:off x="2670048" y="1892808"/>
            <a:ext cx="2926080"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Daily speech captures short-lived reactions that survey waves miss.</a:t>
            </a:r>
            <a:endParaRPr lang="en-US" sz="1320" dirty="0"/>
          </a:p>
        </p:txBody>
      </p:sp>
      <p:sp>
        <p:nvSpPr>
          <p:cNvPr id="11" name="Shape 9"/>
          <p:cNvSpPr/>
          <p:nvPr/>
        </p:nvSpPr>
        <p:spPr>
          <a:xfrm>
            <a:off x="768096" y="2788920"/>
            <a:ext cx="5138928" cy="822960"/>
          </a:xfrm>
          <a:prstGeom prst="roundRect">
            <a:avLst>
              <a:gd name="adj" fmla="val 8889"/>
            </a:avLst>
          </a:prstGeom>
          <a:solidFill>
            <a:srgbClr val="FFFFFF"/>
          </a:solidFill>
          <a:ln w="12700">
            <a:solidFill>
              <a:srgbClr val="2A8C82"/>
            </a:solidFill>
            <a:prstDash val="solid"/>
          </a:ln>
        </p:spPr>
      </p:sp>
      <p:sp>
        <p:nvSpPr>
          <p:cNvPr id="12" name="Text 10"/>
          <p:cNvSpPr txBox="1"/>
          <p:nvPr/>
        </p:nvSpPr>
        <p:spPr>
          <a:xfrm>
            <a:off x="1024128" y="2916936"/>
            <a:ext cx="1481328" cy="265176"/>
          </a:xfrm>
          <a:prstGeom prst="rect">
            <a:avLst/>
          </a:prstGeom>
          <a:noFill/>
          <a:ln/>
        </p:spPr>
        <p:txBody>
          <a:bodyPr wrap="square" lIns="0" tIns="0" rIns="0" bIns="0" rtlCol="0" anchor="ctr">
            <a:normAutofit/>
          </a:bodyPr>
          <a:lstStyle/>
          <a:p>
            <a:pPr algn="l" indent="0" marL="0">
              <a:buNone/>
            </a:pPr>
            <a:r>
              <a:rPr lang="en-US" sz="1600" b="1" dirty="0">
                <a:solidFill>
                  <a:srgbClr val="2A8C82"/>
                </a:solidFill>
                <a:latin typeface="Cambria" pitchFamily="34" charset="0"/>
                <a:ea typeface="Cambria" pitchFamily="34" charset="-122"/>
                <a:cs typeface="Cambria" pitchFamily="34" charset="-120"/>
              </a:rPr>
              <a:t>Two samples</a:t>
            </a:r>
            <a:endParaRPr lang="en-US" sz="1600" dirty="0"/>
          </a:p>
        </p:txBody>
      </p:sp>
      <p:sp>
        <p:nvSpPr>
          <p:cNvPr id="13" name="Text 11"/>
          <p:cNvSpPr txBox="1"/>
          <p:nvPr/>
        </p:nvSpPr>
        <p:spPr>
          <a:xfrm>
            <a:off x="2670048" y="2898648"/>
            <a:ext cx="2926080"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Cross-section and fixed panel offer complementary checks.</a:t>
            </a:r>
            <a:endParaRPr lang="en-US" sz="1320" dirty="0"/>
          </a:p>
        </p:txBody>
      </p:sp>
      <p:sp>
        <p:nvSpPr>
          <p:cNvPr id="14" name="Shape 12"/>
          <p:cNvSpPr/>
          <p:nvPr/>
        </p:nvSpPr>
        <p:spPr>
          <a:xfrm>
            <a:off x="768096" y="3794760"/>
            <a:ext cx="5138928" cy="822960"/>
          </a:xfrm>
          <a:prstGeom prst="roundRect">
            <a:avLst>
              <a:gd name="adj" fmla="val 8889"/>
            </a:avLst>
          </a:prstGeom>
          <a:solidFill>
            <a:srgbClr val="DCEFEB"/>
          </a:solidFill>
          <a:ln w="12700">
            <a:solidFill>
              <a:srgbClr val="2A8C82"/>
            </a:solidFill>
            <a:prstDash val="solid"/>
          </a:ln>
        </p:spPr>
      </p:sp>
      <p:sp>
        <p:nvSpPr>
          <p:cNvPr id="15" name="Text 13"/>
          <p:cNvSpPr txBox="1"/>
          <p:nvPr/>
        </p:nvSpPr>
        <p:spPr>
          <a:xfrm>
            <a:off x="1024128" y="3922776"/>
            <a:ext cx="1481328" cy="265176"/>
          </a:xfrm>
          <a:prstGeom prst="rect">
            <a:avLst/>
          </a:prstGeom>
          <a:noFill/>
          <a:ln/>
        </p:spPr>
        <p:txBody>
          <a:bodyPr wrap="square" lIns="0" tIns="0" rIns="0" bIns="0" rtlCol="0" anchor="ctr">
            <a:normAutofit/>
          </a:bodyPr>
          <a:lstStyle/>
          <a:p>
            <a:pPr algn="l" indent="0" marL="0">
              <a:buNone/>
            </a:pPr>
            <a:r>
              <a:rPr lang="en-US" sz="1600" b="1" dirty="0">
                <a:solidFill>
                  <a:srgbClr val="2A8C82"/>
                </a:solidFill>
                <a:latin typeface="Cambria" pitchFamily="34" charset="0"/>
                <a:ea typeface="Cambria" pitchFamily="34" charset="-122"/>
                <a:cs typeface="Cambria" pitchFamily="34" charset="-120"/>
              </a:rPr>
              <a:t>Theory-linked measures</a:t>
            </a:r>
            <a:endParaRPr lang="en-US" sz="1600" dirty="0"/>
          </a:p>
        </p:txBody>
      </p:sp>
      <p:sp>
        <p:nvSpPr>
          <p:cNvPr id="16" name="Text 14"/>
          <p:cNvSpPr txBox="1"/>
          <p:nvPr/>
        </p:nvSpPr>
        <p:spPr>
          <a:xfrm>
            <a:off x="2670048" y="3904488"/>
            <a:ext cx="2926080"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Support, intensity, anger, and ideology map to explicit predictions.</a:t>
            </a:r>
            <a:endParaRPr lang="en-US" sz="1320" dirty="0"/>
          </a:p>
        </p:txBody>
      </p:sp>
      <p:sp>
        <p:nvSpPr>
          <p:cNvPr id="17" name="Shape 15"/>
          <p:cNvSpPr/>
          <p:nvPr/>
        </p:nvSpPr>
        <p:spPr>
          <a:xfrm>
            <a:off x="768096" y="4800600"/>
            <a:ext cx="5138928" cy="822960"/>
          </a:xfrm>
          <a:prstGeom prst="roundRect">
            <a:avLst>
              <a:gd name="adj" fmla="val 8889"/>
            </a:avLst>
          </a:prstGeom>
          <a:solidFill>
            <a:srgbClr val="FFFFFF"/>
          </a:solidFill>
          <a:ln w="12700">
            <a:solidFill>
              <a:srgbClr val="2A8C82"/>
            </a:solidFill>
            <a:prstDash val="solid"/>
          </a:ln>
        </p:spPr>
      </p:sp>
      <p:sp>
        <p:nvSpPr>
          <p:cNvPr id="18" name="Text 16"/>
          <p:cNvSpPr txBox="1"/>
          <p:nvPr/>
        </p:nvSpPr>
        <p:spPr>
          <a:xfrm>
            <a:off x="1024128" y="4928616"/>
            <a:ext cx="1481328" cy="265176"/>
          </a:xfrm>
          <a:prstGeom prst="rect">
            <a:avLst/>
          </a:prstGeom>
          <a:noFill/>
          <a:ln/>
        </p:spPr>
        <p:txBody>
          <a:bodyPr wrap="square" lIns="0" tIns="0" rIns="0" bIns="0" rtlCol="0" anchor="ctr">
            <a:normAutofit/>
          </a:bodyPr>
          <a:lstStyle/>
          <a:p>
            <a:pPr algn="l" indent="0" marL="0">
              <a:buNone/>
            </a:pPr>
            <a:r>
              <a:rPr lang="en-US" sz="1600" b="1" dirty="0">
                <a:solidFill>
                  <a:srgbClr val="2A8C82"/>
                </a:solidFill>
                <a:latin typeface="Cambria" pitchFamily="34" charset="0"/>
                <a:ea typeface="Cambria" pitchFamily="34" charset="-122"/>
                <a:cs typeface="Cambria" pitchFamily="34" charset="-120"/>
              </a:rPr>
              <a:t>Transparent error</a:t>
            </a:r>
            <a:endParaRPr lang="en-US" sz="1600" dirty="0"/>
          </a:p>
        </p:txBody>
      </p:sp>
      <p:sp>
        <p:nvSpPr>
          <p:cNvPr id="19" name="Text 17"/>
          <p:cNvSpPr txBox="1"/>
          <p:nvPr/>
        </p:nvSpPr>
        <p:spPr>
          <a:xfrm>
            <a:off x="2670048" y="4910328"/>
            <a:ext cx="2926080"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Human coding and validation reveal classifier weaknesses.</a:t>
            </a:r>
            <a:endParaRPr lang="en-US" sz="1320" dirty="0"/>
          </a:p>
        </p:txBody>
      </p:sp>
      <p:sp>
        <p:nvSpPr>
          <p:cNvPr id="20" name="Shape 18"/>
          <p:cNvSpPr/>
          <p:nvPr/>
        </p:nvSpPr>
        <p:spPr>
          <a:xfrm>
            <a:off x="6291072" y="1783080"/>
            <a:ext cx="5138928" cy="822960"/>
          </a:xfrm>
          <a:prstGeom prst="roundRect">
            <a:avLst>
              <a:gd name="adj" fmla="val 8889"/>
            </a:avLst>
          </a:prstGeom>
          <a:solidFill>
            <a:srgbClr val="F8E1E1"/>
          </a:solidFill>
          <a:ln w="12700">
            <a:solidFill>
              <a:srgbClr val="D65F5F"/>
            </a:solidFill>
            <a:prstDash val="solid"/>
          </a:ln>
        </p:spPr>
      </p:sp>
      <p:sp>
        <p:nvSpPr>
          <p:cNvPr id="21" name="Text 19"/>
          <p:cNvSpPr txBox="1"/>
          <p:nvPr/>
        </p:nvSpPr>
        <p:spPr>
          <a:xfrm>
            <a:off x="6547104" y="1911096"/>
            <a:ext cx="1645920" cy="265176"/>
          </a:xfrm>
          <a:prstGeom prst="rect">
            <a:avLst/>
          </a:prstGeom>
          <a:noFill/>
          <a:ln/>
        </p:spPr>
        <p:txBody>
          <a:bodyPr wrap="square" lIns="0" tIns="0" rIns="0" bIns="0" rtlCol="0" anchor="ctr">
            <a:normAutofit/>
          </a:bodyPr>
          <a:lstStyle/>
          <a:p>
            <a:pPr algn="l" indent="0" marL="0">
              <a:buNone/>
            </a:pPr>
            <a:r>
              <a:rPr lang="en-US" sz="1600" b="1" dirty="0">
                <a:solidFill>
                  <a:srgbClr val="D65F5F"/>
                </a:solidFill>
                <a:latin typeface="Cambria" pitchFamily="34" charset="0"/>
                <a:ea typeface="Cambria" pitchFamily="34" charset="-122"/>
                <a:cs typeface="Cambria" pitchFamily="34" charset="-120"/>
              </a:rPr>
              <a:t>No national sample</a:t>
            </a:r>
            <a:endParaRPr lang="en-US" sz="1600" dirty="0"/>
          </a:p>
        </p:txBody>
      </p:sp>
      <p:sp>
        <p:nvSpPr>
          <p:cNvPr id="22" name="Text 20"/>
          <p:cNvSpPr txBox="1"/>
          <p:nvPr/>
        </p:nvSpPr>
        <p:spPr>
          <a:xfrm>
            <a:off x="8302752" y="1892808"/>
            <a:ext cx="2816352"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Twitter participants—especially frequent speakers—are selected.</a:t>
            </a:r>
            <a:endParaRPr lang="en-US" sz="1320" dirty="0"/>
          </a:p>
        </p:txBody>
      </p:sp>
      <p:sp>
        <p:nvSpPr>
          <p:cNvPr id="23" name="Shape 21"/>
          <p:cNvSpPr/>
          <p:nvPr/>
        </p:nvSpPr>
        <p:spPr>
          <a:xfrm>
            <a:off x="6291072" y="2788920"/>
            <a:ext cx="5138928" cy="822960"/>
          </a:xfrm>
          <a:prstGeom prst="roundRect">
            <a:avLst>
              <a:gd name="adj" fmla="val 8889"/>
            </a:avLst>
          </a:prstGeom>
          <a:solidFill>
            <a:srgbClr val="FFFFFF"/>
          </a:solidFill>
          <a:ln w="12700">
            <a:solidFill>
              <a:srgbClr val="D65F5F"/>
            </a:solidFill>
            <a:prstDash val="solid"/>
          </a:ln>
        </p:spPr>
      </p:sp>
      <p:sp>
        <p:nvSpPr>
          <p:cNvPr id="24" name="Text 22"/>
          <p:cNvSpPr txBox="1"/>
          <p:nvPr/>
        </p:nvSpPr>
        <p:spPr>
          <a:xfrm>
            <a:off x="6547104" y="2916936"/>
            <a:ext cx="1645920" cy="265176"/>
          </a:xfrm>
          <a:prstGeom prst="rect">
            <a:avLst/>
          </a:prstGeom>
          <a:noFill/>
          <a:ln/>
        </p:spPr>
        <p:txBody>
          <a:bodyPr wrap="square" lIns="0" tIns="0" rIns="0" bIns="0" rtlCol="0" anchor="ctr">
            <a:normAutofit/>
          </a:bodyPr>
          <a:lstStyle/>
          <a:p>
            <a:pPr algn="l" indent="0" marL="0">
              <a:buNone/>
            </a:pPr>
            <a:r>
              <a:rPr lang="en-US" sz="1600" b="1" dirty="0">
                <a:solidFill>
                  <a:srgbClr val="D65F5F"/>
                </a:solidFill>
                <a:latin typeface="Cambria" pitchFamily="34" charset="0"/>
                <a:ea typeface="Cambria" pitchFamily="34" charset="-122"/>
                <a:cs typeface="Cambria" pitchFamily="34" charset="-120"/>
              </a:rPr>
              <a:t>No untreated counterfactual</a:t>
            </a:r>
            <a:endParaRPr lang="en-US" sz="1600" dirty="0"/>
          </a:p>
        </p:txBody>
      </p:sp>
      <p:sp>
        <p:nvSpPr>
          <p:cNvPr id="25" name="Text 23"/>
          <p:cNvSpPr txBox="1"/>
          <p:nvPr/>
        </p:nvSpPr>
        <p:spPr>
          <a:xfrm>
            <a:off x="8302752" y="2898648"/>
            <a:ext cx="2816352"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Before/after patterns are not a fully identified causal effect.</a:t>
            </a:r>
            <a:endParaRPr lang="en-US" sz="1320" dirty="0"/>
          </a:p>
        </p:txBody>
      </p:sp>
      <p:sp>
        <p:nvSpPr>
          <p:cNvPr id="26" name="Shape 24"/>
          <p:cNvSpPr/>
          <p:nvPr/>
        </p:nvSpPr>
        <p:spPr>
          <a:xfrm>
            <a:off x="6291072" y="3794760"/>
            <a:ext cx="5138928" cy="822960"/>
          </a:xfrm>
          <a:prstGeom prst="roundRect">
            <a:avLst>
              <a:gd name="adj" fmla="val 8889"/>
            </a:avLst>
          </a:prstGeom>
          <a:solidFill>
            <a:srgbClr val="F8E1E1"/>
          </a:solidFill>
          <a:ln w="12700">
            <a:solidFill>
              <a:srgbClr val="D65F5F"/>
            </a:solidFill>
            <a:prstDash val="solid"/>
          </a:ln>
        </p:spPr>
      </p:sp>
      <p:sp>
        <p:nvSpPr>
          <p:cNvPr id="27" name="Text 25"/>
          <p:cNvSpPr txBox="1"/>
          <p:nvPr/>
        </p:nvSpPr>
        <p:spPr>
          <a:xfrm>
            <a:off x="6547104" y="3922776"/>
            <a:ext cx="1645920" cy="265176"/>
          </a:xfrm>
          <a:prstGeom prst="rect">
            <a:avLst/>
          </a:prstGeom>
          <a:noFill/>
          <a:ln/>
        </p:spPr>
        <p:txBody>
          <a:bodyPr wrap="square" lIns="0" tIns="0" rIns="0" bIns="0" rtlCol="0" anchor="ctr">
            <a:normAutofit/>
          </a:bodyPr>
          <a:lstStyle/>
          <a:p>
            <a:pPr algn="l" indent="0" marL="0">
              <a:buNone/>
            </a:pPr>
            <a:r>
              <a:rPr lang="en-US" sz="1600" b="1" dirty="0">
                <a:solidFill>
                  <a:srgbClr val="D65F5F"/>
                </a:solidFill>
                <a:latin typeface="Cambria" pitchFamily="34" charset="0"/>
                <a:ea typeface="Cambria" pitchFamily="34" charset="-122"/>
                <a:cs typeface="Cambria" pitchFamily="34" charset="-120"/>
              </a:rPr>
              <a:t>One issue and era</a:t>
            </a:r>
            <a:endParaRPr lang="en-US" sz="1600" dirty="0"/>
          </a:p>
        </p:txBody>
      </p:sp>
      <p:sp>
        <p:nvSpPr>
          <p:cNvPr id="28" name="Text 26"/>
          <p:cNvSpPr txBox="1"/>
          <p:nvPr/>
        </p:nvSpPr>
        <p:spPr>
          <a:xfrm>
            <a:off x="8302752" y="3904488"/>
            <a:ext cx="2816352"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Marriage equality in 2013 may not travel to other rulings or platforms.</a:t>
            </a:r>
            <a:endParaRPr lang="en-US" sz="1320" dirty="0"/>
          </a:p>
        </p:txBody>
      </p:sp>
      <p:sp>
        <p:nvSpPr>
          <p:cNvPr id="29" name="Shape 27"/>
          <p:cNvSpPr/>
          <p:nvPr/>
        </p:nvSpPr>
        <p:spPr>
          <a:xfrm>
            <a:off x="6291072" y="4800600"/>
            <a:ext cx="5138928" cy="822960"/>
          </a:xfrm>
          <a:prstGeom prst="roundRect">
            <a:avLst>
              <a:gd name="adj" fmla="val 8889"/>
            </a:avLst>
          </a:prstGeom>
          <a:solidFill>
            <a:srgbClr val="FFFFFF"/>
          </a:solidFill>
          <a:ln w="12700">
            <a:solidFill>
              <a:srgbClr val="D65F5F"/>
            </a:solidFill>
            <a:prstDash val="solid"/>
          </a:ln>
        </p:spPr>
      </p:sp>
      <p:sp>
        <p:nvSpPr>
          <p:cNvPr id="30" name="Text 28"/>
          <p:cNvSpPr txBox="1"/>
          <p:nvPr/>
        </p:nvSpPr>
        <p:spPr>
          <a:xfrm>
            <a:off x="6547104" y="4928616"/>
            <a:ext cx="1645920" cy="265176"/>
          </a:xfrm>
          <a:prstGeom prst="rect">
            <a:avLst/>
          </a:prstGeom>
          <a:noFill/>
          <a:ln/>
        </p:spPr>
        <p:txBody>
          <a:bodyPr wrap="square" lIns="0" tIns="0" rIns="0" bIns="0" rtlCol="0" anchor="ctr">
            <a:normAutofit/>
          </a:bodyPr>
          <a:lstStyle/>
          <a:p>
            <a:pPr algn="l" indent="0" marL="0">
              <a:buNone/>
            </a:pPr>
            <a:r>
              <a:rPr lang="en-US" sz="1600" b="1" dirty="0">
                <a:solidFill>
                  <a:srgbClr val="D65F5F"/>
                </a:solidFill>
                <a:latin typeface="Cambria" pitchFamily="34" charset="0"/>
                <a:ea typeface="Cambria" pitchFamily="34" charset="-122"/>
                <a:cs typeface="Cambria" pitchFamily="34" charset="-120"/>
              </a:rPr>
              <a:t>Measurement error</a:t>
            </a:r>
            <a:endParaRPr lang="en-US" sz="1600" dirty="0"/>
          </a:p>
        </p:txBody>
      </p:sp>
      <p:sp>
        <p:nvSpPr>
          <p:cNvPr id="31" name="Text 29"/>
          <p:cNvSpPr txBox="1"/>
          <p:nvPr/>
        </p:nvSpPr>
        <p:spPr>
          <a:xfrm>
            <a:off x="8302752" y="4910328"/>
            <a:ext cx="2816352" cy="493776"/>
          </a:xfrm>
          <a:prstGeom prst="rect">
            <a:avLst/>
          </a:prstGeom>
          <a:noFill/>
          <a:ln/>
        </p:spPr>
        <p:txBody>
          <a:bodyPr wrap="square" lIns="0" tIns="0" rIns="0" bIns="0" rtlCol="0" anchor="t">
            <a:normAutofit/>
          </a:bodyPr>
          <a:lstStyle/>
          <a:p>
            <a:pPr algn="l" indent="0" marL="0">
              <a:buNone/>
            </a:pPr>
            <a:r>
              <a:rPr lang="en-US" sz="1320" dirty="0">
                <a:solidFill>
                  <a:srgbClr val="405466"/>
                </a:solidFill>
                <a:latin typeface="Arial" pitchFamily="34" charset="0"/>
                <a:ea typeface="Arial" pitchFamily="34" charset="-122"/>
                <a:cs typeface="Arial" pitchFamily="34" charset="-120"/>
              </a:rPr>
              <a:t>Rare opposition and anger are the hardest classes to detect.</a:t>
            </a:r>
            <a:endParaRPr lang="en-US" sz="1320" dirty="0"/>
          </a:p>
        </p:txBody>
      </p:sp>
      <p:sp>
        <p:nvSpPr>
          <p:cNvPr id="32" name="Shape 30"/>
          <p:cNvSpPr/>
          <p:nvPr/>
        </p:nvSpPr>
        <p:spPr>
          <a:xfrm>
            <a:off x="1408176" y="5980176"/>
            <a:ext cx="9326880" cy="384048"/>
          </a:xfrm>
          <a:prstGeom prst="roundRect">
            <a:avLst>
              <a:gd name="adj" fmla="val 19048"/>
            </a:avLst>
          </a:prstGeom>
          <a:solidFill>
            <a:srgbClr val="571D2B"/>
          </a:solidFill>
          <a:ln w="12700">
            <a:solidFill>
              <a:srgbClr val="571D2B"/>
            </a:solidFill>
            <a:prstDash val="solid"/>
          </a:ln>
        </p:spPr>
      </p:sp>
      <p:sp>
        <p:nvSpPr>
          <p:cNvPr id="33" name="Text 31"/>
          <p:cNvSpPr txBox="1"/>
          <p:nvPr/>
        </p:nvSpPr>
        <p:spPr>
          <a:xfrm>
            <a:off x="1645920" y="6035040"/>
            <a:ext cx="8851392" cy="237744"/>
          </a:xfrm>
          <a:prstGeom prst="rect">
            <a:avLst/>
          </a:prstGeom>
          <a:noFill/>
          <a:ln/>
        </p:spPr>
        <p:txBody>
          <a:bodyPr wrap="square" lIns="0" tIns="0" rIns="0" bIns="0" rtlCol="0" anchor="ctr">
            <a:normAutofit/>
          </a:bodyPr>
          <a:lstStyle/>
          <a:p>
            <a:pPr algn="ctr" indent="0" marL="0">
              <a:buNone/>
            </a:pPr>
            <a:r>
              <a:rPr lang="en-US" sz="1480" b="1" dirty="0">
                <a:solidFill>
                  <a:srgbClr val="FFFFFF"/>
                </a:solidFill>
                <a:latin typeface="Arial" pitchFamily="34" charset="0"/>
                <a:ea typeface="Arial" pitchFamily="34" charset="-122"/>
                <a:cs typeface="Arial" pitchFamily="34" charset="-120"/>
              </a:rPr>
              <a:t>Defensible claim: the decisions reorganized discourse among Twitter participants—not “the Court caused national opinion to polarize.”</a:t>
            </a:r>
            <a:endParaRPr lang="en-US" sz="1480" dirty="0"/>
          </a:p>
        </p:txBody>
      </p:sp>
      <p:sp>
        <p:nvSpPr>
          <p:cNvPr id="34" name="Text 32"/>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Scope conditions and limitations synthesized from Clark et al., version 5.</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21792" y="228600"/>
            <a:ext cx="4389120" cy="219456"/>
          </a:xfrm>
          <a:prstGeom prst="rect">
            <a:avLst/>
          </a:prstGeom>
          <a:noFill/>
          <a:ln/>
        </p:spPr>
        <p:txBody>
          <a:bodyPr wrap="square" lIns="0" tIns="0" rIns="0" bIns="0" rtlCol="0" anchor="ctr">
            <a:normAutofit/>
          </a:bodyPr>
          <a:lstStyle/>
          <a:p>
            <a:pPr algn="l" indent="0" marL="0">
              <a:buNone/>
            </a:pPr>
            <a:r>
              <a:rPr lang="en-US" sz="1050" b="1" spc="120" kern="0" dirty="0">
                <a:solidFill>
                  <a:srgbClr val="772D3D"/>
                </a:solidFill>
                <a:latin typeface="Arial" pitchFamily="34" charset="0"/>
                <a:ea typeface="Arial" pitchFamily="34" charset="-122"/>
                <a:cs typeface="Arial" pitchFamily="34" charset="-120"/>
              </a:rPr>
              <a:t>CONTRIBUTION</a:t>
            </a:r>
            <a:endParaRPr lang="en-US" sz="1050" dirty="0"/>
          </a:p>
        </p:txBody>
      </p:sp>
      <p:sp>
        <p:nvSpPr>
          <p:cNvPr id="3" name="Text 1"/>
          <p:cNvSpPr txBox="1"/>
          <p:nvPr/>
        </p:nvSpPr>
        <p:spPr>
          <a:xfrm>
            <a:off x="621792" y="493776"/>
            <a:ext cx="10698480" cy="585216"/>
          </a:xfrm>
          <a:prstGeom prst="rect">
            <a:avLst/>
          </a:prstGeom>
          <a:noFill/>
          <a:ln/>
        </p:spPr>
        <p:txBody>
          <a:bodyPr wrap="square" lIns="0" tIns="0" rIns="0" bIns="0" rtlCol="0" anchor="ctr">
            <a:normAutofit/>
          </a:bodyPr>
          <a:lstStyle/>
          <a:p>
            <a:pPr algn="l" indent="0" marL="0">
              <a:buNone/>
            </a:pPr>
            <a:r>
              <a:rPr lang="en-US" sz="3000" b="1" dirty="0">
                <a:solidFill>
                  <a:srgbClr val="242126"/>
                </a:solidFill>
                <a:latin typeface="Cambria" pitchFamily="34" charset="0"/>
                <a:ea typeface="Cambria" pitchFamily="34" charset="-122"/>
                <a:cs typeface="Cambria" pitchFamily="34" charset="-120"/>
              </a:rPr>
              <a:t>Three contributions—and a sharper next test</a:t>
            </a:r>
            <a:endParaRPr lang="en-US" sz="3000" dirty="0"/>
          </a:p>
        </p:txBody>
      </p:sp>
      <p:sp>
        <p:nvSpPr>
          <p:cNvPr id="4" name="Shape 2"/>
          <p:cNvSpPr/>
          <p:nvPr/>
        </p:nvSpPr>
        <p:spPr>
          <a:xfrm>
            <a:off x="11137392" y="320040"/>
            <a:ext cx="274320" cy="274320"/>
          </a:xfrm>
          <a:prstGeom prst="ellipse">
            <a:avLst/>
          </a:prstGeom>
          <a:solidFill>
            <a:srgbClr val="2A8C82"/>
          </a:solidFill>
          <a:ln w="12700">
            <a:solidFill>
              <a:srgbClr val="FFFFFF">
                <a:alpha val="0"/>
              </a:srgbClr>
            </a:solidFill>
            <a:prstDash val="solid"/>
          </a:ln>
        </p:spPr>
      </p:sp>
      <p:sp>
        <p:nvSpPr>
          <p:cNvPr id="5" name="Shape 3"/>
          <p:cNvSpPr/>
          <p:nvPr/>
        </p:nvSpPr>
        <p:spPr>
          <a:xfrm>
            <a:off x="11320272" y="320040"/>
            <a:ext cx="274320" cy="274320"/>
          </a:xfrm>
          <a:prstGeom prst="ellipse">
            <a:avLst/>
          </a:prstGeom>
          <a:solidFill>
            <a:srgbClr val="D65F5F"/>
          </a:solidFill>
          <a:ln w="12700">
            <a:solidFill>
              <a:srgbClr val="FFFFFF">
                <a:alpha val="0"/>
              </a:srgbClr>
            </a:solidFill>
            <a:prstDash val="solid"/>
          </a:ln>
        </p:spPr>
      </p:sp>
      <p:sp>
        <p:nvSpPr>
          <p:cNvPr id="6" name="Shape 4"/>
          <p:cNvSpPr/>
          <p:nvPr/>
        </p:nvSpPr>
        <p:spPr>
          <a:xfrm>
            <a:off x="1655064" y="1472184"/>
            <a:ext cx="1188720" cy="1188720"/>
          </a:xfrm>
          <a:prstGeom prst="ellipse">
            <a:avLst/>
          </a:prstGeom>
          <a:solidFill>
            <a:srgbClr val="571D2B"/>
          </a:solidFill>
          <a:ln w="12700">
            <a:solidFill>
              <a:srgbClr val="FFFFFF">
                <a:alpha val="0"/>
              </a:srgbClr>
            </a:solidFill>
            <a:prstDash val="solid"/>
          </a:ln>
        </p:spPr>
      </p:sp>
      <p:sp>
        <p:nvSpPr>
          <p:cNvPr id="7" name="Text 5"/>
          <p:cNvSpPr txBox="1"/>
          <p:nvPr/>
        </p:nvSpPr>
        <p:spPr>
          <a:xfrm>
            <a:off x="1965960" y="1691640"/>
            <a:ext cx="566928" cy="603504"/>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8" name="Text 6"/>
          <p:cNvSpPr txBox="1"/>
          <p:nvPr/>
        </p:nvSpPr>
        <p:spPr>
          <a:xfrm>
            <a:off x="850392" y="2852928"/>
            <a:ext cx="2816352" cy="329184"/>
          </a:xfrm>
          <a:prstGeom prst="rect">
            <a:avLst/>
          </a:prstGeom>
          <a:noFill/>
          <a:ln/>
        </p:spPr>
        <p:txBody>
          <a:bodyPr wrap="square" lIns="0" tIns="0" rIns="0" bIns="0" rtlCol="0" anchor="ctr">
            <a:normAutofit/>
          </a:bodyPr>
          <a:lstStyle/>
          <a:p>
            <a:pPr algn="ctr" indent="0" marL="0">
              <a:buNone/>
            </a:pPr>
            <a:r>
              <a:rPr lang="en-US" sz="2100" b="1" dirty="0">
                <a:solidFill>
                  <a:srgbClr val="571D2B"/>
                </a:solidFill>
                <a:latin typeface="Cambria" pitchFamily="34" charset="0"/>
                <a:ea typeface="Cambria" pitchFamily="34" charset="-122"/>
                <a:cs typeface="Cambria" pitchFamily="34" charset="-120"/>
              </a:rPr>
              <a:t>Institutional</a:t>
            </a:r>
            <a:endParaRPr lang="en-US" sz="2100" dirty="0"/>
          </a:p>
        </p:txBody>
      </p:sp>
      <p:sp>
        <p:nvSpPr>
          <p:cNvPr id="9" name="Text 7"/>
          <p:cNvSpPr txBox="1"/>
          <p:nvPr/>
        </p:nvSpPr>
        <p:spPr>
          <a:xfrm>
            <a:off x="996696" y="3282696"/>
            <a:ext cx="2523744" cy="850392"/>
          </a:xfrm>
          <a:prstGeom prst="rect">
            <a:avLst/>
          </a:prstGeom>
          <a:noFill/>
          <a:ln/>
        </p:spPr>
        <p:txBody>
          <a:bodyPr wrap="square" lIns="0" tIns="0" rIns="0" bIns="0" rtlCol="0" anchor="t">
            <a:normAutofit/>
          </a:bodyPr>
          <a:lstStyle/>
          <a:p>
            <a:pPr algn="ctr" indent="0" marL="0">
              <a:buNone/>
            </a:pPr>
            <a:r>
              <a:rPr lang="en-US" sz="1520" dirty="0">
                <a:solidFill>
                  <a:srgbClr val="405466"/>
                </a:solidFill>
                <a:latin typeface="Arial" pitchFamily="34" charset="0"/>
                <a:ea typeface="Arial" pitchFamily="34" charset="-122"/>
                <a:cs typeface="Arial" pitchFamily="34" charset="-120"/>
              </a:rPr>
              <a:t>Judicial legitimacy need not become policy legitimation.</a:t>
            </a:r>
            <a:endParaRPr lang="en-US" sz="1520" dirty="0"/>
          </a:p>
        </p:txBody>
      </p:sp>
      <p:sp>
        <p:nvSpPr>
          <p:cNvPr id="10" name="Shape 8"/>
          <p:cNvSpPr/>
          <p:nvPr/>
        </p:nvSpPr>
        <p:spPr>
          <a:xfrm>
            <a:off x="4965192" y="1472184"/>
            <a:ext cx="1188720" cy="1188720"/>
          </a:xfrm>
          <a:prstGeom prst="ellipse">
            <a:avLst/>
          </a:prstGeom>
          <a:solidFill>
            <a:srgbClr val="775DA6"/>
          </a:solidFill>
          <a:ln w="12700">
            <a:solidFill>
              <a:srgbClr val="FFFFFF">
                <a:alpha val="0"/>
              </a:srgbClr>
            </a:solidFill>
            <a:prstDash val="solid"/>
          </a:ln>
        </p:spPr>
      </p:sp>
      <p:sp>
        <p:nvSpPr>
          <p:cNvPr id="11" name="Text 9"/>
          <p:cNvSpPr txBox="1"/>
          <p:nvPr/>
        </p:nvSpPr>
        <p:spPr>
          <a:xfrm>
            <a:off x="5276088" y="1691640"/>
            <a:ext cx="566928" cy="603504"/>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12" name="Text 10"/>
          <p:cNvSpPr txBox="1"/>
          <p:nvPr/>
        </p:nvSpPr>
        <p:spPr>
          <a:xfrm>
            <a:off x="4160520" y="2852928"/>
            <a:ext cx="2816352" cy="329184"/>
          </a:xfrm>
          <a:prstGeom prst="rect">
            <a:avLst/>
          </a:prstGeom>
          <a:noFill/>
          <a:ln/>
        </p:spPr>
        <p:txBody>
          <a:bodyPr wrap="square" lIns="0" tIns="0" rIns="0" bIns="0" rtlCol="0" anchor="ctr">
            <a:normAutofit/>
          </a:bodyPr>
          <a:lstStyle/>
          <a:p>
            <a:pPr algn="ctr" indent="0" marL="0">
              <a:buNone/>
            </a:pPr>
            <a:r>
              <a:rPr lang="en-US" sz="2100" b="1" dirty="0">
                <a:solidFill>
                  <a:srgbClr val="775DA6"/>
                </a:solidFill>
                <a:latin typeface="Cambria" pitchFamily="34" charset="0"/>
                <a:ea typeface="Cambria" pitchFamily="34" charset="-122"/>
                <a:cs typeface="Cambria" pitchFamily="34" charset="-120"/>
              </a:rPr>
              <a:t>Methodological</a:t>
            </a:r>
            <a:endParaRPr lang="en-US" sz="2100" dirty="0"/>
          </a:p>
        </p:txBody>
      </p:sp>
      <p:sp>
        <p:nvSpPr>
          <p:cNvPr id="13" name="Text 11"/>
          <p:cNvSpPr txBox="1"/>
          <p:nvPr/>
        </p:nvSpPr>
        <p:spPr>
          <a:xfrm>
            <a:off x="4306824" y="3282696"/>
            <a:ext cx="2523744" cy="850392"/>
          </a:xfrm>
          <a:prstGeom prst="rect">
            <a:avLst/>
          </a:prstGeom>
          <a:noFill/>
          <a:ln/>
        </p:spPr>
        <p:txBody>
          <a:bodyPr wrap="square" lIns="0" tIns="0" rIns="0" bIns="0" rtlCol="0" anchor="t">
            <a:normAutofit/>
          </a:bodyPr>
          <a:lstStyle/>
          <a:p>
            <a:pPr algn="ctr" indent="0" marL="0">
              <a:buNone/>
            </a:pPr>
            <a:r>
              <a:rPr lang="en-US" sz="1520" dirty="0">
                <a:solidFill>
                  <a:srgbClr val="405466"/>
                </a:solidFill>
                <a:latin typeface="Arial" pitchFamily="34" charset="0"/>
                <a:ea typeface="Arial" pitchFamily="34" charset="-122"/>
                <a:cs typeface="Arial" pitchFamily="34" charset="-120"/>
              </a:rPr>
              <a:t>Language data recover emotional dynamics absent from sparse surveys.</a:t>
            </a:r>
            <a:endParaRPr lang="en-US" sz="1520" dirty="0"/>
          </a:p>
        </p:txBody>
      </p:sp>
      <p:sp>
        <p:nvSpPr>
          <p:cNvPr id="14" name="Shape 12"/>
          <p:cNvSpPr/>
          <p:nvPr/>
        </p:nvSpPr>
        <p:spPr>
          <a:xfrm>
            <a:off x="8275320" y="1472184"/>
            <a:ext cx="1188720" cy="1188720"/>
          </a:xfrm>
          <a:prstGeom prst="ellipse">
            <a:avLst/>
          </a:prstGeom>
          <a:solidFill>
            <a:srgbClr val="2A8C82"/>
          </a:solidFill>
          <a:ln w="12700">
            <a:solidFill>
              <a:srgbClr val="FFFFFF">
                <a:alpha val="0"/>
              </a:srgbClr>
            </a:solidFill>
            <a:prstDash val="solid"/>
          </a:ln>
        </p:spPr>
      </p:sp>
      <p:sp>
        <p:nvSpPr>
          <p:cNvPr id="15" name="Text 13"/>
          <p:cNvSpPr txBox="1"/>
          <p:nvPr/>
        </p:nvSpPr>
        <p:spPr>
          <a:xfrm>
            <a:off x="8586216" y="1691640"/>
            <a:ext cx="566928" cy="603504"/>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16" name="Text 14"/>
          <p:cNvSpPr txBox="1"/>
          <p:nvPr/>
        </p:nvSpPr>
        <p:spPr>
          <a:xfrm>
            <a:off x="7470648" y="2852928"/>
            <a:ext cx="2816352" cy="329184"/>
          </a:xfrm>
          <a:prstGeom prst="rect">
            <a:avLst/>
          </a:prstGeom>
          <a:noFill/>
          <a:ln/>
        </p:spPr>
        <p:txBody>
          <a:bodyPr wrap="square" lIns="0" tIns="0" rIns="0" bIns="0" rtlCol="0" anchor="ctr">
            <a:normAutofit/>
          </a:bodyPr>
          <a:lstStyle/>
          <a:p>
            <a:pPr algn="ctr" indent="0" marL="0">
              <a:buNone/>
            </a:pPr>
            <a:r>
              <a:rPr lang="en-US" sz="2100" b="1" dirty="0">
                <a:solidFill>
                  <a:srgbClr val="2A8C82"/>
                </a:solidFill>
                <a:latin typeface="Cambria" pitchFamily="34" charset="0"/>
                <a:ea typeface="Cambria" pitchFamily="34" charset="-122"/>
                <a:cs typeface="Cambria" pitchFamily="34" charset="-120"/>
              </a:rPr>
              <a:t>Normative</a:t>
            </a:r>
            <a:endParaRPr lang="en-US" sz="2100" dirty="0"/>
          </a:p>
        </p:txBody>
      </p:sp>
      <p:sp>
        <p:nvSpPr>
          <p:cNvPr id="17" name="Text 15"/>
          <p:cNvSpPr txBox="1"/>
          <p:nvPr/>
        </p:nvSpPr>
        <p:spPr>
          <a:xfrm>
            <a:off x="7616952" y="3282696"/>
            <a:ext cx="2523744" cy="850392"/>
          </a:xfrm>
          <a:prstGeom prst="rect">
            <a:avLst/>
          </a:prstGeom>
          <a:noFill/>
          <a:ln/>
        </p:spPr>
        <p:txBody>
          <a:bodyPr wrap="square" lIns="0" tIns="0" rIns="0" bIns="0" rtlCol="0" anchor="t">
            <a:normAutofit/>
          </a:bodyPr>
          <a:lstStyle/>
          <a:p>
            <a:pPr algn="ctr" indent="0" marL="0">
              <a:buNone/>
            </a:pPr>
            <a:r>
              <a:rPr lang="en-US" sz="1520" dirty="0">
                <a:solidFill>
                  <a:srgbClr val="405466"/>
                </a:solidFill>
                <a:latin typeface="Arial" pitchFamily="34" charset="0"/>
                <a:ea typeface="Arial" pitchFamily="34" charset="-122"/>
                <a:cs typeface="Arial" pitchFamily="34" charset="-120"/>
              </a:rPr>
              <a:t>Brief emotional shocks may reshape mobilization and deliberation.</a:t>
            </a:r>
            <a:endParaRPr lang="en-US" sz="1520" dirty="0"/>
          </a:p>
        </p:txBody>
      </p:sp>
      <p:sp>
        <p:nvSpPr>
          <p:cNvPr id="18" name="Shape 16"/>
          <p:cNvSpPr/>
          <p:nvPr/>
        </p:nvSpPr>
        <p:spPr>
          <a:xfrm>
            <a:off x="932688" y="4727448"/>
            <a:ext cx="10314432" cy="1097280"/>
          </a:xfrm>
          <a:prstGeom prst="roundRect">
            <a:avLst>
              <a:gd name="adj" fmla="val 6667"/>
            </a:avLst>
          </a:prstGeom>
          <a:solidFill>
            <a:srgbClr val="F4F2F3"/>
          </a:solidFill>
          <a:ln w="12700">
            <a:solidFill>
              <a:srgbClr val="E7E4E6"/>
            </a:solidFill>
            <a:prstDash val="solid"/>
          </a:ln>
        </p:spPr>
      </p:sp>
      <p:sp>
        <p:nvSpPr>
          <p:cNvPr id="19" name="Shape 17"/>
          <p:cNvSpPr/>
          <p:nvPr/>
        </p:nvSpPr>
        <p:spPr>
          <a:xfrm>
            <a:off x="1225296" y="5038344"/>
            <a:ext cx="1133856" cy="310896"/>
          </a:xfrm>
          <a:prstGeom prst="roundRect">
            <a:avLst>
              <a:gd name="adj" fmla="val 44118"/>
            </a:avLst>
          </a:prstGeom>
          <a:solidFill>
            <a:srgbClr val="F7EDCF"/>
          </a:solidFill>
          <a:ln w="12700">
            <a:solidFill>
              <a:srgbClr val="F7EDCF"/>
            </a:solidFill>
            <a:prstDash val="solid"/>
          </a:ln>
        </p:spPr>
      </p:sp>
      <p:sp>
        <p:nvSpPr>
          <p:cNvPr id="20" name="Text 18"/>
          <p:cNvSpPr txBox="1"/>
          <p:nvPr/>
        </p:nvSpPr>
        <p:spPr>
          <a:xfrm>
            <a:off x="1298448" y="5047488"/>
            <a:ext cx="987552" cy="274320"/>
          </a:xfrm>
          <a:prstGeom prst="rect">
            <a:avLst/>
          </a:prstGeom>
          <a:noFill/>
          <a:ln/>
        </p:spPr>
        <p:txBody>
          <a:bodyPr wrap="square" lIns="0" tIns="0" rIns="0" bIns="0" rtlCol="0" anchor="ctr">
            <a:normAutofit/>
          </a:bodyPr>
          <a:lstStyle/>
          <a:p>
            <a:pPr algn="ctr" indent="0" marL="0">
              <a:buNone/>
            </a:pPr>
            <a:r>
              <a:rPr lang="en-US" sz="1100" b="1" dirty="0">
                <a:solidFill>
                  <a:srgbClr val="D7A62A"/>
                </a:solidFill>
                <a:latin typeface="Arial" pitchFamily="34" charset="0"/>
                <a:ea typeface="Arial" pitchFamily="34" charset="-122"/>
                <a:cs typeface="Arial" pitchFamily="34" charset="-120"/>
              </a:rPr>
              <a:t>NEXT TEST</a:t>
            </a:r>
            <a:endParaRPr lang="en-US" sz="1100" dirty="0"/>
          </a:p>
        </p:txBody>
      </p:sp>
      <p:sp>
        <p:nvSpPr>
          <p:cNvPr id="21" name="Text 19"/>
          <p:cNvSpPr txBox="1"/>
          <p:nvPr/>
        </p:nvSpPr>
        <p:spPr>
          <a:xfrm>
            <a:off x="2606040" y="4882896"/>
            <a:ext cx="8247888" cy="667512"/>
          </a:xfrm>
          <a:prstGeom prst="rect">
            <a:avLst/>
          </a:prstGeom>
          <a:noFill/>
          <a:ln/>
        </p:spPr>
        <p:txBody>
          <a:bodyPr wrap="square" lIns="0" tIns="0" rIns="0" bIns="0" rtlCol="0" anchor="ctr">
            <a:normAutofit/>
          </a:bodyPr>
          <a:lstStyle/>
          <a:p>
            <a:pPr algn="l" indent="0" marL="0">
              <a:buNone/>
            </a:pPr>
            <a:r>
              <a:rPr lang="en-US" sz="1650" b="1" dirty="0">
                <a:solidFill>
                  <a:srgbClr val="242126"/>
                </a:solidFill>
                <a:latin typeface="Arial" pitchFamily="34" charset="0"/>
                <a:ea typeface="Arial" pitchFamily="34" charset="-122"/>
                <a:cs typeface="Arial" pitchFamily="34" charset="-120"/>
              </a:rPr>
              <a:t>Compare many rulings that vary in salience, ideological direction, unanimity, remedy, and implementation costs—then trace replies, retweets, and offline participation.</a:t>
            </a:r>
            <a:endParaRPr lang="en-US" sz="1650" dirty="0"/>
          </a:p>
        </p:txBody>
      </p:sp>
      <p:sp>
        <p:nvSpPr>
          <p:cNvPr id="22" name="Text 20"/>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6F686D"/>
                </a:solidFill>
                <a:latin typeface="Arial" pitchFamily="34" charset="0"/>
                <a:ea typeface="Arial" pitchFamily="34" charset="-122"/>
                <a:cs typeface="Arial" pitchFamily="34" charset="-120"/>
              </a:rPr>
              <a:t>Proposed extension for discussion.</a:t>
            </a:r>
            <a:endParaRPr lang="en-US" sz="850" dirty="0"/>
          </a:p>
        </p:txBody>
      </p:sp>
      <p:sp>
        <p:nvSpPr>
          <p:cNvPr id="25" name="Slide Number Placeholder 0"/>
          <p:cNvSpPr>
            <a:spLocks noGrp="1"/>
          </p:cNvSpPr>
          <p:nvPr>
            <p:ph type="sldNum" sz="quarter" idx="4294967295"/>
          </p:nvPr>
        </p:nvSpPr>
        <p:spPr>
          <a:xfrm>
            <a:off x="11201400" y="6473952"/>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A7377"/>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71D2B"/>
        </a:solidFill>
      </p:bgPr>
    </p:bg>
    <p:spTree>
      <p:nvGrpSpPr>
        <p:cNvPr id="1" name=""/>
        <p:cNvGrpSpPr/>
        <p:nvPr/>
      </p:nvGrpSpPr>
      <p:grpSpPr>
        <a:xfrm>
          <a:off x="0" y="0"/>
          <a:ext cx="0" cy="0"/>
          <a:chOff x="0" y="0"/>
          <a:chExt cx="0" cy="0"/>
        </a:xfrm>
      </p:grpSpPr>
      <p:sp>
        <p:nvSpPr>
          <p:cNvPr id="2" name="Shape 0"/>
          <p:cNvSpPr/>
          <p:nvPr/>
        </p:nvSpPr>
        <p:spPr>
          <a:xfrm>
            <a:off x="-1005840" y="4279392"/>
            <a:ext cx="4114800" cy="4114800"/>
          </a:xfrm>
          <a:prstGeom prst="ellipse">
            <a:avLst/>
          </a:prstGeom>
          <a:solidFill>
            <a:srgbClr val="772D3D"/>
          </a:solidFill>
          <a:ln w="12700">
            <a:solidFill>
              <a:srgbClr val="FFFFFF">
                <a:alpha val="0"/>
              </a:srgbClr>
            </a:solidFill>
            <a:prstDash val="solid"/>
          </a:ln>
        </p:spPr>
      </p:sp>
      <p:sp>
        <p:nvSpPr>
          <p:cNvPr id="3" name="Shape 1"/>
          <p:cNvSpPr/>
          <p:nvPr/>
        </p:nvSpPr>
        <p:spPr>
          <a:xfrm>
            <a:off x="9372600" y="-1005840"/>
            <a:ext cx="4023360" cy="4023360"/>
          </a:xfrm>
          <a:prstGeom prst="ellipse">
            <a:avLst/>
          </a:prstGeom>
          <a:solidFill>
            <a:srgbClr val="D65F5F"/>
          </a:solidFill>
          <a:ln w="12700">
            <a:solidFill>
              <a:srgbClr val="FFFFFF">
                <a:alpha val="0"/>
              </a:srgbClr>
            </a:solidFill>
            <a:prstDash val="solid"/>
          </a:ln>
        </p:spPr>
      </p:sp>
      <p:sp>
        <p:nvSpPr>
          <p:cNvPr id="4" name="Text 2"/>
          <p:cNvSpPr txBox="1"/>
          <p:nvPr/>
        </p:nvSpPr>
        <p:spPr>
          <a:xfrm>
            <a:off x="713232" y="594360"/>
            <a:ext cx="1920240" cy="274320"/>
          </a:xfrm>
          <a:prstGeom prst="rect">
            <a:avLst/>
          </a:prstGeom>
          <a:noFill/>
          <a:ln/>
        </p:spPr>
        <p:txBody>
          <a:bodyPr wrap="square" lIns="0" tIns="0" rIns="0" bIns="0" rtlCol="0" anchor="ctr">
            <a:normAutofit/>
          </a:bodyPr>
          <a:lstStyle/>
          <a:p>
            <a:pPr algn="l" indent="0" marL="0">
              <a:buNone/>
            </a:pPr>
            <a:r>
              <a:rPr lang="en-US" sz="1150" b="1" spc="160" kern="0" dirty="0">
                <a:solidFill>
                  <a:srgbClr val="E3C7CD"/>
                </a:solidFill>
                <a:latin typeface="Arial" pitchFamily="34" charset="0"/>
                <a:ea typeface="Arial" pitchFamily="34" charset="-122"/>
                <a:cs typeface="Arial" pitchFamily="34" charset="-120"/>
              </a:rPr>
              <a:t>TAKEAWAY</a:t>
            </a:r>
            <a:endParaRPr lang="en-US" sz="1150" dirty="0"/>
          </a:p>
        </p:txBody>
      </p:sp>
      <p:sp>
        <p:nvSpPr>
          <p:cNvPr id="5" name="Text 3"/>
          <p:cNvSpPr txBox="1"/>
          <p:nvPr/>
        </p:nvSpPr>
        <p:spPr>
          <a:xfrm>
            <a:off x="713232" y="1042416"/>
            <a:ext cx="8138160" cy="1261872"/>
          </a:xfrm>
          <a:prstGeom prst="rect">
            <a:avLst/>
          </a:prstGeom>
          <a:noFill/>
          <a:ln/>
        </p:spPr>
        <p:txBody>
          <a:bodyPr wrap="square" lIns="0" tIns="0" rIns="0" bIns="0" rtlCol="0" anchor="t">
            <a:normAutofit/>
          </a:bodyPr>
          <a:lstStyle/>
          <a:p>
            <a:pPr algn="l" indent="0" marL="0">
              <a:buNone/>
            </a:pPr>
            <a:r>
              <a:rPr lang="en-US" sz="3600" b="1" dirty="0">
                <a:solidFill>
                  <a:srgbClr val="FFFFFF"/>
                </a:solidFill>
                <a:latin typeface="Cambria" pitchFamily="34" charset="0"/>
                <a:ea typeface="Cambria" pitchFamily="34" charset="-122"/>
                <a:cs typeface="Cambria" pitchFamily="34" charset="-120"/>
              </a:rPr>
              <a:t>Courts can win the case</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without winning the argument.</a:t>
            </a:r>
            <a:endParaRPr lang="en-US" sz="3600" dirty="0"/>
          </a:p>
        </p:txBody>
      </p:sp>
      <p:sp>
        <p:nvSpPr>
          <p:cNvPr id="6" name="Shape 4"/>
          <p:cNvSpPr/>
          <p:nvPr/>
        </p:nvSpPr>
        <p:spPr>
          <a:xfrm>
            <a:off x="768096" y="2944368"/>
            <a:ext cx="512064" cy="512064"/>
          </a:xfrm>
          <a:prstGeom prst="ellipse">
            <a:avLst/>
          </a:prstGeom>
          <a:solidFill>
            <a:srgbClr val="2A8C82"/>
          </a:solidFill>
          <a:ln w="12700">
            <a:solidFill>
              <a:srgbClr val="FFFFFF">
                <a:alpha val="0"/>
              </a:srgbClr>
            </a:solidFill>
            <a:prstDash val="solid"/>
          </a:ln>
        </p:spPr>
      </p:sp>
      <p:sp>
        <p:nvSpPr>
          <p:cNvPr id="7" name="Text 5"/>
          <p:cNvSpPr txBox="1"/>
          <p:nvPr/>
        </p:nvSpPr>
        <p:spPr>
          <a:xfrm>
            <a:off x="859536" y="3035808"/>
            <a:ext cx="329184"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01</a:t>
            </a:r>
            <a:endParaRPr lang="en-US" sz="1050" dirty="0"/>
          </a:p>
        </p:txBody>
      </p:sp>
      <p:sp>
        <p:nvSpPr>
          <p:cNvPr id="8" name="Text 6"/>
          <p:cNvSpPr txBox="1"/>
          <p:nvPr/>
        </p:nvSpPr>
        <p:spPr>
          <a:xfrm>
            <a:off x="1572768" y="2935224"/>
            <a:ext cx="8641080" cy="502920"/>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pitchFamily="34" charset="0"/>
                <a:ea typeface="Arial" pitchFamily="34" charset="-122"/>
                <a:cs typeface="Arial" pitchFamily="34" charset="-120"/>
              </a:rPr>
              <a:t>No aggregate legitimation of the policy</a:t>
            </a:r>
            <a:endParaRPr lang="en-US" sz="2000" dirty="0"/>
          </a:p>
        </p:txBody>
      </p:sp>
      <p:sp>
        <p:nvSpPr>
          <p:cNvPr id="9" name="Shape 7"/>
          <p:cNvSpPr/>
          <p:nvPr/>
        </p:nvSpPr>
        <p:spPr>
          <a:xfrm>
            <a:off x="768096" y="3822192"/>
            <a:ext cx="512064" cy="512064"/>
          </a:xfrm>
          <a:prstGeom prst="ellipse">
            <a:avLst/>
          </a:prstGeom>
          <a:solidFill>
            <a:srgbClr val="D65F5F"/>
          </a:solidFill>
          <a:ln w="12700">
            <a:solidFill>
              <a:srgbClr val="FFFFFF">
                <a:alpha val="0"/>
              </a:srgbClr>
            </a:solidFill>
            <a:prstDash val="solid"/>
          </a:ln>
        </p:spPr>
      </p:sp>
      <p:sp>
        <p:nvSpPr>
          <p:cNvPr id="10" name="Text 8"/>
          <p:cNvSpPr txBox="1"/>
          <p:nvPr/>
        </p:nvSpPr>
        <p:spPr>
          <a:xfrm>
            <a:off x="859536" y="3913632"/>
            <a:ext cx="329184"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02</a:t>
            </a:r>
            <a:endParaRPr lang="en-US" sz="1050" dirty="0"/>
          </a:p>
        </p:txBody>
      </p:sp>
      <p:sp>
        <p:nvSpPr>
          <p:cNvPr id="11" name="Text 9"/>
          <p:cNvSpPr txBox="1"/>
          <p:nvPr/>
        </p:nvSpPr>
        <p:spPr>
          <a:xfrm>
            <a:off x="1572768" y="3813048"/>
            <a:ext cx="8641080" cy="502920"/>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pitchFamily="34" charset="0"/>
                <a:ea typeface="Arial" pitchFamily="34" charset="-122"/>
                <a:cs typeface="Arial" pitchFamily="34" charset="-120"/>
              </a:rPr>
              <a:t>Opinion groups polarize—even when ideological groups do not</a:t>
            </a:r>
            <a:endParaRPr lang="en-US" sz="2000" dirty="0"/>
          </a:p>
        </p:txBody>
      </p:sp>
      <p:sp>
        <p:nvSpPr>
          <p:cNvPr id="12" name="Shape 10"/>
          <p:cNvSpPr/>
          <p:nvPr/>
        </p:nvSpPr>
        <p:spPr>
          <a:xfrm>
            <a:off x="768096" y="4700016"/>
            <a:ext cx="512064" cy="512064"/>
          </a:xfrm>
          <a:prstGeom prst="ellipse">
            <a:avLst/>
          </a:prstGeom>
          <a:solidFill>
            <a:srgbClr val="D7A62A"/>
          </a:solidFill>
          <a:ln w="12700">
            <a:solidFill>
              <a:srgbClr val="FFFFFF">
                <a:alpha val="0"/>
              </a:srgbClr>
            </a:solidFill>
            <a:prstDash val="solid"/>
          </a:ln>
        </p:spPr>
      </p:sp>
      <p:sp>
        <p:nvSpPr>
          <p:cNvPr id="13" name="Text 11"/>
          <p:cNvSpPr txBox="1"/>
          <p:nvPr/>
        </p:nvSpPr>
        <p:spPr>
          <a:xfrm>
            <a:off x="859536" y="4791456"/>
            <a:ext cx="329184"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03</a:t>
            </a:r>
            <a:endParaRPr lang="en-US" sz="1050" dirty="0"/>
          </a:p>
        </p:txBody>
      </p:sp>
      <p:sp>
        <p:nvSpPr>
          <p:cNvPr id="14" name="Text 12"/>
          <p:cNvSpPr txBox="1"/>
          <p:nvPr/>
        </p:nvSpPr>
        <p:spPr>
          <a:xfrm>
            <a:off x="1572768" y="4690872"/>
            <a:ext cx="8641080" cy="502920"/>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pitchFamily="34" charset="0"/>
                <a:ea typeface="Arial" pitchFamily="34" charset="-122"/>
                <a:cs typeface="Arial" pitchFamily="34" charset="-120"/>
              </a:rPr>
              <a:t>Emotion responds immediately, asymmetrically, and briefly</a:t>
            </a:r>
            <a:endParaRPr lang="en-US" sz="2000" dirty="0"/>
          </a:p>
        </p:txBody>
      </p:sp>
      <p:sp>
        <p:nvSpPr>
          <p:cNvPr id="15" name="Text 13"/>
          <p:cNvSpPr txBox="1"/>
          <p:nvPr/>
        </p:nvSpPr>
        <p:spPr>
          <a:xfrm>
            <a:off x="9070848" y="5605272"/>
            <a:ext cx="1847088" cy="438912"/>
          </a:xfrm>
          <a:prstGeom prst="rect">
            <a:avLst/>
          </a:prstGeom>
          <a:noFill/>
          <a:ln/>
        </p:spPr>
        <p:txBody>
          <a:bodyPr wrap="square" lIns="0" tIns="0" rIns="0" bIns="0" rtlCol="0" anchor="ctr">
            <a:normAutofit/>
          </a:bodyPr>
          <a:lstStyle/>
          <a:p>
            <a:pPr algn="r" indent="0" marL="0">
              <a:buNone/>
            </a:pPr>
            <a:r>
              <a:rPr lang="en-US" sz="2500" i="1" dirty="0">
                <a:solidFill>
                  <a:srgbClr val="EFD4D3"/>
                </a:solidFill>
                <a:latin typeface="Cambria" pitchFamily="34" charset="0"/>
                <a:ea typeface="Cambria" pitchFamily="34" charset="-122"/>
                <a:cs typeface="Cambria" pitchFamily="34" charset="-120"/>
              </a:rPr>
              <a:t>Questions</a:t>
            </a:r>
            <a:endParaRPr lang="en-US" sz="2500" dirty="0"/>
          </a:p>
        </p:txBody>
      </p:sp>
      <p:sp>
        <p:nvSpPr>
          <p:cNvPr id="16" name="Text 14"/>
          <p:cNvSpPr txBox="1"/>
          <p:nvPr/>
        </p:nvSpPr>
        <p:spPr>
          <a:xfrm>
            <a:off x="621792" y="6428232"/>
            <a:ext cx="9966960" cy="201168"/>
          </a:xfrm>
          <a:prstGeom prst="rect">
            <a:avLst/>
          </a:prstGeom>
          <a:noFill/>
          <a:ln/>
        </p:spPr>
        <p:txBody>
          <a:bodyPr wrap="square" lIns="0" tIns="0" rIns="0" bIns="0" rtlCol="0" anchor="ctr">
            <a:normAutofit/>
          </a:bodyPr>
          <a:lstStyle/>
          <a:p>
            <a:pPr algn="l" indent="0" marL="0">
              <a:buNone/>
            </a:pPr>
            <a:r>
              <a:rPr lang="en-US" sz="850" dirty="0">
                <a:solidFill>
                  <a:srgbClr val="DCCED3"/>
                </a:solidFill>
                <a:latin typeface="Arial" pitchFamily="34" charset="0"/>
                <a:ea typeface="Arial" pitchFamily="34" charset="-122"/>
                <a:cs typeface="Arial" pitchFamily="34" charset="-120"/>
              </a:rPr>
              <a:t>Tom S. Clark · Jeffrey K. Staton · Yu Wang · Eugene Agichtein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Emory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the Supreme Court Settle Policy—and Unsettle the Public?</dc:title>
  <dc:subject>Law and economics colloquium presentation draft</dc:subject>
  <dc:creator>Tom S. Clark, Jeffrey K. Staton, Yu Wang, and Eugene Agichtein</dc:creator>
  <cp:lastModifiedBy>Tom S. Clark, Jeffrey K. Staton, Yu Wang, and Eugene Agichtein</cp:lastModifiedBy>
  <cp:revision>1</cp:revision>
  <dcterms:created xsi:type="dcterms:W3CDTF">2026-08-25T16:33:34Z</dcterms:created>
  <dcterms:modified xsi:type="dcterms:W3CDTF">2026-08-25T16:33:34Z</dcterms:modified>
</cp:coreProperties>
</file>